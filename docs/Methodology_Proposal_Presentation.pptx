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a3f6af2-8e69-437b-afa0-503f60b2ed04}">
          <p14:sldIdLst>
            <p14:sldId id="256"/>
            <p14:sldId id="257"/>
            <p14:sldId id="258"/>
          </p14:sldIdLst>
        </p14:section>
        <p14:section name="Methodology" id="{00a3ad3c-4150-9dea-497a-ce147ca1e342}">
          <p14:sldIdLst>
            <p14:sldId id="259"/>
            <p14:sldId id="260"/>
            <p14:sldId id="261"/>
            <p14:sldId id="262"/>
            <p14:sldId id="263"/>
            <p14:sldId id="264"/>
          </p14:sldIdLst>
        </p14:section>
        <p14:section name="Evaluation" id="{40c301ac-f93e-8f33-1a6d-9f9b6496257e}">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to build a tool that will check a computer's memory for malware, explain its decision, and protect the evidence. Today I will explain my methodology: the steps I will follow and the tools I will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problems. First, some malware hides only in the computer's memory, so normal disk scans miss it. Second, checking memory by hand is very slow. Third, most AI tools give a score but cannot explain why, and in an investigation you must be able to explain your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proposed solution is one tool that will do three things. It will detect whether there is malware. It will explain why it thinks so, in plain English. And it will protect the evidence, so we can prove nothing was changed. The rest of the presentation shows how I will achieve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method in five steps. Think of it like a medical check-up. We take a sample, which is a copy of the computer's memory. We measure 55 things in it. The AI makes a diagnosis: clean or infected. It explains the reasons. And it writes a sealed report. Before this can work, the AI must first learn,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tool can decide anything, the AI must learn. I will use a public research dataset with 58,596 memory examples: half from clean computers and half from infected ones. The AI will study 80 percent of them, and the other 20 percent will be kept hidden as an exam, so we can measure how well it really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memory file is huge, several gigabytes. The AI cannot read it directly, so I will use Volatility 3, a standard forensic tool, to count 55 things in it. For example: how many programs are running, whether any programs are hiding, and whether code has been injected into other programs. These 55 numbers are the clues the AI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AI is a Random Forest. Imagine many small decision trees, each voting clean or infected. If most vote infected, the malware score is high. The real model will use over a hundred trees. The score is turned into a traffic light: green, amber or red, so the investigator knows what to look at first. A second model acts as an extra alarm for things it has never seen before, which could be a new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score alone is not enough, so the tool explains itself. It shows the main clues behind the result: red bars push towards infected, blue towards clean. This example is an illustration of how the result will look. I will use two explanation methods, SHAP and LIME, which work in different ways, so they can confirm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forensics we must prove the evidence was not changed. Every file gets a digital fingerprint, called a hash. Even a tiny change gives a completely different fingerprint. The tool will check the fingerprint at every step, and seal the final report with its own fingerprint. If anything does not match, it will stop and record the problem. It will also record who did the analysis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the tool works, I will do four things. First, an exam on data the AI has never seen. Second, compare two AI models and keep the better one. Third, measure not only how often it is right, but how much malware it misses and how many false alarms it raises. Fourth, test the whole tool with sample clean and infected memory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I will use. Python is the programming language. Streamlit makes the web screen the investigator uses. Volatility 3 reads the memory file. scikit-learn builds the AI models. SHAP and LIME explain the AI's decisions. pandas handles the numbers. ReportLab creates the PDF report. And hashlib makes the digital fingerprints. All of them are free and open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I expect three outcomes: a working web tool that gives a clear result for a memory file, plain-English reasons for every result, and a sealed PDF report that an investigator can hand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tool will detect malware in memory, explain why, and protect the evidence. Thank you,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lstStyle>
            <a:lvl1pPr indent="0" marL="0">
              <a:buNone/>
              <a:defRPr lang="en-US" sz="1800" dirty="0">
                <a:solidFill>
                  <a:srgbClr val="A5F3FC"/>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478"/>
                </a:solidFill>
              </a:rPr>
              <a:t>Explainable AI Memory Forensic Triage  ·  Abdullah Azwar  ·  COBSCEHNS24.2P-017</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r>
              <a:rPr lang="en-US" sz="4000" b="1" dirty="0">
                <a:solidFill>
                  <a:schemeClr val="bg1"/>
                </a:solidFill>
              </a:rPr>
              <a:t>Explainable AI-Based Memory Forensic Triage System</a:t>
            </a: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r>
              <a:rPr lang="en-US" sz="1800" dirty="0">
                <a:solidFill>
                  <a:srgbClr val="A5F3FC"/>
                </a:solidFill>
              </a:rPr>
              <a:t>Proposed methodology, explained simply</a:t>
            </a:r>
            <a:endParaRPr lang="en-US" sz="1800" dirty="0"/>
          </a:p>
        </p:txBody>
      </p:sp>
      <p:sp>
        <p:nvSpPr>
          <p:cNvPr id="4" name="presenter"/>
          <p:cNvSpPr txBox="1"/>
          <p:nvPr/>
        </p:nvSpPr>
        <p:spPr>
          <a:xfrm>
            <a:off x="548640" y="5120640"/>
            <a:ext cx="7315200" cy="1005840"/>
          </a:xfrm>
          <a:prstGeom prst="rect">
            <a:avLst/>
          </a:prstGeom>
          <a:noFill/>
          <a:ln/>
        </p:spPr>
        <p:txBody>
          <a:bodyPr wrap="square" lIns="0" tIns="0" rIns="0" bIns="0" rtlCol="0" anchor="t"/>
          <a:lstStyle/>
          <a:p>
            <a:pPr indent="0" marL="0">
              <a:buNone/>
            </a:pPr>
            <a:r>
              <a:rPr lang="en-US" sz="1500" b="1" dirty="0">
                <a:solidFill>
                  <a:schemeClr val="bg1"/>
                </a:solidFill>
              </a:rPr>
              <a:t>Abdullah Azwar  ·  COBSCEHNS24.2P-017</a:t>
            </a:r>
            <a:endParaRPr lang="en-US" sz="1500" dirty="0"/>
          </a:p>
          <a:p>
            <a:pPr indent="0" marL="0">
              <a:buNone/>
            </a:pPr>
            <a:r>
              <a:rPr lang="en-US" sz="1500" dirty="0">
                <a:solidFill>
                  <a:schemeClr val="bg1"/>
                </a:solidFill>
              </a:rPr>
              <a:t>BSc in Ethical Hacking &amp; Network Security</a:t>
            </a:r>
            <a:endParaRPr lang="en-US" sz="1500" dirty="0"/>
          </a:p>
          <a:p>
            <a:pPr indent="0" marL="0">
              <a:buNone/>
            </a:pPr>
            <a:r>
              <a:rPr lang="en-US" sz="1500" dirty="0">
                <a:solidFill>
                  <a:schemeClr val="bg1"/>
                </a:solidFill>
              </a:rPr>
              <a:t>Supervisor: Mr. Chathura Suduwella</a:t>
            </a:r>
            <a:endParaRPr lang="en-US" sz="1500" dirty="0"/>
          </a:p>
        </p:txBody>
      </p:sp>
      <p:sp>
        <p:nvSpPr>
          <p:cNvPr id="5" name="hero circle"/>
          <p:cNvSpPr/>
          <p:nvPr/>
        </p:nvSpPr>
        <p:spPr>
          <a:xfrm>
            <a:off x="9692640" y="2103120"/>
            <a:ext cx="1828800" cy="1828800"/>
          </a:xfrm>
          <a:prstGeom prst="ellipse">
            <a:avLst/>
          </a:prstGeom>
          <a:solidFill>
            <a:srgbClr val="0891B2"/>
          </a:solidFill>
          <a:ln w="12700">
            <a:solidFill>
              <a:srgbClr val="0891B2"/>
            </a:solidFill>
            <a:prstDash val="solid"/>
          </a:ln>
        </p:spPr>
      </p:sp>
      <p:pic>
        <p:nvPicPr>
          <p:cNvPr id="6" name="hero icon" descr="preencoded.png">    </p:cNvPr>
          <p:cNvPicPr>
            <a:picLocks noChangeAspect="1"/>
          </p:cNvPicPr>
          <p:nvPr/>
        </p:nvPicPr>
        <p:blipFill>
          <a:blip r:embed="rId1"/>
          <a:stretch>
            <a:fillRect/>
          </a:stretch>
        </p:blipFill>
        <p:spPr>
          <a:xfrm>
            <a:off x="10149840" y="256032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The problem</a:t>
            </a:r>
            <a:endParaRPr lang="en-US" sz="2800" dirty="0"/>
          </a:p>
        </p:txBody>
      </p:sp>
      <p:sp>
        <p:nvSpPr>
          <p:cNvPr id="3" name="problem 1"/>
          <p:cNvSpPr/>
          <p:nvPr/>
        </p:nvSpPr>
        <p:spPr>
          <a:xfrm>
            <a:off x="548640" y="1463040"/>
            <a:ext cx="3454298" cy="4297680"/>
          </a:xfrm>
          <a:prstGeom prst="roundRect">
            <a:avLst>
              <a:gd name="adj" fmla="val 3177"/>
            </a:avLst>
          </a:prstGeom>
          <a:solidFill>
            <a:schemeClr val="bg2"/>
          </a:solidFill>
          <a:ln w="12700">
            <a:solidFill>
              <a:schemeClr val="bg2"/>
            </a:solidFill>
            <a:prstDash val="solid"/>
          </a:ln>
        </p:spPr>
      </p:sp>
      <p:sp>
        <p:nvSpPr>
          <p:cNvPr id="4" name="problem 1 circle"/>
          <p:cNvSpPr/>
          <p:nvPr/>
        </p:nvSpPr>
        <p:spPr>
          <a:xfrm>
            <a:off x="1589989" y="1828800"/>
            <a:ext cx="1371600" cy="1371600"/>
          </a:xfrm>
          <a:prstGeom prst="ellipse">
            <a:avLst/>
          </a:prstGeom>
          <a:solidFill>
            <a:srgbClr val="DC2626"/>
          </a:solidFill>
          <a:ln w="12700">
            <a:solidFill>
              <a:srgbClr val="DC2626"/>
            </a:solidFill>
            <a:prstDash val="solid"/>
          </a:ln>
        </p:spPr>
      </p:sp>
      <p:pic>
        <p:nvPicPr>
          <p:cNvPr id="5" name="problem 1 icon" descr="preencoded.png">    </p:cNvPr>
          <p:cNvPicPr>
            <a:picLocks noChangeAspect="1"/>
          </p:cNvPicPr>
          <p:nvPr/>
        </p:nvPicPr>
        <p:blipFill>
          <a:blip r:embed="rId1"/>
          <a:stretch>
            <a:fillRect/>
          </a:stretch>
        </p:blipFill>
        <p:spPr>
          <a:xfrm>
            <a:off x="1932889" y="2171700"/>
            <a:ext cx="685800" cy="685800"/>
          </a:xfrm>
          <a:prstGeom prst="rect">
            <a:avLst/>
          </a:prstGeom>
        </p:spPr>
      </p:pic>
      <p:sp>
        <p:nvSpPr>
          <p:cNvPr id="6" name="Text 3"/>
          <p:cNvSpPr txBox="1"/>
          <p:nvPr/>
        </p:nvSpPr>
        <p:spPr>
          <a:xfrm>
            <a:off x="822960" y="3474720"/>
            <a:ext cx="2905658" cy="822960"/>
          </a:xfrm>
          <a:prstGeom prst="rect">
            <a:avLst/>
          </a:prstGeom>
          <a:noFill/>
          <a:ln/>
        </p:spPr>
        <p:txBody>
          <a:bodyPr wrap="square" lIns="0" tIns="0" rIns="0" bIns="0" rtlCol="0" anchor="t"/>
          <a:lstStyle/>
          <a:p>
            <a:pPr algn="ctr" indent="0" marL="0">
              <a:buNone/>
            </a:pPr>
            <a:r>
              <a:rPr lang="en-US" sz="2200" b="1" dirty="0">
                <a:solidFill>
                  <a:schemeClr val="tx1"/>
                </a:solidFill>
              </a:rPr>
              <a:t>Malware can hide in memory</a:t>
            </a:r>
            <a:endParaRPr lang="en-US" sz="2200" dirty="0"/>
          </a:p>
        </p:txBody>
      </p:sp>
      <p:sp>
        <p:nvSpPr>
          <p:cNvPr id="7" name="Text 4"/>
          <p:cNvSpPr txBox="1"/>
          <p:nvPr/>
        </p:nvSpPr>
        <p:spPr>
          <a:xfrm>
            <a:off x="822960" y="4389120"/>
            <a:ext cx="2905658" cy="1188720"/>
          </a:xfrm>
          <a:prstGeom prst="rect">
            <a:avLst/>
          </a:prstGeom>
          <a:noFill/>
          <a:ln/>
        </p:spPr>
        <p:txBody>
          <a:bodyPr wrap="square" lIns="0" tIns="0" rIns="0" bIns="0" rtlCol="0" anchor="t"/>
          <a:lstStyle/>
          <a:p>
            <a:pPr algn="ctr" indent="0" marL="0">
              <a:buNone/>
            </a:pPr>
            <a:r>
              <a:rPr lang="en-US" sz="1700" dirty="0">
                <a:solidFill>
                  <a:schemeClr val="tx2"/>
                </a:solidFill>
              </a:rPr>
              <a:t>Some attacks run only in RAM and leave almost no trace on the hard disk.</a:t>
            </a:r>
            <a:endParaRPr lang="en-US" sz="1700" dirty="0"/>
          </a:p>
        </p:txBody>
      </p:sp>
      <p:sp>
        <p:nvSpPr>
          <p:cNvPr id="8" name="problem 2"/>
          <p:cNvSpPr/>
          <p:nvPr/>
        </p:nvSpPr>
        <p:spPr>
          <a:xfrm>
            <a:off x="4368698" y="1463040"/>
            <a:ext cx="3454298" cy="4297680"/>
          </a:xfrm>
          <a:prstGeom prst="roundRect">
            <a:avLst>
              <a:gd name="adj" fmla="val 3177"/>
            </a:avLst>
          </a:prstGeom>
          <a:solidFill>
            <a:schemeClr val="bg2"/>
          </a:solidFill>
          <a:ln w="12700">
            <a:solidFill>
              <a:schemeClr val="bg2"/>
            </a:solidFill>
            <a:prstDash val="solid"/>
          </a:ln>
        </p:spPr>
      </p:sp>
      <p:sp>
        <p:nvSpPr>
          <p:cNvPr id="9" name="problem 2 circle"/>
          <p:cNvSpPr/>
          <p:nvPr/>
        </p:nvSpPr>
        <p:spPr>
          <a:xfrm>
            <a:off x="5410048" y="1828800"/>
            <a:ext cx="1371600" cy="1371600"/>
          </a:xfrm>
          <a:prstGeom prst="ellipse">
            <a:avLst/>
          </a:prstGeom>
          <a:solidFill>
            <a:srgbClr val="D97706"/>
          </a:solidFill>
          <a:ln w="12700">
            <a:solidFill>
              <a:srgbClr val="D97706"/>
            </a:solidFill>
            <a:prstDash val="solid"/>
          </a:ln>
        </p:spPr>
      </p:sp>
      <p:pic>
        <p:nvPicPr>
          <p:cNvPr id="10" name="problem 2 icon" descr="preencoded.png">    </p:cNvPr>
          <p:cNvPicPr>
            <a:picLocks noChangeAspect="1"/>
          </p:cNvPicPr>
          <p:nvPr/>
        </p:nvPicPr>
        <p:blipFill>
          <a:blip r:embed="rId2"/>
          <a:stretch>
            <a:fillRect/>
          </a:stretch>
        </p:blipFill>
        <p:spPr>
          <a:xfrm>
            <a:off x="5752948" y="2171700"/>
            <a:ext cx="685800" cy="685800"/>
          </a:xfrm>
          <a:prstGeom prst="rect">
            <a:avLst/>
          </a:prstGeom>
        </p:spPr>
      </p:pic>
      <p:sp>
        <p:nvSpPr>
          <p:cNvPr id="11" name="Text 7"/>
          <p:cNvSpPr txBox="1"/>
          <p:nvPr/>
        </p:nvSpPr>
        <p:spPr>
          <a:xfrm>
            <a:off x="4643018" y="3474720"/>
            <a:ext cx="2905658" cy="822960"/>
          </a:xfrm>
          <a:prstGeom prst="rect">
            <a:avLst/>
          </a:prstGeom>
          <a:noFill/>
          <a:ln/>
        </p:spPr>
        <p:txBody>
          <a:bodyPr wrap="square" lIns="0" tIns="0" rIns="0" bIns="0" rtlCol="0" anchor="t"/>
          <a:lstStyle/>
          <a:p>
            <a:pPr algn="ctr" indent="0" marL="0">
              <a:buNone/>
            </a:pPr>
            <a:r>
              <a:rPr lang="en-US" sz="2200" b="1" dirty="0">
                <a:solidFill>
                  <a:schemeClr val="tx1"/>
                </a:solidFill>
              </a:rPr>
              <a:t>Checking memory by hand is slow</a:t>
            </a:r>
            <a:endParaRPr lang="en-US" sz="2200" dirty="0"/>
          </a:p>
        </p:txBody>
      </p:sp>
      <p:sp>
        <p:nvSpPr>
          <p:cNvPr id="12" name="Text 8"/>
          <p:cNvSpPr txBox="1"/>
          <p:nvPr/>
        </p:nvSpPr>
        <p:spPr>
          <a:xfrm>
            <a:off x="4643018" y="4389120"/>
            <a:ext cx="2905658" cy="1188720"/>
          </a:xfrm>
          <a:prstGeom prst="rect">
            <a:avLst/>
          </a:prstGeom>
          <a:noFill/>
          <a:ln/>
        </p:spPr>
        <p:txBody>
          <a:bodyPr wrap="square" lIns="0" tIns="0" rIns="0" bIns="0" rtlCol="0" anchor="t"/>
          <a:lstStyle/>
          <a:p>
            <a:pPr algn="ctr" indent="0" marL="0">
              <a:buNone/>
            </a:pPr>
            <a:r>
              <a:rPr lang="en-US" sz="1700" dirty="0">
                <a:solidFill>
                  <a:schemeClr val="tx2"/>
                </a:solidFill>
              </a:rPr>
              <a:t>An expert must read thousands of lines of technical data.</a:t>
            </a:r>
            <a:endParaRPr lang="en-US" sz="1700" dirty="0"/>
          </a:p>
        </p:txBody>
      </p:sp>
      <p:sp>
        <p:nvSpPr>
          <p:cNvPr id="13" name="problem 3"/>
          <p:cNvSpPr/>
          <p:nvPr/>
        </p:nvSpPr>
        <p:spPr>
          <a:xfrm>
            <a:off x="8188757" y="1463040"/>
            <a:ext cx="3454298" cy="4297680"/>
          </a:xfrm>
          <a:prstGeom prst="roundRect">
            <a:avLst>
              <a:gd name="adj" fmla="val 3177"/>
            </a:avLst>
          </a:prstGeom>
          <a:solidFill>
            <a:schemeClr val="bg2"/>
          </a:solidFill>
          <a:ln w="12700">
            <a:solidFill>
              <a:schemeClr val="bg2"/>
            </a:solidFill>
            <a:prstDash val="solid"/>
          </a:ln>
        </p:spPr>
      </p:sp>
      <p:sp>
        <p:nvSpPr>
          <p:cNvPr id="14" name="problem 3 circle"/>
          <p:cNvSpPr/>
          <p:nvPr/>
        </p:nvSpPr>
        <p:spPr>
          <a:xfrm>
            <a:off x="9230106" y="1828800"/>
            <a:ext cx="1371600" cy="1371600"/>
          </a:xfrm>
          <a:prstGeom prst="ellipse">
            <a:avLst/>
          </a:prstGeom>
          <a:solidFill>
            <a:srgbClr val="6D5BD0"/>
          </a:solidFill>
          <a:ln w="12700">
            <a:solidFill>
              <a:srgbClr val="6D5BD0"/>
            </a:solidFill>
            <a:prstDash val="solid"/>
          </a:ln>
        </p:spPr>
      </p:sp>
      <p:pic>
        <p:nvPicPr>
          <p:cNvPr id="15" name="problem 3 icon" descr="preencoded.png">    </p:cNvPr>
          <p:cNvPicPr>
            <a:picLocks noChangeAspect="1"/>
          </p:cNvPicPr>
          <p:nvPr/>
        </p:nvPicPr>
        <p:blipFill>
          <a:blip r:embed="rId3"/>
          <a:stretch>
            <a:fillRect/>
          </a:stretch>
        </p:blipFill>
        <p:spPr>
          <a:xfrm>
            <a:off x="9573006" y="2171700"/>
            <a:ext cx="685800" cy="685800"/>
          </a:xfrm>
          <a:prstGeom prst="rect">
            <a:avLst/>
          </a:prstGeom>
        </p:spPr>
      </p:pic>
      <p:sp>
        <p:nvSpPr>
          <p:cNvPr id="16" name="Text 11"/>
          <p:cNvSpPr txBox="1"/>
          <p:nvPr/>
        </p:nvSpPr>
        <p:spPr>
          <a:xfrm>
            <a:off x="8463077" y="3474720"/>
            <a:ext cx="2905658" cy="822960"/>
          </a:xfrm>
          <a:prstGeom prst="rect">
            <a:avLst/>
          </a:prstGeom>
          <a:noFill/>
          <a:ln/>
        </p:spPr>
        <p:txBody>
          <a:bodyPr wrap="square" lIns="0" tIns="0" rIns="0" bIns="0" rtlCol="0" anchor="t"/>
          <a:lstStyle/>
          <a:p>
            <a:pPr algn="ctr" indent="0" marL="0">
              <a:buNone/>
            </a:pPr>
            <a:r>
              <a:rPr lang="en-US" sz="2200" b="1" dirty="0">
                <a:solidFill>
                  <a:schemeClr val="tx1"/>
                </a:solidFill>
              </a:rPr>
              <a:t>Most AI can't say why</a:t>
            </a:r>
            <a:endParaRPr lang="en-US" sz="2200" dirty="0"/>
          </a:p>
        </p:txBody>
      </p:sp>
      <p:sp>
        <p:nvSpPr>
          <p:cNvPr id="17" name="Text 12"/>
          <p:cNvSpPr txBox="1"/>
          <p:nvPr/>
        </p:nvSpPr>
        <p:spPr>
          <a:xfrm>
            <a:off x="8463077" y="4389120"/>
            <a:ext cx="2905658" cy="1188720"/>
          </a:xfrm>
          <a:prstGeom prst="rect">
            <a:avLst/>
          </a:prstGeom>
          <a:noFill/>
          <a:ln/>
        </p:spPr>
        <p:txBody>
          <a:bodyPr wrap="square" lIns="0" tIns="0" rIns="0" bIns="0" rtlCol="0" anchor="t"/>
          <a:lstStyle/>
          <a:p>
            <a:pPr algn="ctr" indent="0" marL="0">
              <a:buNone/>
            </a:pPr>
            <a:r>
              <a:rPr lang="en-US" sz="1700" dirty="0">
                <a:solidFill>
                  <a:schemeClr val="tx2"/>
                </a:solidFill>
              </a:rPr>
              <a:t>An investigator needs reasons, not just a score.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Proposed solution</a:t>
            </a:r>
            <a:endParaRPr lang="en-US" sz="2800" dirty="0"/>
          </a:p>
        </p:txBody>
      </p:sp>
      <p:sp>
        <p:nvSpPr>
          <p:cNvPr id="3" name="Text 1"/>
          <p:cNvSpPr txBox="1"/>
          <p:nvPr/>
        </p:nvSpPr>
        <p:spPr>
          <a:xfrm>
            <a:off x="548640" y="1234440"/>
            <a:ext cx="11094415" cy="548640"/>
          </a:xfrm>
          <a:prstGeom prst="rect">
            <a:avLst/>
          </a:prstGeom>
          <a:noFill/>
          <a:ln/>
        </p:spPr>
        <p:txBody>
          <a:bodyPr wrap="square" lIns="0" tIns="0" rIns="0" bIns="0" rtlCol="0" anchor="t"/>
          <a:lstStyle/>
          <a:p>
            <a:pPr indent="0" marL="0">
              <a:buNone/>
            </a:pPr>
            <a:r>
              <a:rPr lang="en-US" sz="2200" dirty="0">
                <a:solidFill>
                  <a:schemeClr val="tx2"/>
                </a:solidFill>
              </a:rPr>
              <a:t>A tool that will look at a computer’s memory and answer three questions.</a:t>
            </a:r>
            <a:endParaRPr lang="en-US" sz="2200" dirty="0"/>
          </a:p>
        </p:txBody>
      </p:sp>
      <p:sp>
        <p:nvSpPr>
          <p:cNvPr id="4" name="pillar 1"/>
          <p:cNvSpPr/>
          <p:nvPr/>
        </p:nvSpPr>
        <p:spPr>
          <a:xfrm>
            <a:off x="548640" y="2103120"/>
            <a:ext cx="3454298" cy="3657600"/>
          </a:xfrm>
          <a:prstGeom prst="roundRect">
            <a:avLst>
              <a:gd name="adj" fmla="val 3177"/>
            </a:avLst>
          </a:prstGeom>
          <a:solidFill>
            <a:schemeClr val="bg2"/>
          </a:solidFill>
          <a:ln w="12700">
            <a:solidFill>
              <a:schemeClr val="bg2"/>
            </a:solidFill>
            <a:prstDash val="solid"/>
          </a:ln>
        </p:spPr>
      </p:sp>
      <p:sp>
        <p:nvSpPr>
          <p:cNvPr id="5" name="pillar 1 circle"/>
          <p:cNvSpPr/>
          <p:nvPr/>
        </p:nvSpPr>
        <p:spPr>
          <a:xfrm>
            <a:off x="1498549" y="2468880"/>
            <a:ext cx="1554480" cy="1554480"/>
          </a:xfrm>
          <a:prstGeom prst="ellipse">
            <a:avLst/>
          </a:prstGeom>
          <a:solidFill>
            <a:srgbClr val="DC2626"/>
          </a:solidFill>
          <a:ln w="12700">
            <a:solidFill>
              <a:srgbClr val="DC2626"/>
            </a:solidFill>
            <a:prstDash val="solid"/>
          </a:ln>
        </p:spPr>
      </p:sp>
      <p:pic>
        <p:nvPicPr>
          <p:cNvPr id="6" name="pillar 1 icon" descr="preencoded.png">    </p:cNvPr>
          <p:cNvPicPr>
            <a:picLocks noChangeAspect="1"/>
          </p:cNvPicPr>
          <p:nvPr/>
        </p:nvPicPr>
        <p:blipFill>
          <a:blip r:embed="rId1"/>
          <a:stretch>
            <a:fillRect/>
          </a:stretch>
        </p:blipFill>
        <p:spPr>
          <a:xfrm>
            <a:off x="1887169" y="2857500"/>
            <a:ext cx="777240" cy="777240"/>
          </a:xfrm>
          <a:prstGeom prst="rect">
            <a:avLst/>
          </a:prstGeom>
        </p:spPr>
      </p:pic>
      <p:sp>
        <p:nvSpPr>
          <p:cNvPr id="7" name="Text 4"/>
          <p:cNvSpPr txBox="1"/>
          <p:nvPr/>
        </p:nvSpPr>
        <p:spPr>
          <a:xfrm>
            <a:off x="822960" y="4206240"/>
            <a:ext cx="2905658" cy="640080"/>
          </a:xfrm>
          <a:prstGeom prst="rect">
            <a:avLst/>
          </a:prstGeom>
          <a:noFill/>
          <a:ln/>
        </p:spPr>
        <p:txBody>
          <a:bodyPr wrap="square" lIns="0" tIns="0" rIns="0" bIns="0" rtlCol="0" anchor="t"/>
          <a:lstStyle/>
          <a:p>
            <a:pPr algn="ctr" indent="0" marL="0">
              <a:buNone/>
            </a:pPr>
            <a:r>
              <a:rPr lang="en-US" sz="3000" b="1" dirty="0">
                <a:solidFill>
                  <a:srgbClr val="DC2626"/>
                </a:solidFill>
                <a:latin typeface="Cambria" pitchFamily="34" charset="0"/>
                <a:ea typeface="Cambria" pitchFamily="34" charset="-122"/>
                <a:cs typeface="Cambria" pitchFamily="34" charset="-120"/>
              </a:rPr>
              <a:t>Detect</a:t>
            </a:r>
            <a:endParaRPr lang="en-US" sz="3000" dirty="0"/>
          </a:p>
        </p:txBody>
      </p:sp>
      <p:sp>
        <p:nvSpPr>
          <p:cNvPr id="8" name="Text 5"/>
          <p:cNvSpPr txBox="1"/>
          <p:nvPr/>
        </p:nvSpPr>
        <p:spPr>
          <a:xfrm>
            <a:off x="822960" y="4892040"/>
            <a:ext cx="2905658" cy="731520"/>
          </a:xfrm>
          <a:prstGeom prst="rect">
            <a:avLst/>
          </a:prstGeom>
          <a:noFill/>
          <a:ln/>
        </p:spPr>
        <p:txBody>
          <a:bodyPr wrap="square" lIns="0" tIns="0" rIns="0" bIns="0" rtlCol="0" anchor="t"/>
          <a:lstStyle/>
          <a:p>
            <a:pPr algn="ctr" indent="0" marL="0">
              <a:buNone/>
            </a:pPr>
            <a:r>
              <a:rPr lang="en-US" sz="1800" dirty="0">
                <a:solidFill>
                  <a:schemeClr val="tx2"/>
                </a:solidFill>
              </a:rPr>
              <a:t>Is there malware?</a:t>
            </a:r>
            <a:endParaRPr lang="en-US" sz="1800" dirty="0"/>
          </a:p>
        </p:txBody>
      </p:sp>
      <p:sp>
        <p:nvSpPr>
          <p:cNvPr id="9" name="pillar 2"/>
          <p:cNvSpPr/>
          <p:nvPr/>
        </p:nvSpPr>
        <p:spPr>
          <a:xfrm>
            <a:off x="4368698" y="2103120"/>
            <a:ext cx="3454298" cy="3657600"/>
          </a:xfrm>
          <a:prstGeom prst="roundRect">
            <a:avLst>
              <a:gd name="adj" fmla="val 3177"/>
            </a:avLst>
          </a:prstGeom>
          <a:solidFill>
            <a:schemeClr val="bg2"/>
          </a:solidFill>
          <a:ln w="12700">
            <a:solidFill>
              <a:schemeClr val="bg2"/>
            </a:solidFill>
            <a:prstDash val="solid"/>
          </a:ln>
        </p:spPr>
      </p:sp>
      <p:sp>
        <p:nvSpPr>
          <p:cNvPr id="10" name="pillar 2 circle"/>
          <p:cNvSpPr/>
          <p:nvPr/>
        </p:nvSpPr>
        <p:spPr>
          <a:xfrm>
            <a:off x="5318608" y="2468880"/>
            <a:ext cx="1554480" cy="1554480"/>
          </a:xfrm>
          <a:prstGeom prst="ellipse">
            <a:avLst/>
          </a:prstGeom>
          <a:solidFill>
            <a:srgbClr val="D97706"/>
          </a:solidFill>
          <a:ln w="12700">
            <a:solidFill>
              <a:srgbClr val="D97706"/>
            </a:solidFill>
            <a:prstDash val="solid"/>
          </a:ln>
        </p:spPr>
      </p:sp>
      <p:pic>
        <p:nvPicPr>
          <p:cNvPr id="11" name="pillar 2 icon" descr="preencoded.png">    </p:cNvPr>
          <p:cNvPicPr>
            <a:picLocks noChangeAspect="1"/>
          </p:cNvPicPr>
          <p:nvPr/>
        </p:nvPicPr>
        <p:blipFill>
          <a:blip r:embed="rId2"/>
          <a:stretch>
            <a:fillRect/>
          </a:stretch>
        </p:blipFill>
        <p:spPr>
          <a:xfrm>
            <a:off x="5707228" y="2857500"/>
            <a:ext cx="777240" cy="777240"/>
          </a:xfrm>
          <a:prstGeom prst="rect">
            <a:avLst/>
          </a:prstGeom>
        </p:spPr>
      </p:pic>
      <p:sp>
        <p:nvSpPr>
          <p:cNvPr id="12" name="Text 8"/>
          <p:cNvSpPr txBox="1"/>
          <p:nvPr/>
        </p:nvSpPr>
        <p:spPr>
          <a:xfrm>
            <a:off x="4643018" y="4206240"/>
            <a:ext cx="2905658" cy="640080"/>
          </a:xfrm>
          <a:prstGeom prst="rect">
            <a:avLst/>
          </a:prstGeom>
          <a:noFill/>
          <a:ln/>
        </p:spPr>
        <p:txBody>
          <a:bodyPr wrap="square" lIns="0" tIns="0" rIns="0" bIns="0" rtlCol="0" anchor="t"/>
          <a:lstStyle/>
          <a:p>
            <a:pPr algn="ctr" indent="0" marL="0">
              <a:buNone/>
            </a:pPr>
            <a:r>
              <a:rPr lang="en-US" sz="3000" b="1" dirty="0">
                <a:solidFill>
                  <a:srgbClr val="D97706"/>
                </a:solidFill>
                <a:latin typeface="Cambria" pitchFamily="34" charset="0"/>
                <a:ea typeface="Cambria" pitchFamily="34" charset="-122"/>
                <a:cs typeface="Cambria" pitchFamily="34" charset="-120"/>
              </a:rPr>
              <a:t>Explain</a:t>
            </a:r>
            <a:endParaRPr lang="en-US" sz="3000" dirty="0"/>
          </a:p>
        </p:txBody>
      </p:sp>
      <p:sp>
        <p:nvSpPr>
          <p:cNvPr id="13" name="Text 9"/>
          <p:cNvSpPr txBox="1"/>
          <p:nvPr/>
        </p:nvSpPr>
        <p:spPr>
          <a:xfrm>
            <a:off x="4643018" y="4892040"/>
            <a:ext cx="2905658" cy="731520"/>
          </a:xfrm>
          <a:prstGeom prst="rect">
            <a:avLst/>
          </a:prstGeom>
          <a:noFill/>
          <a:ln/>
        </p:spPr>
        <p:txBody>
          <a:bodyPr wrap="square" lIns="0" tIns="0" rIns="0" bIns="0" rtlCol="0" anchor="t"/>
          <a:lstStyle/>
          <a:p>
            <a:pPr algn="ctr" indent="0" marL="0">
              <a:buNone/>
            </a:pPr>
            <a:r>
              <a:rPr lang="en-US" sz="1800" dirty="0">
                <a:solidFill>
                  <a:schemeClr val="tx2"/>
                </a:solidFill>
              </a:rPr>
              <a:t>Why does the tool think so?</a:t>
            </a:r>
            <a:endParaRPr lang="en-US" sz="1800" dirty="0"/>
          </a:p>
        </p:txBody>
      </p:sp>
      <p:sp>
        <p:nvSpPr>
          <p:cNvPr id="14" name="pillar 3"/>
          <p:cNvSpPr/>
          <p:nvPr/>
        </p:nvSpPr>
        <p:spPr>
          <a:xfrm>
            <a:off x="8188757" y="2103120"/>
            <a:ext cx="3454298" cy="3657600"/>
          </a:xfrm>
          <a:prstGeom prst="roundRect">
            <a:avLst>
              <a:gd name="adj" fmla="val 3177"/>
            </a:avLst>
          </a:prstGeom>
          <a:solidFill>
            <a:schemeClr val="bg2"/>
          </a:solidFill>
          <a:ln w="12700">
            <a:solidFill>
              <a:schemeClr val="bg2"/>
            </a:solidFill>
            <a:prstDash val="solid"/>
          </a:ln>
        </p:spPr>
      </p:sp>
      <p:sp>
        <p:nvSpPr>
          <p:cNvPr id="15" name="pillar 3 circle"/>
          <p:cNvSpPr/>
          <p:nvPr/>
        </p:nvSpPr>
        <p:spPr>
          <a:xfrm>
            <a:off x="9138666" y="2468880"/>
            <a:ext cx="1554480" cy="1554480"/>
          </a:xfrm>
          <a:prstGeom prst="ellipse">
            <a:avLst/>
          </a:prstGeom>
          <a:solidFill>
            <a:srgbClr val="16A34A"/>
          </a:solidFill>
          <a:ln w="12700">
            <a:solidFill>
              <a:srgbClr val="16A34A"/>
            </a:solidFill>
            <a:prstDash val="solid"/>
          </a:ln>
        </p:spPr>
      </p:sp>
      <p:pic>
        <p:nvPicPr>
          <p:cNvPr id="16" name="pillar 3 icon" descr="preencoded.png">    </p:cNvPr>
          <p:cNvPicPr>
            <a:picLocks noChangeAspect="1"/>
          </p:cNvPicPr>
          <p:nvPr/>
        </p:nvPicPr>
        <p:blipFill>
          <a:blip r:embed="rId3"/>
          <a:stretch>
            <a:fillRect/>
          </a:stretch>
        </p:blipFill>
        <p:spPr>
          <a:xfrm>
            <a:off x="9527286" y="2857500"/>
            <a:ext cx="777240" cy="777240"/>
          </a:xfrm>
          <a:prstGeom prst="rect">
            <a:avLst/>
          </a:prstGeom>
        </p:spPr>
      </p:pic>
      <p:sp>
        <p:nvSpPr>
          <p:cNvPr id="17" name="Text 12"/>
          <p:cNvSpPr txBox="1"/>
          <p:nvPr/>
        </p:nvSpPr>
        <p:spPr>
          <a:xfrm>
            <a:off x="8463077" y="4206240"/>
            <a:ext cx="2905658" cy="640080"/>
          </a:xfrm>
          <a:prstGeom prst="rect">
            <a:avLst/>
          </a:prstGeom>
          <a:noFill/>
          <a:ln/>
        </p:spPr>
        <p:txBody>
          <a:bodyPr wrap="square" lIns="0" tIns="0" rIns="0" bIns="0" rtlCol="0" anchor="t"/>
          <a:lstStyle/>
          <a:p>
            <a:pPr algn="ctr" indent="0" marL="0">
              <a:buNone/>
            </a:pPr>
            <a:r>
              <a:rPr lang="en-US" sz="3000" b="1" dirty="0">
                <a:solidFill>
                  <a:srgbClr val="16A34A"/>
                </a:solidFill>
                <a:latin typeface="Cambria" pitchFamily="34" charset="0"/>
                <a:ea typeface="Cambria" pitchFamily="34" charset="-122"/>
                <a:cs typeface="Cambria" pitchFamily="34" charset="-120"/>
              </a:rPr>
              <a:t>Protect</a:t>
            </a:r>
            <a:endParaRPr lang="en-US" sz="3000" dirty="0"/>
          </a:p>
        </p:txBody>
      </p:sp>
      <p:sp>
        <p:nvSpPr>
          <p:cNvPr id="18" name="Text 13"/>
          <p:cNvSpPr txBox="1"/>
          <p:nvPr/>
        </p:nvSpPr>
        <p:spPr>
          <a:xfrm>
            <a:off x="8463077" y="4892040"/>
            <a:ext cx="2905658" cy="731520"/>
          </a:xfrm>
          <a:prstGeom prst="rect">
            <a:avLst/>
          </a:prstGeom>
          <a:noFill/>
          <a:ln/>
        </p:spPr>
        <p:txBody>
          <a:bodyPr wrap="square" lIns="0" tIns="0" rIns="0" bIns="0" rtlCol="0" anchor="t"/>
          <a:lstStyle/>
          <a:p>
            <a:pPr algn="ctr" indent="0" marL="0">
              <a:buNone/>
            </a:pPr>
            <a:r>
              <a:rPr lang="en-US" sz="1800" dirty="0">
                <a:solidFill>
                  <a:schemeClr val="tx2"/>
                </a:solidFill>
              </a:rPr>
              <a:t>Can we prove the evidence was not changed?</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How the tool will work: 5 steps</a:t>
            </a:r>
            <a:endParaRPr lang="en-US" sz="2800" dirty="0"/>
          </a:p>
        </p:txBody>
      </p:sp>
      <p:sp>
        <p:nvSpPr>
          <p:cNvPr id="3" name="step arrow 1"/>
          <p:cNvSpPr/>
          <p:nvPr/>
        </p:nvSpPr>
        <p:spPr>
          <a:xfrm>
            <a:off x="2435322" y="2423160"/>
            <a:ext cx="664403" cy="0"/>
          </a:xfrm>
          <a:prstGeom prst="line">
            <a:avLst/>
          </a:prstGeom>
          <a:noFill/>
          <a:ln w="38100">
            <a:solidFill>
              <a:srgbClr val="D6DCE6"/>
            </a:solidFill>
            <a:prstDash val="solid"/>
            <a:tailEnd type="triangle"/>
          </a:ln>
        </p:spPr>
      </p:sp>
      <p:sp>
        <p:nvSpPr>
          <p:cNvPr id="4" name="step 1 circle"/>
          <p:cNvSpPr/>
          <p:nvPr/>
        </p:nvSpPr>
        <p:spPr>
          <a:xfrm>
            <a:off x="972282" y="1737360"/>
            <a:ext cx="1371600" cy="1371600"/>
          </a:xfrm>
          <a:prstGeom prst="ellipse">
            <a:avLst/>
          </a:prstGeom>
          <a:solidFill>
            <a:srgbClr val="0891B2"/>
          </a:solidFill>
          <a:ln w="12700">
            <a:solidFill>
              <a:srgbClr val="0891B2"/>
            </a:solidFill>
            <a:prstDash val="solid"/>
          </a:ln>
        </p:spPr>
      </p:sp>
      <p:pic>
        <p:nvPicPr>
          <p:cNvPr id="5" name="step 1 icon" descr="preencoded.png">    </p:cNvPr>
          <p:cNvPicPr>
            <a:picLocks noChangeAspect="1"/>
          </p:cNvPicPr>
          <p:nvPr/>
        </p:nvPicPr>
        <p:blipFill>
          <a:blip r:embed="rId1"/>
          <a:stretch>
            <a:fillRect/>
          </a:stretch>
        </p:blipFill>
        <p:spPr>
          <a:xfrm>
            <a:off x="1315182" y="2080260"/>
            <a:ext cx="685800" cy="685800"/>
          </a:xfrm>
          <a:prstGeom prst="rect">
            <a:avLst/>
          </a:prstGeom>
        </p:spPr>
      </p:pic>
      <p:sp>
        <p:nvSpPr>
          <p:cNvPr id="6" name="Text 3"/>
          <p:cNvSpPr txBox="1"/>
          <p:nvPr/>
        </p:nvSpPr>
        <p:spPr>
          <a:xfrm>
            <a:off x="1292322" y="3200400"/>
            <a:ext cx="731520" cy="457200"/>
          </a:xfrm>
          <a:prstGeom prst="rect">
            <a:avLst/>
          </a:prstGeom>
          <a:noFill/>
          <a:ln/>
        </p:spPr>
        <p:txBody>
          <a:bodyPr wrap="square" lIns="0" tIns="0" rIns="0" bIns="0" rtlCol="0" anchor="t"/>
          <a:lstStyle/>
          <a:p>
            <a:pPr algn="ctr" indent="0" marL="0">
              <a:buNone/>
            </a:pPr>
            <a:r>
              <a:rPr lang="en-US" sz="2400" b="1" dirty="0">
                <a:solidFill>
                  <a:srgbClr val="0891B2"/>
                </a:solidFill>
                <a:latin typeface="Cambria" pitchFamily="34" charset="0"/>
                <a:ea typeface="Cambria" pitchFamily="34" charset="-122"/>
                <a:cs typeface="Cambria" pitchFamily="34" charset="-120"/>
              </a:rPr>
              <a:t>1</a:t>
            </a:r>
            <a:endParaRPr lang="en-US" sz="2400" dirty="0"/>
          </a:p>
        </p:txBody>
      </p:sp>
      <p:sp>
        <p:nvSpPr>
          <p:cNvPr id="7" name="Text 4"/>
          <p:cNvSpPr txBox="1"/>
          <p:nvPr/>
        </p:nvSpPr>
        <p:spPr>
          <a:xfrm>
            <a:off x="640080" y="3703320"/>
            <a:ext cx="2036003" cy="457200"/>
          </a:xfrm>
          <a:prstGeom prst="rect">
            <a:avLst/>
          </a:prstGeom>
          <a:noFill/>
          <a:ln/>
        </p:spPr>
        <p:txBody>
          <a:bodyPr wrap="square" lIns="0" tIns="0" rIns="0" bIns="0" rtlCol="0" anchor="t"/>
          <a:lstStyle/>
          <a:p>
            <a:pPr algn="ctr" indent="0" marL="0">
              <a:buNone/>
            </a:pPr>
            <a:r>
              <a:rPr lang="en-US" sz="1900" b="1" dirty="0">
                <a:solidFill>
                  <a:schemeClr val="tx1"/>
                </a:solidFill>
              </a:rPr>
              <a:t>Load memory</a:t>
            </a:r>
            <a:endParaRPr lang="en-US" sz="1900" dirty="0"/>
          </a:p>
        </p:txBody>
      </p:sp>
      <p:sp>
        <p:nvSpPr>
          <p:cNvPr id="8" name="Text 5"/>
          <p:cNvSpPr txBox="1"/>
          <p:nvPr/>
        </p:nvSpPr>
        <p:spPr>
          <a:xfrm>
            <a:off x="640080" y="4160520"/>
            <a:ext cx="2036003" cy="457200"/>
          </a:xfrm>
          <a:prstGeom prst="rect">
            <a:avLst/>
          </a:prstGeom>
          <a:noFill/>
          <a:ln/>
        </p:spPr>
        <p:txBody>
          <a:bodyPr wrap="square" lIns="0" tIns="0" rIns="0" bIns="0" rtlCol="0" anchor="t"/>
          <a:lstStyle/>
          <a:p>
            <a:pPr algn="ctr" indent="0" marL="0">
              <a:buNone/>
            </a:pPr>
            <a:r>
              <a:rPr lang="en-US" sz="1500" dirty="0">
                <a:solidFill>
                  <a:schemeClr val="tx2"/>
                </a:solidFill>
              </a:rPr>
              <a:t>a copy of the computer’s RAM</a:t>
            </a:r>
            <a:endParaRPr lang="en-US" sz="1500" dirty="0"/>
          </a:p>
        </p:txBody>
      </p:sp>
      <p:sp>
        <p:nvSpPr>
          <p:cNvPr id="9" name="step arrow 2"/>
          <p:cNvSpPr/>
          <p:nvPr/>
        </p:nvSpPr>
        <p:spPr>
          <a:xfrm>
            <a:off x="4654205" y="2423160"/>
            <a:ext cx="664403" cy="0"/>
          </a:xfrm>
          <a:prstGeom prst="line">
            <a:avLst/>
          </a:prstGeom>
          <a:noFill/>
          <a:ln w="38100">
            <a:solidFill>
              <a:srgbClr val="D6DCE6"/>
            </a:solidFill>
            <a:prstDash val="solid"/>
            <a:tailEnd type="triangle"/>
          </a:ln>
        </p:spPr>
      </p:sp>
      <p:sp>
        <p:nvSpPr>
          <p:cNvPr id="10" name="step 2 circle"/>
          <p:cNvSpPr/>
          <p:nvPr/>
        </p:nvSpPr>
        <p:spPr>
          <a:xfrm>
            <a:off x="3191165" y="1737360"/>
            <a:ext cx="1371600" cy="1371600"/>
          </a:xfrm>
          <a:prstGeom prst="ellipse">
            <a:avLst/>
          </a:prstGeom>
          <a:solidFill>
            <a:srgbClr val="2563EB"/>
          </a:solidFill>
          <a:ln w="12700">
            <a:solidFill>
              <a:srgbClr val="2563EB"/>
            </a:solidFill>
            <a:prstDash val="solid"/>
          </a:ln>
        </p:spPr>
      </p:sp>
      <p:pic>
        <p:nvPicPr>
          <p:cNvPr id="11" name="step 2 icon" descr="preencoded.png">    </p:cNvPr>
          <p:cNvPicPr>
            <a:picLocks noChangeAspect="1"/>
          </p:cNvPicPr>
          <p:nvPr/>
        </p:nvPicPr>
        <p:blipFill>
          <a:blip r:embed="rId2"/>
          <a:stretch>
            <a:fillRect/>
          </a:stretch>
        </p:blipFill>
        <p:spPr>
          <a:xfrm>
            <a:off x="3534065" y="2080260"/>
            <a:ext cx="685800" cy="685800"/>
          </a:xfrm>
          <a:prstGeom prst="rect">
            <a:avLst/>
          </a:prstGeom>
        </p:spPr>
      </p:pic>
      <p:sp>
        <p:nvSpPr>
          <p:cNvPr id="12" name="Text 8"/>
          <p:cNvSpPr txBox="1"/>
          <p:nvPr/>
        </p:nvSpPr>
        <p:spPr>
          <a:xfrm>
            <a:off x="3511205" y="3200400"/>
            <a:ext cx="731520" cy="457200"/>
          </a:xfrm>
          <a:prstGeom prst="rect">
            <a:avLst/>
          </a:prstGeom>
          <a:noFill/>
          <a:ln/>
        </p:spPr>
        <p:txBody>
          <a:bodyPr wrap="square" lIns="0" tIns="0" rIns="0" bIns="0" rtlCol="0" anchor="t"/>
          <a:lstStyle/>
          <a:p>
            <a:pPr algn="ctr" indent="0" marL="0">
              <a:buNone/>
            </a:pPr>
            <a:r>
              <a:rPr lang="en-US" sz="2400" b="1" dirty="0">
                <a:solidFill>
                  <a:srgbClr val="2563EB"/>
                </a:solidFill>
                <a:latin typeface="Cambria" pitchFamily="34" charset="0"/>
                <a:ea typeface="Cambria" pitchFamily="34" charset="-122"/>
                <a:cs typeface="Cambria" pitchFamily="34" charset="-120"/>
              </a:rPr>
              <a:t>2</a:t>
            </a:r>
            <a:endParaRPr lang="en-US" sz="2400" dirty="0"/>
          </a:p>
        </p:txBody>
      </p:sp>
      <p:sp>
        <p:nvSpPr>
          <p:cNvPr id="13" name="Text 9"/>
          <p:cNvSpPr txBox="1"/>
          <p:nvPr/>
        </p:nvSpPr>
        <p:spPr>
          <a:xfrm>
            <a:off x="2858963" y="3703320"/>
            <a:ext cx="2036003" cy="457200"/>
          </a:xfrm>
          <a:prstGeom prst="rect">
            <a:avLst/>
          </a:prstGeom>
          <a:noFill/>
          <a:ln/>
        </p:spPr>
        <p:txBody>
          <a:bodyPr wrap="square" lIns="0" tIns="0" rIns="0" bIns="0" rtlCol="0" anchor="t"/>
          <a:lstStyle/>
          <a:p>
            <a:pPr algn="ctr" indent="0" marL="0">
              <a:buNone/>
            </a:pPr>
            <a:r>
              <a:rPr lang="en-US" sz="1900" b="1" dirty="0">
                <a:solidFill>
                  <a:schemeClr val="tx1"/>
                </a:solidFill>
              </a:rPr>
              <a:t>Read 55 clues</a:t>
            </a:r>
            <a:endParaRPr lang="en-US" sz="1900" dirty="0"/>
          </a:p>
        </p:txBody>
      </p:sp>
      <p:sp>
        <p:nvSpPr>
          <p:cNvPr id="14" name="Text 10"/>
          <p:cNvSpPr txBox="1"/>
          <p:nvPr/>
        </p:nvSpPr>
        <p:spPr>
          <a:xfrm>
            <a:off x="2858963" y="4160520"/>
            <a:ext cx="2036003" cy="457200"/>
          </a:xfrm>
          <a:prstGeom prst="rect">
            <a:avLst/>
          </a:prstGeom>
          <a:noFill/>
          <a:ln/>
        </p:spPr>
        <p:txBody>
          <a:bodyPr wrap="square" lIns="0" tIns="0" rIns="0" bIns="0" rtlCol="0" anchor="t"/>
          <a:lstStyle/>
          <a:p>
            <a:pPr algn="ctr" indent="0" marL="0">
              <a:buNone/>
            </a:pPr>
            <a:r>
              <a:rPr lang="en-US" sz="1500" dirty="0">
                <a:solidFill>
                  <a:schemeClr val="tx2"/>
                </a:solidFill>
              </a:rPr>
              <a:t>counted from the memory</a:t>
            </a:r>
            <a:endParaRPr lang="en-US" sz="1500" dirty="0"/>
          </a:p>
        </p:txBody>
      </p:sp>
      <p:sp>
        <p:nvSpPr>
          <p:cNvPr id="15" name="step arrow 3"/>
          <p:cNvSpPr/>
          <p:nvPr/>
        </p:nvSpPr>
        <p:spPr>
          <a:xfrm>
            <a:off x="6873088" y="2423160"/>
            <a:ext cx="664403" cy="0"/>
          </a:xfrm>
          <a:prstGeom prst="line">
            <a:avLst/>
          </a:prstGeom>
          <a:noFill/>
          <a:ln w="38100">
            <a:solidFill>
              <a:srgbClr val="D6DCE6"/>
            </a:solidFill>
            <a:prstDash val="solid"/>
            <a:tailEnd type="triangle"/>
          </a:ln>
        </p:spPr>
      </p:sp>
      <p:sp>
        <p:nvSpPr>
          <p:cNvPr id="16" name="step 3 circle"/>
          <p:cNvSpPr/>
          <p:nvPr/>
        </p:nvSpPr>
        <p:spPr>
          <a:xfrm>
            <a:off x="5410048" y="1737360"/>
            <a:ext cx="1371600" cy="1371600"/>
          </a:xfrm>
          <a:prstGeom prst="ellipse">
            <a:avLst/>
          </a:prstGeom>
          <a:solidFill>
            <a:srgbClr val="DC2626"/>
          </a:solidFill>
          <a:ln w="12700">
            <a:solidFill>
              <a:srgbClr val="DC2626"/>
            </a:solidFill>
            <a:prstDash val="solid"/>
          </a:ln>
        </p:spPr>
      </p:sp>
      <p:pic>
        <p:nvPicPr>
          <p:cNvPr id="17" name="step 3 icon" descr="preencoded.png">    </p:cNvPr>
          <p:cNvPicPr>
            <a:picLocks noChangeAspect="1"/>
          </p:cNvPicPr>
          <p:nvPr/>
        </p:nvPicPr>
        <p:blipFill>
          <a:blip r:embed="rId3"/>
          <a:stretch>
            <a:fillRect/>
          </a:stretch>
        </p:blipFill>
        <p:spPr>
          <a:xfrm>
            <a:off x="5752948" y="2080260"/>
            <a:ext cx="685800" cy="685800"/>
          </a:xfrm>
          <a:prstGeom prst="rect">
            <a:avLst/>
          </a:prstGeom>
        </p:spPr>
      </p:pic>
      <p:sp>
        <p:nvSpPr>
          <p:cNvPr id="18" name="Text 13"/>
          <p:cNvSpPr txBox="1"/>
          <p:nvPr/>
        </p:nvSpPr>
        <p:spPr>
          <a:xfrm>
            <a:off x="5730088" y="3200400"/>
            <a:ext cx="731520" cy="457200"/>
          </a:xfrm>
          <a:prstGeom prst="rect">
            <a:avLst/>
          </a:prstGeom>
          <a:noFill/>
          <a:ln/>
        </p:spPr>
        <p:txBody>
          <a:bodyPr wrap="square" lIns="0" tIns="0" rIns="0" bIns="0" rtlCol="0" anchor="t"/>
          <a:lstStyle/>
          <a:p>
            <a:pPr algn="ctr" indent="0" marL="0">
              <a:buNone/>
            </a:pPr>
            <a:r>
              <a:rPr lang="en-US" sz="2400" b="1" dirty="0">
                <a:solidFill>
                  <a:srgbClr val="DC2626"/>
                </a:solidFill>
                <a:latin typeface="Cambria" pitchFamily="34" charset="0"/>
                <a:ea typeface="Cambria" pitchFamily="34" charset="-122"/>
                <a:cs typeface="Cambria" pitchFamily="34" charset="-120"/>
              </a:rPr>
              <a:t>3</a:t>
            </a:r>
            <a:endParaRPr lang="en-US" sz="2400" dirty="0"/>
          </a:p>
        </p:txBody>
      </p:sp>
      <p:sp>
        <p:nvSpPr>
          <p:cNvPr id="19" name="Text 14"/>
          <p:cNvSpPr txBox="1"/>
          <p:nvPr/>
        </p:nvSpPr>
        <p:spPr>
          <a:xfrm>
            <a:off x="5077846" y="3703320"/>
            <a:ext cx="2036003" cy="457200"/>
          </a:xfrm>
          <a:prstGeom prst="rect">
            <a:avLst/>
          </a:prstGeom>
          <a:noFill/>
          <a:ln/>
        </p:spPr>
        <p:txBody>
          <a:bodyPr wrap="square" lIns="0" tIns="0" rIns="0" bIns="0" rtlCol="0" anchor="t"/>
          <a:lstStyle/>
          <a:p>
            <a:pPr algn="ctr" indent="0" marL="0">
              <a:buNone/>
            </a:pPr>
            <a:r>
              <a:rPr lang="en-US" sz="1900" b="1" dirty="0">
                <a:solidFill>
                  <a:schemeClr val="tx1"/>
                </a:solidFill>
              </a:rPr>
              <a:t>AI decides</a:t>
            </a:r>
            <a:endParaRPr lang="en-US" sz="1900" dirty="0"/>
          </a:p>
        </p:txBody>
      </p:sp>
      <p:sp>
        <p:nvSpPr>
          <p:cNvPr id="20" name="Text 15"/>
          <p:cNvSpPr txBox="1"/>
          <p:nvPr/>
        </p:nvSpPr>
        <p:spPr>
          <a:xfrm>
            <a:off x="5077846" y="4160520"/>
            <a:ext cx="2036003" cy="457200"/>
          </a:xfrm>
          <a:prstGeom prst="rect">
            <a:avLst/>
          </a:prstGeom>
          <a:noFill/>
          <a:ln/>
        </p:spPr>
        <p:txBody>
          <a:bodyPr wrap="square" lIns="0" tIns="0" rIns="0" bIns="0" rtlCol="0" anchor="t"/>
          <a:lstStyle/>
          <a:p>
            <a:pPr algn="ctr" indent="0" marL="0">
              <a:buNone/>
            </a:pPr>
            <a:r>
              <a:rPr lang="en-US" sz="1500" dirty="0">
                <a:solidFill>
                  <a:schemeClr val="tx2"/>
                </a:solidFill>
              </a:rPr>
              <a:t>clean or infected?</a:t>
            </a:r>
            <a:endParaRPr lang="en-US" sz="1500" dirty="0"/>
          </a:p>
        </p:txBody>
      </p:sp>
      <p:sp>
        <p:nvSpPr>
          <p:cNvPr id="21" name="step arrow 4"/>
          <p:cNvSpPr/>
          <p:nvPr/>
        </p:nvSpPr>
        <p:spPr>
          <a:xfrm>
            <a:off x="9091971" y="2423160"/>
            <a:ext cx="664403" cy="0"/>
          </a:xfrm>
          <a:prstGeom prst="line">
            <a:avLst/>
          </a:prstGeom>
          <a:noFill/>
          <a:ln w="38100">
            <a:solidFill>
              <a:srgbClr val="D6DCE6"/>
            </a:solidFill>
            <a:prstDash val="solid"/>
            <a:tailEnd type="triangle"/>
          </a:ln>
        </p:spPr>
      </p:sp>
      <p:sp>
        <p:nvSpPr>
          <p:cNvPr id="22" name="step 4 circle"/>
          <p:cNvSpPr/>
          <p:nvPr/>
        </p:nvSpPr>
        <p:spPr>
          <a:xfrm>
            <a:off x="7628931" y="1737360"/>
            <a:ext cx="1371600" cy="1371600"/>
          </a:xfrm>
          <a:prstGeom prst="ellipse">
            <a:avLst/>
          </a:prstGeom>
          <a:solidFill>
            <a:srgbClr val="D97706"/>
          </a:solidFill>
          <a:ln w="12700">
            <a:solidFill>
              <a:srgbClr val="D97706"/>
            </a:solidFill>
            <a:prstDash val="solid"/>
          </a:ln>
        </p:spPr>
      </p:sp>
      <p:pic>
        <p:nvPicPr>
          <p:cNvPr id="23" name="step 4 icon" descr="preencoded.png">    </p:cNvPr>
          <p:cNvPicPr>
            <a:picLocks noChangeAspect="1"/>
          </p:cNvPicPr>
          <p:nvPr/>
        </p:nvPicPr>
        <p:blipFill>
          <a:blip r:embed="rId4"/>
          <a:stretch>
            <a:fillRect/>
          </a:stretch>
        </p:blipFill>
        <p:spPr>
          <a:xfrm>
            <a:off x="7971831" y="2080260"/>
            <a:ext cx="685800" cy="685800"/>
          </a:xfrm>
          <a:prstGeom prst="rect">
            <a:avLst/>
          </a:prstGeom>
        </p:spPr>
      </p:pic>
      <p:sp>
        <p:nvSpPr>
          <p:cNvPr id="24" name="Text 18"/>
          <p:cNvSpPr txBox="1"/>
          <p:nvPr/>
        </p:nvSpPr>
        <p:spPr>
          <a:xfrm>
            <a:off x="7948971" y="3200400"/>
            <a:ext cx="731520" cy="457200"/>
          </a:xfrm>
          <a:prstGeom prst="rect">
            <a:avLst/>
          </a:prstGeom>
          <a:noFill/>
          <a:ln/>
        </p:spPr>
        <p:txBody>
          <a:bodyPr wrap="square" lIns="0" tIns="0" rIns="0" bIns="0" rtlCol="0" anchor="t"/>
          <a:lstStyle/>
          <a:p>
            <a:pPr algn="ctr" indent="0" marL="0">
              <a:buNone/>
            </a:pPr>
            <a:r>
              <a:rPr lang="en-US" sz="2400" b="1" dirty="0">
                <a:solidFill>
                  <a:srgbClr val="D97706"/>
                </a:solidFill>
                <a:latin typeface="Cambria" pitchFamily="34" charset="0"/>
                <a:ea typeface="Cambria" pitchFamily="34" charset="-122"/>
                <a:cs typeface="Cambria" pitchFamily="34" charset="-120"/>
              </a:rPr>
              <a:t>4</a:t>
            </a:r>
            <a:endParaRPr lang="en-US" sz="2400" dirty="0"/>
          </a:p>
        </p:txBody>
      </p:sp>
      <p:sp>
        <p:nvSpPr>
          <p:cNvPr id="25" name="Text 19"/>
          <p:cNvSpPr txBox="1"/>
          <p:nvPr/>
        </p:nvSpPr>
        <p:spPr>
          <a:xfrm>
            <a:off x="7296729" y="3703320"/>
            <a:ext cx="2036003" cy="457200"/>
          </a:xfrm>
          <a:prstGeom prst="rect">
            <a:avLst/>
          </a:prstGeom>
          <a:noFill/>
          <a:ln/>
        </p:spPr>
        <p:txBody>
          <a:bodyPr wrap="square" lIns="0" tIns="0" rIns="0" bIns="0" rtlCol="0" anchor="t"/>
          <a:lstStyle/>
          <a:p>
            <a:pPr algn="ctr" indent="0" marL="0">
              <a:buNone/>
            </a:pPr>
            <a:r>
              <a:rPr lang="en-US" sz="1900" b="1" dirty="0">
                <a:solidFill>
                  <a:schemeClr val="tx1"/>
                </a:solidFill>
              </a:rPr>
              <a:t>Explain why</a:t>
            </a:r>
            <a:endParaRPr lang="en-US" sz="1900" dirty="0"/>
          </a:p>
        </p:txBody>
      </p:sp>
      <p:sp>
        <p:nvSpPr>
          <p:cNvPr id="26" name="Text 20"/>
          <p:cNvSpPr txBox="1"/>
          <p:nvPr/>
        </p:nvSpPr>
        <p:spPr>
          <a:xfrm>
            <a:off x="7296729" y="4160520"/>
            <a:ext cx="2036003" cy="457200"/>
          </a:xfrm>
          <a:prstGeom prst="rect">
            <a:avLst/>
          </a:prstGeom>
          <a:noFill/>
          <a:ln/>
        </p:spPr>
        <p:txBody>
          <a:bodyPr wrap="square" lIns="0" tIns="0" rIns="0" bIns="0" rtlCol="0" anchor="t"/>
          <a:lstStyle/>
          <a:p>
            <a:pPr algn="ctr" indent="0" marL="0">
              <a:buNone/>
            </a:pPr>
            <a:r>
              <a:rPr lang="en-US" sz="1500" dirty="0">
                <a:solidFill>
                  <a:schemeClr val="tx2"/>
                </a:solidFill>
              </a:rPr>
              <a:t>the main reasons</a:t>
            </a:r>
            <a:endParaRPr lang="en-US" sz="1500" dirty="0"/>
          </a:p>
        </p:txBody>
      </p:sp>
      <p:sp>
        <p:nvSpPr>
          <p:cNvPr id="27" name="step 5 circle"/>
          <p:cNvSpPr/>
          <p:nvPr/>
        </p:nvSpPr>
        <p:spPr>
          <a:xfrm>
            <a:off x="9847814" y="1737360"/>
            <a:ext cx="1371600" cy="1371600"/>
          </a:xfrm>
          <a:prstGeom prst="ellipse">
            <a:avLst/>
          </a:prstGeom>
          <a:solidFill>
            <a:srgbClr val="16A34A"/>
          </a:solidFill>
          <a:ln w="12700">
            <a:solidFill>
              <a:srgbClr val="16A34A"/>
            </a:solidFill>
            <a:prstDash val="solid"/>
          </a:ln>
        </p:spPr>
      </p:sp>
      <p:pic>
        <p:nvPicPr>
          <p:cNvPr id="28" name="step 5 icon" descr="preencoded.png">    </p:cNvPr>
          <p:cNvPicPr>
            <a:picLocks noChangeAspect="1"/>
          </p:cNvPicPr>
          <p:nvPr/>
        </p:nvPicPr>
        <p:blipFill>
          <a:blip r:embed="rId5"/>
          <a:stretch>
            <a:fillRect/>
          </a:stretch>
        </p:blipFill>
        <p:spPr>
          <a:xfrm>
            <a:off x="10190714" y="2080260"/>
            <a:ext cx="685800" cy="685800"/>
          </a:xfrm>
          <a:prstGeom prst="rect">
            <a:avLst/>
          </a:prstGeom>
        </p:spPr>
      </p:pic>
      <p:sp>
        <p:nvSpPr>
          <p:cNvPr id="29" name="Text 22"/>
          <p:cNvSpPr txBox="1"/>
          <p:nvPr/>
        </p:nvSpPr>
        <p:spPr>
          <a:xfrm>
            <a:off x="10167854" y="3200400"/>
            <a:ext cx="731520" cy="457200"/>
          </a:xfrm>
          <a:prstGeom prst="rect">
            <a:avLst/>
          </a:prstGeom>
          <a:noFill/>
          <a:ln/>
        </p:spPr>
        <p:txBody>
          <a:bodyPr wrap="square" lIns="0" tIns="0" rIns="0" bIns="0" rtlCol="0" anchor="t"/>
          <a:lstStyle/>
          <a:p>
            <a:pPr algn="ctr" indent="0" marL="0">
              <a:buNone/>
            </a:pPr>
            <a:r>
              <a:rPr lang="en-US" sz="2400" b="1" dirty="0">
                <a:solidFill>
                  <a:srgbClr val="16A34A"/>
                </a:solidFill>
                <a:latin typeface="Cambria" pitchFamily="34" charset="0"/>
                <a:ea typeface="Cambria" pitchFamily="34" charset="-122"/>
                <a:cs typeface="Cambria" pitchFamily="34" charset="-120"/>
              </a:rPr>
              <a:t>5</a:t>
            </a:r>
            <a:endParaRPr lang="en-US" sz="2400" dirty="0"/>
          </a:p>
        </p:txBody>
      </p:sp>
      <p:sp>
        <p:nvSpPr>
          <p:cNvPr id="30" name="Text 23"/>
          <p:cNvSpPr txBox="1"/>
          <p:nvPr/>
        </p:nvSpPr>
        <p:spPr>
          <a:xfrm>
            <a:off x="9515612" y="3703320"/>
            <a:ext cx="2036003" cy="457200"/>
          </a:xfrm>
          <a:prstGeom prst="rect">
            <a:avLst/>
          </a:prstGeom>
          <a:noFill/>
          <a:ln/>
        </p:spPr>
        <p:txBody>
          <a:bodyPr wrap="square" lIns="0" tIns="0" rIns="0" bIns="0" rtlCol="0" anchor="t"/>
          <a:lstStyle/>
          <a:p>
            <a:pPr algn="ctr" indent="0" marL="0">
              <a:buNone/>
            </a:pPr>
            <a:r>
              <a:rPr lang="en-US" sz="1900" b="1" dirty="0">
                <a:solidFill>
                  <a:schemeClr val="tx1"/>
                </a:solidFill>
              </a:rPr>
              <a:t>Sealed report</a:t>
            </a:r>
            <a:endParaRPr lang="en-US" sz="1900" dirty="0"/>
          </a:p>
        </p:txBody>
      </p:sp>
      <p:sp>
        <p:nvSpPr>
          <p:cNvPr id="31" name="Text 24"/>
          <p:cNvSpPr txBox="1"/>
          <p:nvPr/>
        </p:nvSpPr>
        <p:spPr>
          <a:xfrm>
            <a:off x="9515612" y="4160520"/>
            <a:ext cx="2036003" cy="457200"/>
          </a:xfrm>
          <a:prstGeom prst="rect">
            <a:avLst/>
          </a:prstGeom>
          <a:noFill/>
          <a:ln/>
        </p:spPr>
        <p:txBody>
          <a:bodyPr wrap="square" lIns="0" tIns="0" rIns="0" bIns="0" rtlCol="0" anchor="t"/>
          <a:lstStyle/>
          <a:p>
            <a:pPr algn="ctr" indent="0" marL="0">
              <a:buNone/>
            </a:pPr>
            <a:r>
              <a:rPr lang="en-US" sz="1500" dirty="0">
                <a:solidFill>
                  <a:schemeClr val="tx2"/>
                </a:solidFill>
              </a:rPr>
              <a:t>PDF for the investigator</a:t>
            </a:r>
            <a:endParaRPr lang="en-US" sz="1500" dirty="0"/>
          </a:p>
        </p:txBody>
      </p:sp>
      <p:sp>
        <p:nvSpPr>
          <p:cNvPr id="32" name="analogy band"/>
          <p:cNvSpPr/>
          <p:nvPr/>
        </p:nvSpPr>
        <p:spPr>
          <a:xfrm>
            <a:off x="548640" y="4983480"/>
            <a:ext cx="11094415" cy="1005840"/>
          </a:xfrm>
          <a:prstGeom prst="roundRect">
            <a:avLst>
              <a:gd name="adj" fmla="val 10909"/>
            </a:avLst>
          </a:prstGeom>
          <a:solidFill>
            <a:schemeClr val="bg2"/>
          </a:solidFill>
          <a:ln w="12700">
            <a:solidFill>
              <a:schemeClr val="bg2"/>
            </a:solidFill>
            <a:prstDash val="solid"/>
          </a:ln>
        </p:spPr>
      </p:sp>
      <p:sp>
        <p:nvSpPr>
          <p:cNvPr id="33" name="analogy circle"/>
          <p:cNvSpPr/>
          <p:nvPr/>
        </p:nvSpPr>
        <p:spPr>
          <a:xfrm>
            <a:off x="777240" y="5120640"/>
            <a:ext cx="731520" cy="731520"/>
          </a:xfrm>
          <a:prstGeom prst="ellipse">
            <a:avLst/>
          </a:prstGeom>
          <a:solidFill>
            <a:srgbClr val="0891B2"/>
          </a:solidFill>
          <a:ln w="12700">
            <a:solidFill>
              <a:srgbClr val="0891B2"/>
            </a:solidFill>
            <a:prstDash val="solid"/>
          </a:ln>
        </p:spPr>
      </p:sp>
      <p:pic>
        <p:nvPicPr>
          <p:cNvPr id="34" name="analogy icon" descr="preencoded.png">    </p:cNvPr>
          <p:cNvPicPr>
            <a:picLocks noChangeAspect="1"/>
          </p:cNvPicPr>
          <p:nvPr/>
        </p:nvPicPr>
        <p:blipFill>
          <a:blip r:embed="rId6"/>
          <a:stretch>
            <a:fillRect/>
          </a:stretch>
        </p:blipFill>
        <p:spPr>
          <a:xfrm>
            <a:off x="960120" y="5303520"/>
            <a:ext cx="365760" cy="365760"/>
          </a:xfrm>
          <a:prstGeom prst="rect">
            <a:avLst/>
          </a:prstGeom>
        </p:spPr>
      </p:pic>
      <p:sp>
        <p:nvSpPr>
          <p:cNvPr id="35" name="Text 27"/>
          <p:cNvSpPr txBox="1"/>
          <p:nvPr/>
        </p:nvSpPr>
        <p:spPr>
          <a:xfrm>
            <a:off x="1737360" y="5120640"/>
            <a:ext cx="9631375" cy="731520"/>
          </a:xfrm>
          <a:prstGeom prst="rect">
            <a:avLst/>
          </a:prstGeom>
          <a:noFill/>
          <a:ln/>
        </p:spPr>
        <p:txBody>
          <a:bodyPr wrap="square" lIns="0" tIns="0" rIns="0" bIns="0" rtlCol="0" anchor="ctr"/>
          <a:lstStyle/>
          <a:p>
            <a:pPr indent="0" marL="0">
              <a:buNone/>
            </a:pPr>
            <a:r>
              <a:rPr lang="en-US" sz="1800" b="1" dirty="0">
                <a:solidFill>
                  <a:schemeClr val="tx1"/>
                </a:solidFill>
              </a:rPr>
              <a:t>Think of a medical check-up: </a:t>
            </a:r>
            <a:pPr indent="0" marL="0">
              <a:buNone/>
            </a:pPr>
            <a:r>
              <a:rPr lang="en-US" sz="1800" dirty="0">
                <a:solidFill>
                  <a:schemeClr val="tx1"/>
                </a:solidFill>
              </a:rPr>
              <a:t>take a sample → measure it → diagnose → explain the diagnosis → write the report.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Before step 1: teaching the AI</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6"/>
          </a:solidFill>
          <a:ln/>
        </p:spPr>
        <p:txBody>
          <a:bodyPr wrap="square" rtlCol="0" anchor="ctr"/>
          <a:lstStyle/>
          <a:p>
            <a:pPr algn="ctr" indent="0" marL="0">
              <a:buNone/>
            </a:pPr>
            <a:r>
              <a:rPr lang="en-US" sz="1200" b="1" dirty="0">
                <a:solidFill>
                  <a:schemeClr val="bg1"/>
                </a:solidFill>
              </a:rPr>
              <a:t>TRAINING</a:t>
            </a:r>
            <a:endParaRPr lang="en-US" sz="1200" dirty="0"/>
          </a:p>
        </p:txBody>
      </p:sp>
      <p:sp>
        <p:nvSpPr>
          <p:cNvPr id="4" name="Text 2"/>
          <p:cNvSpPr txBox="1"/>
          <p:nvPr/>
        </p:nvSpPr>
        <p:spPr>
          <a:xfrm>
            <a:off x="548640" y="1371600"/>
            <a:ext cx="4937760" cy="2377440"/>
          </a:xfrm>
          <a:prstGeom prst="rect">
            <a:avLst/>
          </a:prstGeom>
          <a:noFill/>
          <a:ln/>
        </p:spPr>
        <p:txBody>
          <a:bodyPr wrap="square" lIns="0" tIns="0" rIns="0" bIns="0" rtlCol="0" anchor="t"/>
          <a:lstStyle/>
          <a:p>
            <a:pPr indent="0" marL="0">
              <a:buNone/>
            </a:pPr>
            <a:r>
              <a:rPr lang="en-US" sz="6600" b="1" dirty="0">
                <a:solidFill>
                  <a:schemeClr val="accent6"/>
                </a:solidFill>
                <a:latin typeface="Cambria" pitchFamily="34" charset="0"/>
                <a:ea typeface="Cambria" pitchFamily="34" charset="-122"/>
                <a:cs typeface="Cambria" pitchFamily="34" charset="-120"/>
              </a:rPr>
              <a:t>58,596</a:t>
            </a:r>
            <a:endParaRPr lang="en-US" sz="1400" dirty="0"/>
          </a:p>
          <a:p>
            <a:pPr indent="0" marL="0">
              <a:buNone/>
            </a:pPr>
            <a:r>
              <a:rPr lang="en-US" sz="1900" dirty="0">
                <a:solidFill>
                  <a:schemeClr val="tx2"/>
                </a:solidFill>
              </a:rPr>
              <a:t>memory examples from a public research dataset (CIC-MalMem2022)</a:t>
            </a:r>
            <a:endParaRPr lang="en-US" sz="1400" dirty="0"/>
          </a:p>
        </p:txBody>
      </p:sp>
      <p:sp>
        <p:nvSpPr>
          <p:cNvPr id="5" name="pile 1"/>
          <p:cNvSpPr/>
          <p:nvPr/>
        </p:nvSpPr>
        <p:spPr>
          <a:xfrm>
            <a:off x="5852160" y="1371600"/>
            <a:ext cx="2743200" cy="2560320"/>
          </a:xfrm>
          <a:prstGeom prst="roundRect">
            <a:avLst>
              <a:gd name="adj" fmla="val 4286"/>
            </a:avLst>
          </a:prstGeom>
          <a:solidFill>
            <a:schemeClr val="bg2"/>
          </a:solidFill>
          <a:ln w="12700">
            <a:solidFill>
              <a:schemeClr val="bg2"/>
            </a:solidFill>
            <a:prstDash val="solid"/>
          </a:ln>
        </p:spPr>
      </p:sp>
      <p:sp>
        <p:nvSpPr>
          <p:cNvPr id="6" name="pile 1 circle"/>
          <p:cNvSpPr/>
          <p:nvPr/>
        </p:nvSpPr>
        <p:spPr>
          <a:xfrm>
            <a:off x="6720840" y="1645920"/>
            <a:ext cx="1005840" cy="1005840"/>
          </a:xfrm>
          <a:prstGeom prst="ellipse">
            <a:avLst/>
          </a:prstGeom>
          <a:solidFill>
            <a:srgbClr val="16A34A"/>
          </a:solidFill>
          <a:ln w="12700">
            <a:solidFill>
              <a:srgbClr val="16A34A"/>
            </a:solidFill>
            <a:prstDash val="solid"/>
          </a:ln>
        </p:spPr>
      </p:sp>
      <p:pic>
        <p:nvPicPr>
          <p:cNvPr id="7" name="pile 1 icon" descr="preencoded.png">    </p:cNvPr>
          <p:cNvPicPr>
            <a:picLocks noChangeAspect="1"/>
          </p:cNvPicPr>
          <p:nvPr/>
        </p:nvPicPr>
        <p:blipFill>
          <a:blip r:embed="rId1"/>
          <a:stretch>
            <a:fillRect/>
          </a:stretch>
        </p:blipFill>
        <p:spPr>
          <a:xfrm>
            <a:off x="6972300" y="1897380"/>
            <a:ext cx="502920" cy="502920"/>
          </a:xfrm>
          <a:prstGeom prst="rect">
            <a:avLst/>
          </a:prstGeom>
        </p:spPr>
      </p:pic>
      <p:sp>
        <p:nvSpPr>
          <p:cNvPr id="8" name="Text 5"/>
          <p:cNvSpPr txBox="1"/>
          <p:nvPr/>
        </p:nvSpPr>
        <p:spPr>
          <a:xfrm>
            <a:off x="6035040" y="2788920"/>
            <a:ext cx="2377440" cy="457200"/>
          </a:xfrm>
          <a:prstGeom prst="rect">
            <a:avLst/>
          </a:prstGeom>
          <a:noFill/>
          <a:ln/>
        </p:spPr>
        <p:txBody>
          <a:bodyPr wrap="square" lIns="0" tIns="0" rIns="0" bIns="0" rtlCol="0" anchor="t"/>
          <a:lstStyle/>
          <a:p>
            <a:pPr algn="ctr" indent="0" marL="0">
              <a:buNone/>
            </a:pPr>
            <a:r>
              <a:rPr lang="en-US" sz="2100" b="1" dirty="0">
                <a:solidFill>
                  <a:schemeClr val="tx1"/>
                </a:solidFill>
              </a:rPr>
              <a:t>Half clean</a:t>
            </a:r>
            <a:endParaRPr lang="en-US" sz="2100" dirty="0"/>
          </a:p>
        </p:txBody>
      </p:sp>
      <p:sp>
        <p:nvSpPr>
          <p:cNvPr id="9" name="Text 6"/>
          <p:cNvSpPr txBox="1"/>
          <p:nvPr/>
        </p:nvSpPr>
        <p:spPr>
          <a:xfrm>
            <a:off x="6035040" y="3246120"/>
            <a:ext cx="2377440" cy="548640"/>
          </a:xfrm>
          <a:prstGeom prst="rect">
            <a:avLst/>
          </a:prstGeom>
          <a:noFill/>
          <a:ln/>
        </p:spPr>
        <p:txBody>
          <a:bodyPr wrap="square" lIns="0" tIns="0" rIns="0" bIns="0" rtlCol="0" anchor="t"/>
          <a:lstStyle/>
          <a:p>
            <a:pPr algn="ctr" indent="0" marL="0">
              <a:buNone/>
            </a:pPr>
            <a:r>
              <a:rPr lang="en-US" sz="1500" dirty="0">
                <a:solidFill>
                  <a:schemeClr val="tx2"/>
                </a:solidFill>
              </a:rPr>
              <a:t>normal computers</a:t>
            </a:r>
            <a:endParaRPr lang="en-US" sz="1500" dirty="0"/>
          </a:p>
        </p:txBody>
      </p:sp>
      <p:sp>
        <p:nvSpPr>
          <p:cNvPr id="10" name="pile 2"/>
          <p:cNvSpPr/>
          <p:nvPr/>
        </p:nvSpPr>
        <p:spPr>
          <a:xfrm>
            <a:off x="8823960" y="1371600"/>
            <a:ext cx="2743200" cy="2560320"/>
          </a:xfrm>
          <a:prstGeom prst="roundRect">
            <a:avLst>
              <a:gd name="adj" fmla="val 4286"/>
            </a:avLst>
          </a:prstGeom>
          <a:solidFill>
            <a:schemeClr val="bg2"/>
          </a:solidFill>
          <a:ln w="12700">
            <a:solidFill>
              <a:schemeClr val="bg2"/>
            </a:solidFill>
            <a:prstDash val="solid"/>
          </a:ln>
        </p:spPr>
      </p:sp>
      <p:sp>
        <p:nvSpPr>
          <p:cNvPr id="11" name="pile 2 circle"/>
          <p:cNvSpPr/>
          <p:nvPr/>
        </p:nvSpPr>
        <p:spPr>
          <a:xfrm>
            <a:off x="9692640" y="1645920"/>
            <a:ext cx="1005840" cy="1005840"/>
          </a:xfrm>
          <a:prstGeom prst="ellipse">
            <a:avLst/>
          </a:prstGeom>
          <a:solidFill>
            <a:srgbClr val="DC2626"/>
          </a:solidFill>
          <a:ln w="12700">
            <a:solidFill>
              <a:srgbClr val="DC2626"/>
            </a:solidFill>
            <a:prstDash val="solid"/>
          </a:ln>
        </p:spPr>
      </p:sp>
      <p:pic>
        <p:nvPicPr>
          <p:cNvPr id="12" name="pile 2 icon" descr="preencoded.png">    </p:cNvPr>
          <p:cNvPicPr>
            <a:picLocks noChangeAspect="1"/>
          </p:cNvPicPr>
          <p:nvPr/>
        </p:nvPicPr>
        <p:blipFill>
          <a:blip r:embed="rId2"/>
          <a:stretch>
            <a:fillRect/>
          </a:stretch>
        </p:blipFill>
        <p:spPr>
          <a:xfrm>
            <a:off x="9944100" y="1897380"/>
            <a:ext cx="502920" cy="502920"/>
          </a:xfrm>
          <a:prstGeom prst="rect">
            <a:avLst/>
          </a:prstGeom>
        </p:spPr>
      </p:pic>
      <p:sp>
        <p:nvSpPr>
          <p:cNvPr id="13" name="Text 9"/>
          <p:cNvSpPr txBox="1"/>
          <p:nvPr/>
        </p:nvSpPr>
        <p:spPr>
          <a:xfrm>
            <a:off x="9006840" y="2788920"/>
            <a:ext cx="2377440" cy="457200"/>
          </a:xfrm>
          <a:prstGeom prst="rect">
            <a:avLst/>
          </a:prstGeom>
          <a:noFill/>
          <a:ln/>
        </p:spPr>
        <p:txBody>
          <a:bodyPr wrap="square" lIns="0" tIns="0" rIns="0" bIns="0" rtlCol="0" anchor="t"/>
          <a:lstStyle/>
          <a:p>
            <a:pPr algn="ctr" indent="0" marL="0">
              <a:buNone/>
            </a:pPr>
            <a:r>
              <a:rPr lang="en-US" sz="2100" b="1" dirty="0">
                <a:solidFill>
                  <a:schemeClr val="tx1"/>
                </a:solidFill>
              </a:rPr>
              <a:t>Half infected</a:t>
            </a:r>
            <a:endParaRPr lang="en-US" sz="2100" dirty="0"/>
          </a:p>
        </p:txBody>
      </p:sp>
      <p:sp>
        <p:nvSpPr>
          <p:cNvPr id="14" name="Text 10"/>
          <p:cNvSpPr txBox="1"/>
          <p:nvPr/>
        </p:nvSpPr>
        <p:spPr>
          <a:xfrm>
            <a:off x="9006840" y="3246120"/>
            <a:ext cx="2377440" cy="548640"/>
          </a:xfrm>
          <a:prstGeom prst="rect">
            <a:avLst/>
          </a:prstGeom>
          <a:noFill/>
          <a:ln/>
        </p:spPr>
        <p:txBody>
          <a:bodyPr wrap="square" lIns="0" tIns="0" rIns="0" bIns="0" rtlCol="0" anchor="t"/>
          <a:lstStyle/>
          <a:p>
            <a:pPr algn="ctr" indent="0" marL="0">
              <a:buNone/>
            </a:pPr>
            <a:r>
              <a:rPr lang="en-US" sz="1500" dirty="0">
                <a:solidFill>
                  <a:schemeClr val="tx2"/>
                </a:solidFill>
              </a:rPr>
              <a:t>ransomware, spyware, trojans</a:t>
            </a:r>
            <a:endParaRPr lang="en-US" sz="1500" dirty="0"/>
          </a:p>
        </p:txBody>
      </p:sp>
      <p:sp>
        <p:nvSpPr>
          <p:cNvPr id="15" name="split band"/>
          <p:cNvSpPr/>
          <p:nvPr/>
        </p:nvSpPr>
        <p:spPr>
          <a:xfrm>
            <a:off x="548640" y="4343400"/>
            <a:ext cx="11094415" cy="1645920"/>
          </a:xfrm>
          <a:prstGeom prst="roundRect">
            <a:avLst>
              <a:gd name="adj" fmla="val 6667"/>
            </a:avLst>
          </a:prstGeom>
          <a:solidFill>
            <a:schemeClr val="bg2"/>
          </a:solidFill>
          <a:ln w="12700">
            <a:solidFill>
              <a:schemeClr val="bg2"/>
            </a:solidFill>
            <a:prstDash val="solid"/>
          </a:ln>
        </p:spPr>
      </p:sp>
      <p:sp>
        <p:nvSpPr>
          <p:cNvPr id="16" name="train bar"/>
          <p:cNvSpPr/>
          <p:nvPr/>
        </p:nvSpPr>
        <p:spPr>
          <a:xfrm>
            <a:off x="914400" y="4709160"/>
            <a:ext cx="8290316" cy="548640"/>
          </a:xfrm>
          <a:prstGeom prst="rect">
            <a:avLst/>
          </a:prstGeom>
          <a:solidFill>
            <a:schemeClr val="accent6"/>
          </a:solidFill>
          <a:ln w="12700">
            <a:solidFill>
              <a:schemeClr val="accent6"/>
            </a:solidFill>
            <a:prstDash val="solid"/>
          </a:ln>
        </p:spPr>
      </p:sp>
      <p:sp>
        <p:nvSpPr>
          <p:cNvPr id="17" name="test bar"/>
          <p:cNvSpPr/>
          <p:nvPr/>
        </p:nvSpPr>
        <p:spPr>
          <a:xfrm>
            <a:off x="9204716" y="4709160"/>
            <a:ext cx="2072579" cy="548640"/>
          </a:xfrm>
          <a:prstGeom prst="rect">
            <a:avLst/>
          </a:prstGeom>
          <a:solidFill>
            <a:schemeClr val="accent4"/>
          </a:solidFill>
          <a:ln w="12700">
            <a:solidFill>
              <a:schemeClr val="accent4"/>
            </a:solidFill>
            <a:prstDash val="solid"/>
          </a:ln>
        </p:spPr>
      </p:sp>
      <p:sp>
        <p:nvSpPr>
          <p:cNvPr id="18" name="Text 14"/>
          <p:cNvSpPr txBox="1"/>
          <p:nvPr/>
        </p:nvSpPr>
        <p:spPr>
          <a:xfrm>
            <a:off x="1097280" y="4709160"/>
            <a:ext cx="6400800" cy="548640"/>
          </a:xfrm>
          <a:prstGeom prst="rect">
            <a:avLst/>
          </a:prstGeom>
          <a:noFill/>
          <a:ln/>
        </p:spPr>
        <p:txBody>
          <a:bodyPr wrap="square" lIns="0" tIns="0" rIns="0" bIns="0" rtlCol="0" anchor="ctr"/>
          <a:lstStyle/>
          <a:p>
            <a:pPr indent="0" marL="0">
              <a:buNone/>
            </a:pPr>
            <a:r>
              <a:rPr lang="en-US" sz="1700" b="1" dirty="0">
                <a:solidFill>
                  <a:schemeClr val="bg1"/>
                </a:solidFill>
              </a:rPr>
              <a:t>80%  — the AI learns from these</a:t>
            </a:r>
            <a:endParaRPr lang="en-US" sz="1700" dirty="0"/>
          </a:p>
        </p:txBody>
      </p:sp>
      <p:sp>
        <p:nvSpPr>
          <p:cNvPr id="19" name="Text 15"/>
          <p:cNvSpPr txBox="1"/>
          <p:nvPr/>
        </p:nvSpPr>
        <p:spPr>
          <a:xfrm>
            <a:off x="9296156" y="4709160"/>
            <a:ext cx="2103120" cy="548640"/>
          </a:xfrm>
          <a:prstGeom prst="rect">
            <a:avLst/>
          </a:prstGeom>
          <a:noFill/>
          <a:ln/>
        </p:spPr>
        <p:txBody>
          <a:bodyPr wrap="square" lIns="0" tIns="0" rIns="0" bIns="0" rtlCol="0" anchor="ctr"/>
          <a:lstStyle/>
          <a:p>
            <a:pPr indent="0" marL="0">
              <a:buNone/>
            </a:pPr>
            <a:r>
              <a:rPr lang="en-US" sz="1500" b="1" dirty="0">
                <a:solidFill>
                  <a:schemeClr val="bg1"/>
                </a:solidFill>
              </a:rPr>
              <a:t>20% — the exam</a:t>
            </a:r>
            <a:endParaRPr lang="en-US" sz="1500" dirty="0"/>
          </a:p>
        </p:txBody>
      </p:sp>
      <p:sp>
        <p:nvSpPr>
          <p:cNvPr id="20" name="Text 16"/>
          <p:cNvSpPr txBox="1"/>
          <p:nvPr/>
        </p:nvSpPr>
        <p:spPr>
          <a:xfrm>
            <a:off x="914400" y="5394960"/>
            <a:ext cx="10362895" cy="457200"/>
          </a:xfrm>
          <a:prstGeom prst="rect">
            <a:avLst/>
          </a:prstGeom>
          <a:noFill/>
          <a:ln/>
        </p:spPr>
        <p:txBody>
          <a:bodyPr wrap="square" lIns="0" tIns="0" rIns="0" bIns="0" rtlCol="0" anchor="t"/>
          <a:lstStyle/>
          <a:p>
            <a:pPr indent="0" marL="0">
              <a:buNone/>
            </a:pPr>
            <a:r>
              <a:rPr lang="en-US" sz="1600" i="1" dirty="0">
                <a:solidFill>
                  <a:schemeClr val="tx2"/>
                </a:solidFill>
              </a:rPr>
              <a:t>Like a student: study with most of the questions, then sit an exam on questions never seen before.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Steps 1–2: turning memory into clues</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1"/>
          </a:solidFill>
          <a:ln/>
        </p:spPr>
        <p:txBody>
          <a:bodyPr wrap="square" rtlCol="0" anchor="ctr"/>
          <a:lstStyle/>
          <a:p>
            <a:pPr algn="ctr" indent="0" marL="0">
              <a:buNone/>
            </a:pPr>
            <a:r>
              <a:rPr lang="en-US" sz="1200" b="1" dirty="0">
                <a:solidFill>
                  <a:schemeClr val="bg1"/>
                </a:solidFill>
              </a:rPr>
              <a:t>STEPS 1–2</a:t>
            </a:r>
            <a:endParaRPr lang="en-US" sz="1200" dirty="0"/>
          </a:p>
        </p:txBody>
      </p:sp>
      <p:sp>
        <p:nvSpPr>
          <p:cNvPr id="4" name="chain 1 circle"/>
          <p:cNvSpPr/>
          <p:nvPr/>
        </p:nvSpPr>
        <p:spPr>
          <a:xfrm>
            <a:off x="731520" y="1371600"/>
            <a:ext cx="1097280" cy="1097280"/>
          </a:xfrm>
          <a:prstGeom prst="ellipse">
            <a:avLst/>
          </a:prstGeom>
          <a:solidFill>
            <a:srgbClr val="0891B2"/>
          </a:solidFill>
          <a:ln w="12700">
            <a:solidFill>
              <a:srgbClr val="0891B2"/>
            </a:solidFill>
            <a:prstDash val="solid"/>
          </a:ln>
        </p:spPr>
      </p:sp>
      <p:pic>
        <p:nvPicPr>
          <p:cNvPr id="5" name="chain 1 icon" descr="preencoded.png">    </p:cNvPr>
          <p:cNvPicPr>
            <a:picLocks noChangeAspect="1"/>
          </p:cNvPicPr>
          <p:nvPr/>
        </p:nvPicPr>
        <p:blipFill>
          <a:blip r:embed="rId1"/>
          <a:stretch>
            <a:fillRect/>
          </a:stretch>
        </p:blipFill>
        <p:spPr>
          <a:xfrm>
            <a:off x="1005840" y="1645920"/>
            <a:ext cx="548640" cy="548640"/>
          </a:xfrm>
          <a:prstGeom prst="rect">
            <a:avLst/>
          </a:prstGeom>
        </p:spPr>
      </p:pic>
      <p:sp>
        <p:nvSpPr>
          <p:cNvPr id="6" name="Text 3"/>
          <p:cNvSpPr txBox="1"/>
          <p:nvPr/>
        </p:nvSpPr>
        <p:spPr>
          <a:xfrm>
            <a:off x="2057400" y="1508760"/>
            <a:ext cx="2926080" cy="457200"/>
          </a:xfrm>
          <a:prstGeom prst="rect">
            <a:avLst/>
          </a:prstGeom>
          <a:noFill/>
          <a:ln/>
        </p:spPr>
        <p:txBody>
          <a:bodyPr wrap="square" lIns="0" tIns="0" rIns="0" bIns="0" rtlCol="0" anchor="t"/>
          <a:lstStyle/>
          <a:p>
            <a:pPr indent="0" marL="0">
              <a:buNone/>
            </a:pPr>
            <a:r>
              <a:rPr lang="en-US" sz="2100" b="1" dirty="0">
                <a:solidFill>
                  <a:schemeClr val="tx1"/>
                </a:solidFill>
              </a:rPr>
              <a:t>Memory file</a:t>
            </a:r>
            <a:endParaRPr lang="en-US" sz="2100" dirty="0"/>
          </a:p>
        </p:txBody>
      </p:sp>
      <p:sp>
        <p:nvSpPr>
          <p:cNvPr id="7" name="Text 4"/>
          <p:cNvSpPr txBox="1"/>
          <p:nvPr/>
        </p:nvSpPr>
        <p:spPr>
          <a:xfrm>
            <a:off x="2057400" y="1965960"/>
            <a:ext cx="2926080" cy="411480"/>
          </a:xfrm>
          <a:prstGeom prst="rect">
            <a:avLst/>
          </a:prstGeom>
          <a:noFill/>
          <a:ln/>
        </p:spPr>
        <p:txBody>
          <a:bodyPr wrap="square" lIns="0" tIns="0" rIns="0" bIns="0" rtlCol="0" anchor="t"/>
          <a:lstStyle/>
          <a:p>
            <a:pPr indent="0" marL="0">
              <a:buNone/>
            </a:pPr>
            <a:r>
              <a:rPr lang="en-US" sz="1600" dirty="0">
                <a:solidFill>
                  <a:schemeClr val="tx2"/>
                </a:solidFill>
              </a:rPr>
              <a:t>several GB</a:t>
            </a:r>
            <a:endParaRPr lang="en-US" sz="1600" dirty="0"/>
          </a:p>
        </p:txBody>
      </p:sp>
      <p:sp>
        <p:nvSpPr>
          <p:cNvPr id="8" name="chain arrow 1"/>
          <p:cNvSpPr/>
          <p:nvPr/>
        </p:nvSpPr>
        <p:spPr>
          <a:xfrm>
            <a:off x="1280160" y="2560320"/>
            <a:ext cx="0" cy="347472"/>
          </a:xfrm>
          <a:prstGeom prst="line">
            <a:avLst/>
          </a:prstGeom>
          <a:noFill/>
          <a:ln w="38100">
            <a:solidFill>
              <a:srgbClr val="5B6478"/>
            </a:solidFill>
            <a:prstDash val="solid"/>
            <a:tailEnd type="triangle"/>
          </a:ln>
        </p:spPr>
      </p:sp>
      <p:sp>
        <p:nvSpPr>
          <p:cNvPr id="9" name="chain 2 circle"/>
          <p:cNvSpPr/>
          <p:nvPr/>
        </p:nvSpPr>
        <p:spPr>
          <a:xfrm>
            <a:off x="731520" y="2971800"/>
            <a:ext cx="1097280" cy="1097280"/>
          </a:xfrm>
          <a:prstGeom prst="ellipse">
            <a:avLst/>
          </a:prstGeom>
          <a:solidFill>
            <a:srgbClr val="6D5BD0"/>
          </a:solidFill>
          <a:ln w="12700">
            <a:solidFill>
              <a:srgbClr val="6D5BD0"/>
            </a:solidFill>
            <a:prstDash val="solid"/>
          </a:ln>
        </p:spPr>
      </p:sp>
      <p:pic>
        <p:nvPicPr>
          <p:cNvPr id="10" name="chain 2 icon" descr="preencoded.png">    </p:cNvPr>
          <p:cNvPicPr>
            <a:picLocks noChangeAspect="1"/>
          </p:cNvPicPr>
          <p:nvPr/>
        </p:nvPicPr>
        <p:blipFill>
          <a:blip r:embed="rId2"/>
          <a:stretch>
            <a:fillRect/>
          </a:stretch>
        </p:blipFill>
        <p:spPr>
          <a:xfrm>
            <a:off x="1005840" y="3246120"/>
            <a:ext cx="548640" cy="548640"/>
          </a:xfrm>
          <a:prstGeom prst="rect">
            <a:avLst/>
          </a:prstGeom>
        </p:spPr>
      </p:pic>
      <p:sp>
        <p:nvSpPr>
          <p:cNvPr id="11" name="Text 7"/>
          <p:cNvSpPr txBox="1"/>
          <p:nvPr/>
        </p:nvSpPr>
        <p:spPr>
          <a:xfrm>
            <a:off x="2057400" y="3108960"/>
            <a:ext cx="2926080" cy="457200"/>
          </a:xfrm>
          <a:prstGeom prst="rect">
            <a:avLst/>
          </a:prstGeom>
          <a:noFill/>
          <a:ln/>
        </p:spPr>
        <p:txBody>
          <a:bodyPr wrap="square" lIns="0" tIns="0" rIns="0" bIns="0" rtlCol="0" anchor="t"/>
          <a:lstStyle/>
          <a:p>
            <a:pPr indent="0" marL="0">
              <a:buNone/>
            </a:pPr>
            <a:r>
              <a:rPr lang="en-US" sz="2100" b="1" dirty="0">
                <a:solidFill>
                  <a:schemeClr val="tx1"/>
                </a:solidFill>
              </a:rPr>
              <a:t>Volatility 3</a:t>
            </a:r>
            <a:endParaRPr lang="en-US" sz="2100" dirty="0"/>
          </a:p>
        </p:txBody>
      </p:sp>
      <p:sp>
        <p:nvSpPr>
          <p:cNvPr id="12" name="Text 8"/>
          <p:cNvSpPr txBox="1"/>
          <p:nvPr/>
        </p:nvSpPr>
        <p:spPr>
          <a:xfrm>
            <a:off x="2057400" y="3566160"/>
            <a:ext cx="2926080" cy="411480"/>
          </a:xfrm>
          <a:prstGeom prst="rect">
            <a:avLst/>
          </a:prstGeom>
          <a:noFill/>
          <a:ln/>
        </p:spPr>
        <p:txBody>
          <a:bodyPr wrap="square" lIns="0" tIns="0" rIns="0" bIns="0" rtlCol="0" anchor="t"/>
          <a:lstStyle/>
          <a:p>
            <a:pPr indent="0" marL="0">
              <a:buNone/>
            </a:pPr>
            <a:r>
              <a:rPr lang="en-US" sz="1600" dirty="0">
                <a:solidFill>
                  <a:schemeClr val="tx2"/>
                </a:solidFill>
              </a:rPr>
              <a:t>forensic tool reads it</a:t>
            </a:r>
            <a:endParaRPr lang="en-US" sz="1600" dirty="0"/>
          </a:p>
        </p:txBody>
      </p:sp>
      <p:sp>
        <p:nvSpPr>
          <p:cNvPr id="13" name="chain arrow 2"/>
          <p:cNvSpPr/>
          <p:nvPr/>
        </p:nvSpPr>
        <p:spPr>
          <a:xfrm>
            <a:off x="1280160" y="4160520"/>
            <a:ext cx="0" cy="347472"/>
          </a:xfrm>
          <a:prstGeom prst="line">
            <a:avLst/>
          </a:prstGeom>
          <a:noFill/>
          <a:ln w="38100">
            <a:solidFill>
              <a:srgbClr val="5B6478"/>
            </a:solidFill>
            <a:prstDash val="solid"/>
            <a:tailEnd type="triangle"/>
          </a:ln>
        </p:spPr>
      </p:sp>
      <p:sp>
        <p:nvSpPr>
          <p:cNvPr id="14" name="chain 3 circle"/>
          <p:cNvSpPr/>
          <p:nvPr/>
        </p:nvSpPr>
        <p:spPr>
          <a:xfrm>
            <a:off x="731520" y="4572000"/>
            <a:ext cx="1097280" cy="1097280"/>
          </a:xfrm>
          <a:prstGeom prst="ellipse">
            <a:avLst/>
          </a:prstGeom>
          <a:solidFill>
            <a:srgbClr val="2563EB"/>
          </a:solidFill>
          <a:ln w="12700">
            <a:solidFill>
              <a:srgbClr val="2563EB"/>
            </a:solidFill>
            <a:prstDash val="solid"/>
          </a:ln>
        </p:spPr>
      </p:sp>
      <p:pic>
        <p:nvPicPr>
          <p:cNvPr id="15" name="chain 3 icon" descr="preencoded.png">    </p:cNvPr>
          <p:cNvPicPr>
            <a:picLocks noChangeAspect="1"/>
          </p:cNvPicPr>
          <p:nvPr/>
        </p:nvPicPr>
        <p:blipFill>
          <a:blip r:embed="rId3"/>
          <a:stretch>
            <a:fillRect/>
          </a:stretch>
        </p:blipFill>
        <p:spPr>
          <a:xfrm>
            <a:off x="1005840" y="4846320"/>
            <a:ext cx="548640" cy="548640"/>
          </a:xfrm>
          <a:prstGeom prst="rect">
            <a:avLst/>
          </a:prstGeom>
        </p:spPr>
      </p:pic>
      <p:sp>
        <p:nvSpPr>
          <p:cNvPr id="16" name="Text 11"/>
          <p:cNvSpPr txBox="1"/>
          <p:nvPr/>
        </p:nvSpPr>
        <p:spPr>
          <a:xfrm>
            <a:off x="2057400" y="4709160"/>
            <a:ext cx="2926080" cy="457200"/>
          </a:xfrm>
          <a:prstGeom prst="rect">
            <a:avLst/>
          </a:prstGeom>
          <a:noFill/>
          <a:ln/>
        </p:spPr>
        <p:txBody>
          <a:bodyPr wrap="square" lIns="0" tIns="0" rIns="0" bIns="0" rtlCol="0" anchor="t"/>
          <a:lstStyle/>
          <a:p>
            <a:pPr indent="0" marL="0">
              <a:buNone/>
            </a:pPr>
            <a:r>
              <a:rPr lang="en-US" sz="2100" b="1" dirty="0">
                <a:solidFill>
                  <a:schemeClr val="tx1"/>
                </a:solidFill>
              </a:rPr>
              <a:t>55 numbers</a:t>
            </a:r>
            <a:endParaRPr lang="en-US" sz="2100" dirty="0"/>
          </a:p>
        </p:txBody>
      </p:sp>
      <p:sp>
        <p:nvSpPr>
          <p:cNvPr id="17" name="Text 12"/>
          <p:cNvSpPr txBox="1"/>
          <p:nvPr/>
        </p:nvSpPr>
        <p:spPr>
          <a:xfrm>
            <a:off x="2057400" y="5166360"/>
            <a:ext cx="2926080" cy="411480"/>
          </a:xfrm>
          <a:prstGeom prst="rect">
            <a:avLst/>
          </a:prstGeom>
          <a:noFill/>
          <a:ln/>
        </p:spPr>
        <p:txBody>
          <a:bodyPr wrap="square" lIns="0" tIns="0" rIns="0" bIns="0" rtlCol="0" anchor="t"/>
          <a:lstStyle/>
          <a:p>
            <a:pPr indent="0" marL="0">
              <a:buNone/>
            </a:pPr>
            <a:r>
              <a:rPr lang="en-US" sz="1600" dirty="0">
                <a:solidFill>
                  <a:schemeClr val="tx2"/>
                </a:solidFill>
              </a:rPr>
              <a:t>the “clues”</a:t>
            </a:r>
            <a:endParaRPr lang="en-US" sz="1600" dirty="0"/>
          </a:p>
        </p:txBody>
      </p:sp>
      <p:sp>
        <p:nvSpPr>
          <p:cNvPr id="18" name="Text 13"/>
          <p:cNvSpPr txBox="1"/>
          <p:nvPr/>
        </p:nvSpPr>
        <p:spPr>
          <a:xfrm>
            <a:off x="5394960" y="1325880"/>
            <a:ext cx="5486400" cy="457200"/>
          </a:xfrm>
          <a:prstGeom prst="rect">
            <a:avLst/>
          </a:prstGeom>
          <a:noFill/>
          <a:ln/>
        </p:spPr>
        <p:txBody>
          <a:bodyPr wrap="square" lIns="0" tIns="0" rIns="0" bIns="0" rtlCol="0" anchor="t"/>
          <a:lstStyle/>
          <a:p>
            <a:pPr indent="0" marL="0">
              <a:buNone/>
            </a:pPr>
            <a:r>
              <a:rPr lang="en-US" sz="2000" b="1" dirty="0">
                <a:solidFill>
                  <a:schemeClr val="tx1"/>
                </a:solidFill>
              </a:rPr>
              <a:t>Examples of clues</a:t>
            </a:r>
            <a:endParaRPr lang="en-US" sz="2000" dirty="0"/>
          </a:p>
        </p:txBody>
      </p:sp>
      <p:sp>
        <p:nvSpPr>
          <p:cNvPr id="19" name="clue 1"/>
          <p:cNvSpPr/>
          <p:nvPr/>
        </p:nvSpPr>
        <p:spPr>
          <a:xfrm>
            <a:off x="5394960" y="1920240"/>
            <a:ext cx="6248095" cy="1143000"/>
          </a:xfrm>
          <a:prstGeom prst="roundRect">
            <a:avLst>
              <a:gd name="adj" fmla="val 9600"/>
            </a:avLst>
          </a:prstGeom>
          <a:solidFill>
            <a:schemeClr val="bg2"/>
          </a:solidFill>
          <a:ln w="12700">
            <a:solidFill>
              <a:schemeClr val="bg2"/>
            </a:solidFill>
            <a:prstDash val="solid"/>
          </a:ln>
        </p:spPr>
      </p:sp>
      <p:sp>
        <p:nvSpPr>
          <p:cNvPr id="20" name="clue 1 circle"/>
          <p:cNvSpPr/>
          <p:nvPr/>
        </p:nvSpPr>
        <p:spPr>
          <a:xfrm>
            <a:off x="5623560" y="2103120"/>
            <a:ext cx="777240" cy="777240"/>
          </a:xfrm>
          <a:prstGeom prst="ellipse">
            <a:avLst/>
          </a:prstGeom>
          <a:solidFill>
            <a:srgbClr val="2563EB"/>
          </a:solidFill>
          <a:ln w="12700">
            <a:solidFill>
              <a:srgbClr val="2563EB"/>
            </a:solidFill>
            <a:prstDash val="solid"/>
          </a:ln>
        </p:spPr>
      </p:sp>
      <p:pic>
        <p:nvPicPr>
          <p:cNvPr id="21" name="clue 1 icon" descr="preencoded.png">    </p:cNvPr>
          <p:cNvPicPr>
            <a:picLocks noChangeAspect="1"/>
          </p:cNvPicPr>
          <p:nvPr/>
        </p:nvPicPr>
        <p:blipFill>
          <a:blip r:embed="rId4"/>
          <a:stretch>
            <a:fillRect/>
          </a:stretch>
        </p:blipFill>
        <p:spPr>
          <a:xfrm>
            <a:off x="5817870" y="2297430"/>
            <a:ext cx="388620" cy="388620"/>
          </a:xfrm>
          <a:prstGeom prst="rect">
            <a:avLst/>
          </a:prstGeom>
        </p:spPr>
      </p:pic>
      <p:sp>
        <p:nvSpPr>
          <p:cNvPr id="22" name="Text 16"/>
          <p:cNvSpPr txBox="1"/>
          <p:nvPr/>
        </p:nvSpPr>
        <p:spPr>
          <a:xfrm>
            <a:off x="6629400" y="2103120"/>
            <a:ext cx="4572000" cy="457200"/>
          </a:xfrm>
          <a:prstGeom prst="rect">
            <a:avLst/>
          </a:prstGeom>
          <a:noFill/>
          <a:ln/>
        </p:spPr>
        <p:txBody>
          <a:bodyPr wrap="square" lIns="0" tIns="0" rIns="0" bIns="0" rtlCol="0" anchor="t"/>
          <a:lstStyle/>
          <a:p>
            <a:pPr indent="0" marL="0">
              <a:buNone/>
            </a:pPr>
            <a:r>
              <a:rPr lang="en-US" sz="1900" b="1" dirty="0">
                <a:solidFill>
                  <a:schemeClr val="tx1"/>
                </a:solidFill>
              </a:rPr>
              <a:t>How many programs are running</a:t>
            </a:r>
            <a:endParaRPr lang="en-US" sz="1900" dirty="0"/>
          </a:p>
        </p:txBody>
      </p:sp>
      <p:sp>
        <p:nvSpPr>
          <p:cNvPr id="23" name="Text 17"/>
          <p:cNvSpPr txBox="1"/>
          <p:nvPr/>
        </p:nvSpPr>
        <p:spPr>
          <a:xfrm>
            <a:off x="6629400" y="2560320"/>
            <a:ext cx="4572000" cy="365760"/>
          </a:xfrm>
          <a:prstGeom prst="rect">
            <a:avLst/>
          </a:prstGeom>
          <a:noFill/>
          <a:ln/>
        </p:spPr>
        <p:txBody>
          <a:bodyPr wrap="square" lIns="0" tIns="0" rIns="0" bIns="0" rtlCol="0" anchor="t"/>
          <a:lstStyle/>
          <a:p>
            <a:pPr indent="0" marL="0">
              <a:buNone/>
            </a:pPr>
            <a:r>
              <a:rPr lang="en-US" sz="1400" dirty="0">
                <a:solidFill>
                  <a:schemeClr val="tx2"/>
                </a:solidFill>
              </a:rPr>
              <a:t>Volatility plugin: pslist</a:t>
            </a:r>
            <a:endParaRPr lang="en-US" sz="1400" dirty="0"/>
          </a:p>
        </p:txBody>
      </p:sp>
      <p:sp>
        <p:nvSpPr>
          <p:cNvPr id="24" name="clue 2"/>
          <p:cNvSpPr/>
          <p:nvPr/>
        </p:nvSpPr>
        <p:spPr>
          <a:xfrm>
            <a:off x="5394960" y="3246120"/>
            <a:ext cx="6248095" cy="1143000"/>
          </a:xfrm>
          <a:prstGeom prst="roundRect">
            <a:avLst>
              <a:gd name="adj" fmla="val 9600"/>
            </a:avLst>
          </a:prstGeom>
          <a:solidFill>
            <a:schemeClr val="bg2"/>
          </a:solidFill>
          <a:ln w="12700">
            <a:solidFill>
              <a:schemeClr val="bg2"/>
            </a:solidFill>
            <a:prstDash val="solid"/>
          </a:ln>
        </p:spPr>
      </p:sp>
      <p:sp>
        <p:nvSpPr>
          <p:cNvPr id="25" name="clue 2 circle"/>
          <p:cNvSpPr/>
          <p:nvPr/>
        </p:nvSpPr>
        <p:spPr>
          <a:xfrm>
            <a:off x="5623560" y="3429000"/>
            <a:ext cx="777240" cy="777240"/>
          </a:xfrm>
          <a:prstGeom prst="ellipse">
            <a:avLst/>
          </a:prstGeom>
          <a:solidFill>
            <a:srgbClr val="6D5BD0"/>
          </a:solidFill>
          <a:ln w="12700">
            <a:solidFill>
              <a:srgbClr val="6D5BD0"/>
            </a:solidFill>
            <a:prstDash val="solid"/>
          </a:ln>
        </p:spPr>
      </p:sp>
      <p:pic>
        <p:nvPicPr>
          <p:cNvPr id="26" name="clue 2 icon" descr="preencoded.png">    </p:cNvPr>
          <p:cNvPicPr>
            <a:picLocks noChangeAspect="1"/>
          </p:cNvPicPr>
          <p:nvPr/>
        </p:nvPicPr>
        <p:blipFill>
          <a:blip r:embed="rId5"/>
          <a:stretch>
            <a:fillRect/>
          </a:stretch>
        </p:blipFill>
        <p:spPr>
          <a:xfrm>
            <a:off x="5817870" y="3623310"/>
            <a:ext cx="388620" cy="388620"/>
          </a:xfrm>
          <a:prstGeom prst="rect">
            <a:avLst/>
          </a:prstGeom>
        </p:spPr>
      </p:pic>
      <p:sp>
        <p:nvSpPr>
          <p:cNvPr id="27" name="Text 20"/>
          <p:cNvSpPr txBox="1"/>
          <p:nvPr/>
        </p:nvSpPr>
        <p:spPr>
          <a:xfrm>
            <a:off x="6629400" y="3429000"/>
            <a:ext cx="4572000" cy="457200"/>
          </a:xfrm>
          <a:prstGeom prst="rect">
            <a:avLst/>
          </a:prstGeom>
          <a:noFill/>
          <a:ln/>
        </p:spPr>
        <p:txBody>
          <a:bodyPr wrap="square" lIns="0" tIns="0" rIns="0" bIns="0" rtlCol="0" anchor="t"/>
          <a:lstStyle/>
          <a:p>
            <a:pPr indent="0" marL="0">
              <a:buNone/>
            </a:pPr>
            <a:r>
              <a:rPr lang="en-US" sz="1900" b="1" dirty="0">
                <a:solidFill>
                  <a:schemeClr val="tx1"/>
                </a:solidFill>
              </a:rPr>
              <a:t>Programs that are hiding</a:t>
            </a:r>
            <a:endParaRPr lang="en-US" sz="1900" dirty="0"/>
          </a:p>
        </p:txBody>
      </p:sp>
      <p:sp>
        <p:nvSpPr>
          <p:cNvPr id="28" name="Text 21"/>
          <p:cNvSpPr txBox="1"/>
          <p:nvPr/>
        </p:nvSpPr>
        <p:spPr>
          <a:xfrm>
            <a:off x="6629400" y="3886200"/>
            <a:ext cx="4572000" cy="365760"/>
          </a:xfrm>
          <a:prstGeom prst="rect">
            <a:avLst/>
          </a:prstGeom>
          <a:noFill/>
          <a:ln/>
        </p:spPr>
        <p:txBody>
          <a:bodyPr wrap="square" lIns="0" tIns="0" rIns="0" bIns="0" rtlCol="0" anchor="t"/>
          <a:lstStyle/>
          <a:p>
            <a:pPr indent="0" marL="0">
              <a:buNone/>
            </a:pPr>
            <a:r>
              <a:rPr lang="en-US" sz="1400" dirty="0">
                <a:solidFill>
                  <a:schemeClr val="tx2"/>
                </a:solidFill>
              </a:rPr>
              <a:t>Volatility plugin: psxview</a:t>
            </a:r>
            <a:endParaRPr lang="en-US" sz="1400" dirty="0"/>
          </a:p>
        </p:txBody>
      </p:sp>
      <p:sp>
        <p:nvSpPr>
          <p:cNvPr id="29" name="clue 3"/>
          <p:cNvSpPr/>
          <p:nvPr/>
        </p:nvSpPr>
        <p:spPr>
          <a:xfrm>
            <a:off x="5394960" y="4572000"/>
            <a:ext cx="6248095" cy="1143000"/>
          </a:xfrm>
          <a:prstGeom prst="roundRect">
            <a:avLst>
              <a:gd name="adj" fmla="val 9600"/>
            </a:avLst>
          </a:prstGeom>
          <a:solidFill>
            <a:schemeClr val="bg2"/>
          </a:solidFill>
          <a:ln w="12700">
            <a:solidFill>
              <a:schemeClr val="bg2"/>
            </a:solidFill>
            <a:prstDash val="solid"/>
          </a:ln>
        </p:spPr>
      </p:sp>
      <p:sp>
        <p:nvSpPr>
          <p:cNvPr id="30" name="clue 3 circle"/>
          <p:cNvSpPr/>
          <p:nvPr/>
        </p:nvSpPr>
        <p:spPr>
          <a:xfrm>
            <a:off x="5623560" y="4754880"/>
            <a:ext cx="777240" cy="777240"/>
          </a:xfrm>
          <a:prstGeom prst="ellipse">
            <a:avLst/>
          </a:prstGeom>
          <a:solidFill>
            <a:srgbClr val="DC2626"/>
          </a:solidFill>
          <a:ln w="12700">
            <a:solidFill>
              <a:srgbClr val="DC2626"/>
            </a:solidFill>
            <a:prstDash val="solid"/>
          </a:ln>
        </p:spPr>
      </p:sp>
      <p:pic>
        <p:nvPicPr>
          <p:cNvPr id="31" name="clue 3 icon" descr="preencoded.png">    </p:cNvPr>
          <p:cNvPicPr>
            <a:picLocks noChangeAspect="1"/>
          </p:cNvPicPr>
          <p:nvPr/>
        </p:nvPicPr>
        <p:blipFill>
          <a:blip r:embed="rId6"/>
          <a:stretch>
            <a:fillRect/>
          </a:stretch>
        </p:blipFill>
        <p:spPr>
          <a:xfrm>
            <a:off x="5817870" y="4949190"/>
            <a:ext cx="388620" cy="388620"/>
          </a:xfrm>
          <a:prstGeom prst="rect">
            <a:avLst/>
          </a:prstGeom>
        </p:spPr>
      </p:pic>
      <p:sp>
        <p:nvSpPr>
          <p:cNvPr id="32" name="Text 24"/>
          <p:cNvSpPr txBox="1"/>
          <p:nvPr/>
        </p:nvSpPr>
        <p:spPr>
          <a:xfrm>
            <a:off x="6629400" y="4754880"/>
            <a:ext cx="4572000" cy="457200"/>
          </a:xfrm>
          <a:prstGeom prst="rect">
            <a:avLst/>
          </a:prstGeom>
          <a:noFill/>
          <a:ln/>
        </p:spPr>
        <p:txBody>
          <a:bodyPr wrap="square" lIns="0" tIns="0" rIns="0" bIns="0" rtlCol="0" anchor="t"/>
          <a:lstStyle/>
          <a:p>
            <a:pPr indent="0" marL="0">
              <a:buNone/>
            </a:pPr>
            <a:r>
              <a:rPr lang="en-US" sz="1900" b="1" dirty="0">
                <a:solidFill>
                  <a:schemeClr val="tx1"/>
                </a:solidFill>
              </a:rPr>
              <a:t>Injected code in programs</a:t>
            </a:r>
            <a:endParaRPr lang="en-US" sz="1900" dirty="0"/>
          </a:p>
        </p:txBody>
      </p:sp>
      <p:sp>
        <p:nvSpPr>
          <p:cNvPr id="33" name="Text 25"/>
          <p:cNvSpPr txBox="1"/>
          <p:nvPr/>
        </p:nvSpPr>
        <p:spPr>
          <a:xfrm>
            <a:off x="6629400" y="5212080"/>
            <a:ext cx="4572000" cy="365760"/>
          </a:xfrm>
          <a:prstGeom prst="rect">
            <a:avLst/>
          </a:prstGeom>
          <a:noFill/>
          <a:ln/>
        </p:spPr>
        <p:txBody>
          <a:bodyPr wrap="square" lIns="0" tIns="0" rIns="0" bIns="0" rtlCol="0" anchor="t"/>
          <a:lstStyle/>
          <a:p>
            <a:pPr indent="0" marL="0">
              <a:buNone/>
            </a:pPr>
            <a:r>
              <a:rPr lang="en-US" sz="1400" dirty="0">
                <a:solidFill>
                  <a:schemeClr val="tx2"/>
                </a:solidFill>
              </a:rPr>
              <a:t>Volatility plugin: malfind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Step 3: the AI decides</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2"/>
          </a:solidFill>
          <a:ln/>
        </p:spPr>
        <p:txBody>
          <a:bodyPr wrap="square" rtlCol="0" anchor="ctr"/>
          <a:lstStyle/>
          <a:p>
            <a:pPr algn="ctr" indent="0" marL="0">
              <a:buNone/>
            </a:pPr>
            <a:r>
              <a:rPr lang="en-US" sz="1200" b="1" dirty="0">
                <a:solidFill>
                  <a:schemeClr val="bg1"/>
                </a:solidFill>
              </a:rPr>
              <a:t>STEP 3</a:t>
            </a:r>
            <a:endParaRPr lang="en-US" sz="1200" dirty="0"/>
          </a:p>
        </p:txBody>
      </p:sp>
      <p:sp>
        <p:nvSpPr>
          <p:cNvPr id="4" name="forest card"/>
          <p:cNvSpPr/>
          <p:nvPr/>
        </p:nvSpPr>
        <p:spPr>
          <a:xfrm>
            <a:off x="548640" y="1280160"/>
            <a:ext cx="5486400" cy="3017520"/>
          </a:xfrm>
          <a:prstGeom prst="roundRect">
            <a:avLst>
              <a:gd name="adj" fmla="val 3636"/>
            </a:avLst>
          </a:prstGeom>
          <a:solidFill>
            <a:schemeClr val="bg2"/>
          </a:solidFill>
          <a:ln w="12700">
            <a:solidFill>
              <a:schemeClr val="bg2"/>
            </a:solidFill>
            <a:prstDash val="solid"/>
          </a:ln>
        </p:spPr>
      </p:sp>
      <p:sp>
        <p:nvSpPr>
          <p:cNvPr id="5" name="Text 3"/>
          <p:cNvSpPr txBox="1"/>
          <p:nvPr/>
        </p:nvSpPr>
        <p:spPr>
          <a:xfrm>
            <a:off x="822960" y="1463040"/>
            <a:ext cx="4937760" cy="822960"/>
          </a:xfrm>
          <a:prstGeom prst="rect">
            <a:avLst/>
          </a:prstGeom>
          <a:noFill/>
          <a:ln/>
        </p:spPr>
        <p:txBody>
          <a:bodyPr wrap="square" lIns="0" tIns="0" rIns="0" bIns="0" rtlCol="0" anchor="t"/>
          <a:lstStyle/>
          <a:p>
            <a:pPr indent="0" marL="0">
              <a:buNone/>
            </a:pPr>
            <a:r>
              <a:rPr lang="en-US" sz="2000" b="1" dirty="0">
                <a:solidFill>
                  <a:schemeClr val="tx1"/>
                </a:solidFill>
              </a:rPr>
              <a:t>Random Forest = many small decision trees vote</a:t>
            </a:r>
            <a:endParaRPr lang="en-US" sz="2000" dirty="0"/>
          </a:p>
        </p:txBody>
      </p:sp>
      <p:pic>
        <p:nvPicPr>
          <p:cNvPr id="6" name="vote tree 1" descr="preencoded.png">    </p:cNvPr>
          <p:cNvPicPr>
            <a:picLocks noChangeAspect="1"/>
          </p:cNvPicPr>
          <p:nvPr/>
        </p:nvPicPr>
        <p:blipFill>
          <a:blip r:embed="rId1"/>
          <a:stretch>
            <a:fillRect/>
          </a:stretch>
        </p:blipFill>
        <p:spPr>
          <a:xfrm>
            <a:off x="914400" y="2423160"/>
            <a:ext cx="640080" cy="640080"/>
          </a:xfrm>
          <a:prstGeom prst="rect">
            <a:avLst/>
          </a:prstGeom>
        </p:spPr>
      </p:pic>
      <p:pic>
        <p:nvPicPr>
          <p:cNvPr id="7" name="vote tree 2" descr="preencoded.png">    </p:cNvPr>
          <p:cNvPicPr>
            <a:picLocks noChangeAspect="1"/>
          </p:cNvPicPr>
          <p:nvPr/>
        </p:nvPicPr>
        <p:blipFill>
          <a:blip r:embed="rId2"/>
          <a:stretch>
            <a:fillRect/>
          </a:stretch>
        </p:blipFill>
        <p:spPr>
          <a:xfrm>
            <a:off x="1691640" y="2423160"/>
            <a:ext cx="640080" cy="640080"/>
          </a:xfrm>
          <a:prstGeom prst="rect">
            <a:avLst/>
          </a:prstGeom>
        </p:spPr>
      </p:pic>
      <p:pic>
        <p:nvPicPr>
          <p:cNvPr id="8" name="vote tree 3" descr="preencoded.png">    </p:cNvPr>
          <p:cNvPicPr>
            <a:picLocks noChangeAspect="1"/>
          </p:cNvPicPr>
          <p:nvPr/>
        </p:nvPicPr>
        <p:blipFill>
          <a:blip r:embed="rId3"/>
          <a:stretch>
            <a:fillRect/>
          </a:stretch>
        </p:blipFill>
        <p:spPr>
          <a:xfrm>
            <a:off x="2468880" y="2423160"/>
            <a:ext cx="640080" cy="640080"/>
          </a:xfrm>
          <a:prstGeom prst="rect">
            <a:avLst/>
          </a:prstGeom>
        </p:spPr>
      </p:pic>
      <p:pic>
        <p:nvPicPr>
          <p:cNvPr id="9" name="vote tree 4" descr="preencoded.png">    </p:cNvPr>
          <p:cNvPicPr>
            <a:picLocks noChangeAspect="1"/>
          </p:cNvPicPr>
          <p:nvPr/>
        </p:nvPicPr>
        <p:blipFill>
          <a:blip r:embed="rId4"/>
          <a:stretch>
            <a:fillRect/>
          </a:stretch>
        </p:blipFill>
        <p:spPr>
          <a:xfrm>
            <a:off x="3246120" y="2423160"/>
            <a:ext cx="640080" cy="640080"/>
          </a:xfrm>
          <a:prstGeom prst="rect">
            <a:avLst/>
          </a:prstGeom>
        </p:spPr>
      </p:pic>
      <p:pic>
        <p:nvPicPr>
          <p:cNvPr id="10" name="vote tree 5" descr="preencoded.png">    </p:cNvPr>
          <p:cNvPicPr>
            <a:picLocks noChangeAspect="1"/>
          </p:cNvPicPr>
          <p:nvPr/>
        </p:nvPicPr>
        <p:blipFill>
          <a:blip r:embed="rId5"/>
          <a:stretch>
            <a:fillRect/>
          </a:stretch>
        </p:blipFill>
        <p:spPr>
          <a:xfrm>
            <a:off x="4023360" y="2423160"/>
            <a:ext cx="640080" cy="640080"/>
          </a:xfrm>
          <a:prstGeom prst="rect">
            <a:avLst/>
          </a:prstGeom>
        </p:spPr>
      </p:pic>
      <p:sp>
        <p:nvSpPr>
          <p:cNvPr id="11" name="vote arrow"/>
          <p:cNvSpPr/>
          <p:nvPr/>
        </p:nvSpPr>
        <p:spPr>
          <a:xfrm>
            <a:off x="4754880" y="2743200"/>
            <a:ext cx="320040" cy="0"/>
          </a:xfrm>
          <a:prstGeom prst="line">
            <a:avLst/>
          </a:prstGeom>
          <a:noFill/>
          <a:ln w="38100">
            <a:solidFill>
              <a:srgbClr val="5B6478"/>
            </a:solidFill>
            <a:prstDash val="solid"/>
            <a:tailEnd type="triangle"/>
          </a:ln>
        </p:spPr>
      </p:sp>
      <p:sp>
        <p:nvSpPr>
          <p:cNvPr id="12" name="Text 5"/>
          <p:cNvSpPr txBox="1"/>
          <p:nvPr/>
        </p:nvSpPr>
        <p:spPr>
          <a:xfrm>
            <a:off x="5120640" y="2377440"/>
            <a:ext cx="868680" cy="731520"/>
          </a:xfrm>
          <a:prstGeom prst="rect">
            <a:avLst/>
          </a:prstGeom>
          <a:noFill/>
          <a:ln/>
        </p:spPr>
        <p:txBody>
          <a:bodyPr wrap="square" lIns="0" tIns="0" rIns="0" bIns="0" rtlCol="0" anchor="ctr"/>
          <a:lstStyle/>
          <a:p>
            <a:pPr algn="ctr" indent="0" marL="0">
              <a:buNone/>
            </a:pPr>
            <a:r>
              <a:rPr lang="en-US" sz="2200" b="1" dirty="0">
                <a:solidFill>
                  <a:schemeClr val="accent2"/>
                </a:solidFill>
              </a:rPr>
              <a:t>80%</a:t>
            </a:r>
            <a:endParaRPr lang="en-US" sz="2200" dirty="0"/>
          </a:p>
        </p:txBody>
      </p:sp>
      <p:sp>
        <p:nvSpPr>
          <p:cNvPr id="13" name="Text 6"/>
          <p:cNvSpPr txBox="1"/>
          <p:nvPr/>
        </p:nvSpPr>
        <p:spPr>
          <a:xfrm>
            <a:off x="822960" y="3291840"/>
            <a:ext cx="4937760" cy="822960"/>
          </a:xfrm>
          <a:prstGeom prst="rect">
            <a:avLst/>
          </a:prstGeom>
          <a:noFill/>
          <a:ln/>
        </p:spPr>
        <p:txBody>
          <a:bodyPr wrap="square" lIns="0" tIns="0" rIns="0" bIns="0" rtlCol="0" anchor="t"/>
          <a:lstStyle/>
          <a:p>
            <a:pPr indent="0" marL="0">
              <a:buNone/>
            </a:pPr>
            <a:r>
              <a:rPr lang="en-US" sz="1500" dirty="0">
                <a:solidFill>
                  <a:schemeClr val="tx2"/>
                </a:solidFill>
              </a:rPr>
              <a:t>4 of 5 trees say “infected” → malware score 80%. The real model will use 100+ trees.</a:t>
            </a:r>
            <a:endParaRPr lang="en-US" sz="1500" dirty="0"/>
          </a:p>
        </p:txBody>
      </p:sp>
      <p:sp>
        <p:nvSpPr>
          <p:cNvPr id="14" name="Text 7"/>
          <p:cNvSpPr txBox="1"/>
          <p:nvPr/>
        </p:nvSpPr>
        <p:spPr>
          <a:xfrm>
            <a:off x="6400800" y="1325880"/>
            <a:ext cx="5212080" cy="457200"/>
          </a:xfrm>
          <a:prstGeom prst="rect">
            <a:avLst/>
          </a:prstGeom>
          <a:noFill/>
          <a:ln/>
        </p:spPr>
        <p:txBody>
          <a:bodyPr wrap="square" lIns="0" tIns="0" rIns="0" bIns="0" rtlCol="0" anchor="t"/>
          <a:lstStyle/>
          <a:p>
            <a:pPr indent="0" marL="0">
              <a:buNone/>
            </a:pPr>
            <a:r>
              <a:rPr lang="en-US" sz="2000" b="1" dirty="0">
                <a:solidFill>
                  <a:schemeClr val="tx1"/>
                </a:solidFill>
              </a:rPr>
              <a:t>The score becomes a traffic light</a:t>
            </a:r>
            <a:endParaRPr lang="en-US" sz="2000" dirty="0"/>
          </a:p>
        </p:txBody>
      </p:sp>
      <p:sp>
        <p:nvSpPr>
          <p:cNvPr id="15" name="light NORMAL"/>
          <p:cNvSpPr/>
          <p:nvPr/>
        </p:nvSpPr>
        <p:spPr>
          <a:xfrm>
            <a:off x="6400800" y="1920240"/>
            <a:ext cx="640080" cy="640080"/>
          </a:xfrm>
          <a:prstGeom prst="ellipse">
            <a:avLst/>
          </a:prstGeom>
          <a:solidFill>
            <a:srgbClr val="16A34A"/>
          </a:solidFill>
          <a:ln w="12700">
            <a:solidFill>
              <a:srgbClr val="16A34A"/>
            </a:solidFill>
            <a:prstDash val="solid"/>
          </a:ln>
        </p:spPr>
      </p:sp>
      <p:sp>
        <p:nvSpPr>
          <p:cNvPr id="16" name="Text 9"/>
          <p:cNvSpPr txBox="1"/>
          <p:nvPr/>
        </p:nvSpPr>
        <p:spPr>
          <a:xfrm>
            <a:off x="7223760" y="1938528"/>
            <a:ext cx="1828800" cy="603504"/>
          </a:xfrm>
          <a:prstGeom prst="rect">
            <a:avLst/>
          </a:prstGeom>
          <a:noFill/>
          <a:ln/>
        </p:spPr>
        <p:txBody>
          <a:bodyPr wrap="square" lIns="0" tIns="0" rIns="0" bIns="0" rtlCol="0" anchor="ctr"/>
          <a:lstStyle/>
          <a:p>
            <a:pPr indent="0" marL="0">
              <a:buNone/>
            </a:pPr>
            <a:r>
              <a:rPr lang="en-US" sz="1800" b="1" dirty="0">
                <a:solidFill>
                  <a:srgbClr val="16A34A"/>
                </a:solidFill>
              </a:rPr>
              <a:t>NORMAL</a:t>
            </a:r>
            <a:endParaRPr lang="en-US" sz="1800" dirty="0"/>
          </a:p>
        </p:txBody>
      </p:sp>
      <p:sp>
        <p:nvSpPr>
          <p:cNvPr id="17" name="Text 10"/>
          <p:cNvSpPr txBox="1"/>
          <p:nvPr/>
        </p:nvSpPr>
        <p:spPr>
          <a:xfrm>
            <a:off x="8961120" y="1938528"/>
            <a:ext cx="2743200" cy="603504"/>
          </a:xfrm>
          <a:prstGeom prst="rect">
            <a:avLst/>
          </a:prstGeom>
          <a:noFill/>
          <a:ln/>
        </p:spPr>
        <p:txBody>
          <a:bodyPr wrap="square" lIns="0" tIns="0" rIns="0" bIns="0" rtlCol="0" anchor="ctr"/>
          <a:lstStyle/>
          <a:p>
            <a:pPr indent="0" marL="0">
              <a:buNone/>
            </a:pPr>
            <a:r>
              <a:rPr lang="en-US" sz="1500" dirty="0">
                <a:solidFill>
                  <a:schemeClr val="tx2"/>
                </a:solidFill>
              </a:rPr>
              <a:t>below 40% — looks clean</a:t>
            </a:r>
            <a:endParaRPr lang="en-US" sz="1500" dirty="0"/>
          </a:p>
        </p:txBody>
      </p:sp>
      <p:sp>
        <p:nvSpPr>
          <p:cNvPr id="18" name="light SUSPICIOUS"/>
          <p:cNvSpPr/>
          <p:nvPr/>
        </p:nvSpPr>
        <p:spPr>
          <a:xfrm>
            <a:off x="6400800" y="2743200"/>
            <a:ext cx="640080" cy="640080"/>
          </a:xfrm>
          <a:prstGeom prst="ellipse">
            <a:avLst/>
          </a:prstGeom>
          <a:solidFill>
            <a:srgbClr val="D97706"/>
          </a:solidFill>
          <a:ln w="12700">
            <a:solidFill>
              <a:srgbClr val="D97706"/>
            </a:solidFill>
            <a:prstDash val="solid"/>
          </a:ln>
        </p:spPr>
      </p:sp>
      <p:sp>
        <p:nvSpPr>
          <p:cNvPr id="19" name="Text 12"/>
          <p:cNvSpPr txBox="1"/>
          <p:nvPr/>
        </p:nvSpPr>
        <p:spPr>
          <a:xfrm>
            <a:off x="7223760" y="2761488"/>
            <a:ext cx="1828800" cy="603504"/>
          </a:xfrm>
          <a:prstGeom prst="rect">
            <a:avLst/>
          </a:prstGeom>
          <a:noFill/>
          <a:ln/>
        </p:spPr>
        <p:txBody>
          <a:bodyPr wrap="square" lIns="0" tIns="0" rIns="0" bIns="0" rtlCol="0" anchor="ctr"/>
          <a:lstStyle/>
          <a:p>
            <a:pPr indent="0" marL="0">
              <a:buNone/>
            </a:pPr>
            <a:r>
              <a:rPr lang="en-US" sz="1800" b="1" dirty="0">
                <a:solidFill>
                  <a:srgbClr val="D97706"/>
                </a:solidFill>
              </a:rPr>
              <a:t>SUSPICIOUS</a:t>
            </a:r>
            <a:endParaRPr lang="en-US" sz="1800" dirty="0"/>
          </a:p>
        </p:txBody>
      </p:sp>
      <p:sp>
        <p:nvSpPr>
          <p:cNvPr id="20" name="Text 13"/>
          <p:cNvSpPr txBox="1"/>
          <p:nvPr/>
        </p:nvSpPr>
        <p:spPr>
          <a:xfrm>
            <a:off x="8961120" y="2761488"/>
            <a:ext cx="2743200" cy="603504"/>
          </a:xfrm>
          <a:prstGeom prst="rect">
            <a:avLst/>
          </a:prstGeom>
          <a:noFill/>
          <a:ln/>
        </p:spPr>
        <p:txBody>
          <a:bodyPr wrap="square" lIns="0" tIns="0" rIns="0" bIns="0" rtlCol="0" anchor="ctr"/>
          <a:lstStyle/>
          <a:p>
            <a:pPr indent="0" marL="0">
              <a:buNone/>
            </a:pPr>
            <a:r>
              <a:rPr lang="en-US" sz="1500" dirty="0">
                <a:solidFill>
                  <a:schemeClr val="tx2"/>
                </a:solidFill>
              </a:rPr>
              <a:t>40–75% — expert should check</a:t>
            </a:r>
            <a:endParaRPr lang="en-US" sz="1500" dirty="0"/>
          </a:p>
        </p:txBody>
      </p:sp>
      <p:sp>
        <p:nvSpPr>
          <p:cNvPr id="21" name="light HIGH RISK"/>
          <p:cNvSpPr/>
          <p:nvPr/>
        </p:nvSpPr>
        <p:spPr>
          <a:xfrm>
            <a:off x="6400800" y="3566160"/>
            <a:ext cx="640080" cy="640080"/>
          </a:xfrm>
          <a:prstGeom prst="ellipse">
            <a:avLst/>
          </a:prstGeom>
          <a:solidFill>
            <a:srgbClr val="DC2626"/>
          </a:solidFill>
          <a:ln w="12700">
            <a:solidFill>
              <a:srgbClr val="DC2626"/>
            </a:solidFill>
            <a:prstDash val="solid"/>
          </a:ln>
        </p:spPr>
      </p:sp>
      <p:sp>
        <p:nvSpPr>
          <p:cNvPr id="22" name="Text 15"/>
          <p:cNvSpPr txBox="1"/>
          <p:nvPr/>
        </p:nvSpPr>
        <p:spPr>
          <a:xfrm>
            <a:off x="7223760" y="3584448"/>
            <a:ext cx="1828800" cy="603504"/>
          </a:xfrm>
          <a:prstGeom prst="rect">
            <a:avLst/>
          </a:prstGeom>
          <a:noFill/>
          <a:ln/>
        </p:spPr>
        <p:txBody>
          <a:bodyPr wrap="square" lIns="0" tIns="0" rIns="0" bIns="0" rtlCol="0" anchor="ctr"/>
          <a:lstStyle/>
          <a:p>
            <a:pPr indent="0" marL="0">
              <a:buNone/>
            </a:pPr>
            <a:r>
              <a:rPr lang="en-US" sz="1800" b="1" dirty="0">
                <a:solidFill>
                  <a:srgbClr val="DC2626"/>
                </a:solidFill>
              </a:rPr>
              <a:t>HIGH RISK</a:t>
            </a:r>
            <a:endParaRPr lang="en-US" sz="1800" dirty="0"/>
          </a:p>
        </p:txBody>
      </p:sp>
      <p:sp>
        <p:nvSpPr>
          <p:cNvPr id="23" name="Text 16"/>
          <p:cNvSpPr txBox="1"/>
          <p:nvPr/>
        </p:nvSpPr>
        <p:spPr>
          <a:xfrm>
            <a:off x="8961120" y="3584448"/>
            <a:ext cx="2743200" cy="603504"/>
          </a:xfrm>
          <a:prstGeom prst="rect">
            <a:avLst/>
          </a:prstGeom>
          <a:noFill/>
          <a:ln/>
        </p:spPr>
        <p:txBody>
          <a:bodyPr wrap="square" lIns="0" tIns="0" rIns="0" bIns="0" rtlCol="0" anchor="ctr"/>
          <a:lstStyle/>
          <a:p>
            <a:pPr indent="0" marL="0">
              <a:buNone/>
            </a:pPr>
            <a:r>
              <a:rPr lang="en-US" sz="1500" dirty="0">
                <a:solidFill>
                  <a:schemeClr val="tx2"/>
                </a:solidFill>
              </a:rPr>
              <a:t>75% or more — act now</a:t>
            </a:r>
            <a:endParaRPr lang="en-US" sz="1500" dirty="0"/>
          </a:p>
        </p:txBody>
      </p:sp>
      <p:sp>
        <p:nvSpPr>
          <p:cNvPr id="24" name="zero-day band"/>
          <p:cNvSpPr/>
          <p:nvPr/>
        </p:nvSpPr>
        <p:spPr>
          <a:xfrm>
            <a:off x="548640" y="4617720"/>
            <a:ext cx="11094415" cy="1371600"/>
          </a:xfrm>
          <a:prstGeom prst="roundRect">
            <a:avLst>
              <a:gd name="adj" fmla="val 8000"/>
            </a:avLst>
          </a:prstGeom>
          <a:solidFill>
            <a:schemeClr val="bg2"/>
          </a:solidFill>
          <a:ln w="12700">
            <a:solidFill>
              <a:schemeClr val="bg2"/>
            </a:solidFill>
            <a:prstDash val="solid"/>
          </a:ln>
        </p:spPr>
      </p:sp>
      <p:sp>
        <p:nvSpPr>
          <p:cNvPr id="25" name="zero-day circle"/>
          <p:cNvSpPr/>
          <p:nvPr/>
        </p:nvSpPr>
        <p:spPr>
          <a:xfrm>
            <a:off x="822960" y="4846320"/>
            <a:ext cx="914400" cy="914400"/>
          </a:xfrm>
          <a:prstGeom prst="ellipse">
            <a:avLst/>
          </a:prstGeom>
          <a:solidFill>
            <a:srgbClr val="6D5BD0"/>
          </a:solidFill>
          <a:ln w="12700">
            <a:solidFill>
              <a:srgbClr val="6D5BD0"/>
            </a:solidFill>
            <a:prstDash val="solid"/>
          </a:ln>
        </p:spPr>
      </p:sp>
      <p:pic>
        <p:nvPicPr>
          <p:cNvPr id="26" name="zero-day icon" descr="preencoded.png">    </p:cNvPr>
          <p:cNvPicPr>
            <a:picLocks noChangeAspect="1"/>
          </p:cNvPicPr>
          <p:nvPr/>
        </p:nvPicPr>
        <p:blipFill>
          <a:blip r:embed="rId6"/>
          <a:stretch>
            <a:fillRect/>
          </a:stretch>
        </p:blipFill>
        <p:spPr>
          <a:xfrm>
            <a:off x="1051560" y="5074920"/>
            <a:ext cx="457200" cy="457200"/>
          </a:xfrm>
          <a:prstGeom prst="rect">
            <a:avLst/>
          </a:prstGeom>
        </p:spPr>
      </p:pic>
      <p:sp>
        <p:nvSpPr>
          <p:cNvPr id="27" name="Text 19"/>
          <p:cNvSpPr txBox="1"/>
          <p:nvPr/>
        </p:nvSpPr>
        <p:spPr>
          <a:xfrm>
            <a:off x="2011680" y="4846320"/>
            <a:ext cx="9357055" cy="914400"/>
          </a:xfrm>
          <a:prstGeom prst="rect">
            <a:avLst/>
          </a:prstGeom>
          <a:noFill/>
          <a:ln/>
        </p:spPr>
        <p:txBody>
          <a:bodyPr wrap="square" lIns="0" tIns="0" rIns="0" bIns="0" rtlCol="0" anchor="ctr"/>
          <a:lstStyle/>
          <a:p>
            <a:pPr indent="0" marL="0">
              <a:buNone/>
            </a:pPr>
            <a:r>
              <a:rPr lang="en-US" sz="1700" b="1" dirty="0">
                <a:solidFill>
                  <a:schemeClr val="tx1"/>
                </a:solidFill>
              </a:rPr>
              <a:t>Extra safety check: </a:t>
            </a:r>
            <a:pPr indent="0" marL="0">
              <a:buNone/>
            </a:pPr>
            <a:r>
              <a:rPr lang="en-US" sz="1700" dirty="0">
                <a:solidFill>
                  <a:schemeClr val="tx1"/>
                </a:solidFill>
              </a:rPr>
              <a:t>a second model (Isolation Forest) raises a “never seen before” alarm, which can point to a brand-new (zero-day) attack.</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Step 4: explaining why</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4"/>
          </a:solidFill>
          <a:ln/>
        </p:spPr>
        <p:txBody>
          <a:bodyPr wrap="square" rtlCol="0" anchor="ctr"/>
          <a:lstStyle/>
          <a:p>
            <a:pPr algn="ctr" indent="0" marL="0">
              <a:buNone/>
            </a:pPr>
            <a:r>
              <a:rPr lang="en-US" sz="1200" b="1" dirty="0">
                <a:solidFill>
                  <a:schemeClr val="bg1"/>
                </a:solidFill>
              </a:rPr>
              <a:t>STEP 4</a:t>
            </a:r>
            <a:endParaRPr lang="en-US" sz="1200" dirty="0"/>
          </a:p>
        </p:txBody>
      </p:sp>
      <p:sp>
        <p:nvSpPr>
          <p:cNvPr id="4" name="Text 2"/>
          <p:cNvSpPr txBox="1"/>
          <p:nvPr/>
        </p:nvSpPr>
        <p:spPr>
          <a:xfrm>
            <a:off x="548640" y="1234440"/>
            <a:ext cx="11094415" cy="502920"/>
          </a:xfrm>
          <a:prstGeom prst="rect">
            <a:avLst/>
          </a:prstGeom>
          <a:noFill/>
          <a:ln/>
        </p:spPr>
        <p:txBody>
          <a:bodyPr wrap="square" lIns="0" tIns="0" rIns="0" bIns="0" rtlCol="0" anchor="t"/>
          <a:lstStyle/>
          <a:p>
            <a:pPr indent="0" marL="0">
              <a:buNone/>
            </a:pPr>
            <a:r>
              <a:rPr lang="en-US" sz="2000" dirty="0">
                <a:solidFill>
                  <a:schemeClr val="tx2"/>
                </a:solidFill>
              </a:rPr>
              <a:t>The tool shows which clues pushed the decision, in plain English.</a:t>
            </a:r>
            <a:endParaRPr lang="en-US" sz="2000" dirty="0"/>
          </a:p>
        </p:txBody>
      </p:sp>
      <p:sp>
        <p:nvSpPr>
          <p:cNvPr id="5" name="reasons card"/>
          <p:cNvSpPr/>
          <p:nvPr/>
        </p:nvSpPr>
        <p:spPr>
          <a:xfrm>
            <a:off x="548640" y="1920240"/>
            <a:ext cx="6766560" cy="4069080"/>
          </a:xfrm>
          <a:prstGeom prst="roundRect">
            <a:avLst>
              <a:gd name="adj" fmla="val 2697"/>
            </a:avLst>
          </a:prstGeom>
          <a:solidFill>
            <a:schemeClr val="bg2"/>
          </a:solidFill>
          <a:ln w="12700">
            <a:solidFill>
              <a:schemeClr val="bg2"/>
            </a:solidFill>
            <a:prstDash val="solid"/>
          </a:ln>
        </p:spPr>
      </p:sp>
      <p:sp>
        <p:nvSpPr>
          <p:cNvPr id="6" name="Text 4"/>
          <p:cNvSpPr txBox="1"/>
          <p:nvPr/>
        </p:nvSpPr>
        <p:spPr>
          <a:xfrm>
            <a:off x="822960" y="2103120"/>
            <a:ext cx="6217920" cy="411480"/>
          </a:xfrm>
          <a:prstGeom prst="rect">
            <a:avLst/>
          </a:prstGeom>
          <a:noFill/>
          <a:ln/>
        </p:spPr>
        <p:txBody>
          <a:bodyPr wrap="square" lIns="0" tIns="0" rIns="0" bIns="0" rtlCol="0" anchor="t"/>
          <a:lstStyle/>
          <a:p>
            <a:pPr indent="0" marL="0">
              <a:buNone/>
            </a:pPr>
            <a:r>
              <a:rPr lang="en-US" sz="1700" b="1" dirty="0">
                <a:solidFill>
                  <a:schemeClr val="tx1"/>
                </a:solidFill>
              </a:rPr>
              <a:t>Example: top reasons for one result</a:t>
            </a:r>
            <a:endParaRPr lang="en-US" sz="1700" dirty="0"/>
          </a:p>
        </p:txBody>
      </p:sp>
      <p:sp>
        <p:nvSpPr>
          <p:cNvPr id="7" name="Text 5"/>
          <p:cNvSpPr txBox="1"/>
          <p:nvPr/>
        </p:nvSpPr>
        <p:spPr>
          <a:xfrm>
            <a:off x="822960" y="2697480"/>
            <a:ext cx="3291840" cy="548640"/>
          </a:xfrm>
          <a:prstGeom prst="rect">
            <a:avLst/>
          </a:prstGeom>
          <a:noFill/>
          <a:ln/>
        </p:spPr>
        <p:txBody>
          <a:bodyPr wrap="square" lIns="0" tIns="0" rIns="0" bIns="0" rtlCol="0" anchor="ctr"/>
          <a:lstStyle/>
          <a:p>
            <a:pPr indent="0" marL="0">
              <a:buNone/>
            </a:pPr>
            <a:r>
              <a:rPr lang="en-US" sz="1500" dirty="0">
                <a:solidFill>
                  <a:schemeClr val="tx1"/>
                </a:solidFill>
              </a:rPr>
              <a:t>Code injected into other programs</a:t>
            </a:r>
            <a:endParaRPr lang="en-US" sz="1500" dirty="0"/>
          </a:p>
        </p:txBody>
      </p:sp>
      <p:sp>
        <p:nvSpPr>
          <p:cNvPr id="8" name="reason bar 1"/>
          <p:cNvSpPr/>
          <p:nvPr/>
        </p:nvSpPr>
        <p:spPr>
          <a:xfrm>
            <a:off x="4206240" y="2788920"/>
            <a:ext cx="2926080" cy="365760"/>
          </a:xfrm>
          <a:prstGeom prst="roundRect">
            <a:avLst>
              <a:gd name="adj" fmla="val 20000"/>
            </a:avLst>
          </a:prstGeom>
          <a:solidFill>
            <a:srgbClr val="DC2626"/>
          </a:solidFill>
          <a:ln w="12700">
            <a:solidFill>
              <a:srgbClr val="DC2626"/>
            </a:solidFill>
            <a:prstDash val="solid"/>
          </a:ln>
        </p:spPr>
      </p:sp>
      <p:sp>
        <p:nvSpPr>
          <p:cNvPr id="9" name="Text 7"/>
          <p:cNvSpPr txBox="1"/>
          <p:nvPr/>
        </p:nvSpPr>
        <p:spPr>
          <a:xfrm>
            <a:off x="822960" y="3429000"/>
            <a:ext cx="3291840" cy="548640"/>
          </a:xfrm>
          <a:prstGeom prst="rect">
            <a:avLst/>
          </a:prstGeom>
          <a:noFill/>
          <a:ln/>
        </p:spPr>
        <p:txBody>
          <a:bodyPr wrap="square" lIns="0" tIns="0" rIns="0" bIns="0" rtlCol="0" anchor="ctr"/>
          <a:lstStyle/>
          <a:p>
            <a:pPr indent="0" marL="0">
              <a:buNone/>
            </a:pPr>
            <a:r>
              <a:rPr lang="en-US" sz="1500" dirty="0">
                <a:solidFill>
                  <a:schemeClr val="tx1"/>
                </a:solidFill>
              </a:rPr>
              <a:t>Unusual number of Windows services</a:t>
            </a:r>
            <a:endParaRPr lang="en-US" sz="1500" dirty="0"/>
          </a:p>
        </p:txBody>
      </p:sp>
      <p:sp>
        <p:nvSpPr>
          <p:cNvPr id="10" name="reason bar 2"/>
          <p:cNvSpPr/>
          <p:nvPr/>
        </p:nvSpPr>
        <p:spPr>
          <a:xfrm>
            <a:off x="4206240" y="3520440"/>
            <a:ext cx="2194560" cy="365760"/>
          </a:xfrm>
          <a:prstGeom prst="roundRect">
            <a:avLst>
              <a:gd name="adj" fmla="val 20000"/>
            </a:avLst>
          </a:prstGeom>
          <a:solidFill>
            <a:srgbClr val="DC2626"/>
          </a:solidFill>
          <a:ln w="12700">
            <a:solidFill>
              <a:srgbClr val="DC2626"/>
            </a:solidFill>
            <a:prstDash val="solid"/>
          </a:ln>
        </p:spPr>
      </p:sp>
      <p:sp>
        <p:nvSpPr>
          <p:cNvPr id="11" name="Text 9"/>
          <p:cNvSpPr txBox="1"/>
          <p:nvPr/>
        </p:nvSpPr>
        <p:spPr>
          <a:xfrm>
            <a:off x="822960" y="4160520"/>
            <a:ext cx="3291840" cy="548640"/>
          </a:xfrm>
          <a:prstGeom prst="rect">
            <a:avLst/>
          </a:prstGeom>
          <a:noFill/>
          <a:ln/>
        </p:spPr>
        <p:txBody>
          <a:bodyPr wrap="square" lIns="0" tIns="0" rIns="0" bIns="0" rtlCol="0" anchor="ctr"/>
          <a:lstStyle/>
          <a:p>
            <a:pPr indent="0" marL="0">
              <a:buNone/>
            </a:pPr>
            <a:r>
              <a:rPr lang="en-US" sz="1500" dirty="0">
                <a:solidFill>
                  <a:schemeClr val="tx1"/>
                </a:solidFill>
              </a:rPr>
              <a:t>Hidden programs found</a:t>
            </a:r>
            <a:endParaRPr lang="en-US" sz="1500" dirty="0"/>
          </a:p>
        </p:txBody>
      </p:sp>
      <p:sp>
        <p:nvSpPr>
          <p:cNvPr id="12" name="reason bar 3"/>
          <p:cNvSpPr/>
          <p:nvPr/>
        </p:nvSpPr>
        <p:spPr>
          <a:xfrm>
            <a:off x="4206240" y="4251960"/>
            <a:ext cx="1554480" cy="365760"/>
          </a:xfrm>
          <a:prstGeom prst="roundRect">
            <a:avLst>
              <a:gd name="adj" fmla="val 20000"/>
            </a:avLst>
          </a:prstGeom>
          <a:solidFill>
            <a:srgbClr val="DC2626"/>
          </a:solidFill>
          <a:ln w="12700">
            <a:solidFill>
              <a:srgbClr val="DC2626"/>
            </a:solidFill>
            <a:prstDash val="solid"/>
          </a:ln>
        </p:spPr>
      </p:sp>
      <p:sp>
        <p:nvSpPr>
          <p:cNvPr id="13" name="Text 11"/>
          <p:cNvSpPr txBox="1"/>
          <p:nvPr/>
        </p:nvSpPr>
        <p:spPr>
          <a:xfrm>
            <a:off x="822960" y="4892040"/>
            <a:ext cx="3291840" cy="548640"/>
          </a:xfrm>
          <a:prstGeom prst="rect">
            <a:avLst/>
          </a:prstGeom>
          <a:noFill/>
          <a:ln/>
        </p:spPr>
        <p:txBody>
          <a:bodyPr wrap="square" lIns="0" tIns="0" rIns="0" bIns="0" rtlCol="0" anchor="ctr"/>
          <a:lstStyle/>
          <a:p>
            <a:pPr indent="0" marL="0">
              <a:buNone/>
            </a:pPr>
            <a:r>
              <a:rPr lang="en-US" sz="1500" dirty="0">
                <a:solidFill>
                  <a:schemeClr val="tx1"/>
                </a:solidFill>
              </a:rPr>
              <a:t>Normal number of open files</a:t>
            </a:r>
            <a:endParaRPr lang="en-US" sz="1500" dirty="0"/>
          </a:p>
        </p:txBody>
      </p:sp>
      <p:sp>
        <p:nvSpPr>
          <p:cNvPr id="14" name="reason bar 4"/>
          <p:cNvSpPr/>
          <p:nvPr/>
        </p:nvSpPr>
        <p:spPr>
          <a:xfrm>
            <a:off x="4206240" y="4983480"/>
            <a:ext cx="1188720" cy="365760"/>
          </a:xfrm>
          <a:prstGeom prst="roundRect">
            <a:avLst>
              <a:gd name="adj" fmla="val 20000"/>
            </a:avLst>
          </a:prstGeom>
          <a:solidFill>
            <a:srgbClr val="2563EB"/>
          </a:solidFill>
          <a:ln w="12700">
            <a:solidFill>
              <a:srgbClr val="2563EB"/>
            </a:solidFill>
            <a:prstDash val="solid"/>
          </a:ln>
        </p:spPr>
      </p:sp>
      <p:sp>
        <p:nvSpPr>
          <p:cNvPr id="15" name="Text 13"/>
          <p:cNvSpPr txBox="1"/>
          <p:nvPr/>
        </p:nvSpPr>
        <p:spPr>
          <a:xfrm>
            <a:off x="822960" y="5577840"/>
            <a:ext cx="6217920" cy="320040"/>
          </a:xfrm>
          <a:prstGeom prst="rect">
            <a:avLst/>
          </a:prstGeom>
          <a:noFill/>
          <a:ln/>
        </p:spPr>
        <p:txBody>
          <a:bodyPr wrap="square" lIns="0" tIns="0" rIns="0" bIns="0" rtlCol="0" anchor="t"/>
          <a:lstStyle/>
          <a:p>
            <a:pPr indent="0" marL="0">
              <a:buNone/>
            </a:pPr>
            <a:r>
              <a:rPr lang="en-US" sz="1300" dirty="0">
                <a:solidFill>
                  <a:srgbClr val="DC2626"/>
                </a:solidFill>
              </a:rPr>
              <a:t>■ </a:t>
            </a:r>
            <a:pPr indent="0" marL="0">
              <a:buNone/>
            </a:pPr>
            <a:r>
              <a:rPr lang="en-US" sz="1300" dirty="0">
                <a:solidFill>
                  <a:schemeClr val="tx2"/>
                </a:solidFill>
              </a:rPr>
              <a:t>pushes towards infected     </a:t>
            </a:r>
            <a:pPr indent="0" marL="0">
              <a:buNone/>
            </a:pPr>
            <a:r>
              <a:rPr lang="en-US" sz="1300" dirty="0">
                <a:solidFill>
                  <a:srgbClr val="2563EB"/>
                </a:solidFill>
              </a:rPr>
              <a:t>■ </a:t>
            </a:r>
            <a:pPr indent="0" marL="0">
              <a:buNone/>
            </a:pPr>
            <a:r>
              <a:rPr lang="en-US" sz="1300" dirty="0">
                <a:solidFill>
                  <a:schemeClr val="tx2"/>
                </a:solidFill>
              </a:rPr>
              <a:t>pushes towards clean</a:t>
            </a:r>
            <a:endParaRPr lang="en-US" sz="1300" dirty="0"/>
          </a:p>
        </p:txBody>
      </p:sp>
      <p:sp>
        <p:nvSpPr>
          <p:cNvPr id="16" name="tool SHAP"/>
          <p:cNvSpPr/>
          <p:nvPr/>
        </p:nvSpPr>
        <p:spPr>
          <a:xfrm>
            <a:off x="7589520" y="1920240"/>
            <a:ext cx="4053535" cy="1920240"/>
          </a:xfrm>
          <a:prstGeom prst="roundRect">
            <a:avLst>
              <a:gd name="adj" fmla="val 5714"/>
            </a:avLst>
          </a:prstGeom>
          <a:solidFill>
            <a:schemeClr val="bg2"/>
          </a:solidFill>
          <a:ln w="12700">
            <a:solidFill>
              <a:schemeClr val="bg2"/>
            </a:solidFill>
            <a:prstDash val="solid"/>
          </a:ln>
        </p:spPr>
      </p:sp>
      <p:sp>
        <p:nvSpPr>
          <p:cNvPr id="17" name="tool SHAP circle"/>
          <p:cNvSpPr/>
          <p:nvPr/>
        </p:nvSpPr>
        <p:spPr>
          <a:xfrm>
            <a:off x="7818120" y="2194560"/>
            <a:ext cx="822960" cy="822960"/>
          </a:xfrm>
          <a:prstGeom prst="ellipse">
            <a:avLst/>
          </a:prstGeom>
          <a:solidFill>
            <a:srgbClr val="D97706"/>
          </a:solidFill>
          <a:ln w="12700">
            <a:solidFill>
              <a:srgbClr val="D97706"/>
            </a:solidFill>
            <a:prstDash val="solid"/>
          </a:ln>
        </p:spPr>
      </p:sp>
      <p:pic>
        <p:nvPicPr>
          <p:cNvPr id="18" name="tool SHAP icon" descr="preencoded.png">    </p:cNvPr>
          <p:cNvPicPr>
            <a:picLocks noChangeAspect="1"/>
          </p:cNvPicPr>
          <p:nvPr/>
        </p:nvPicPr>
        <p:blipFill>
          <a:blip r:embed="rId1"/>
          <a:stretch>
            <a:fillRect/>
          </a:stretch>
        </p:blipFill>
        <p:spPr>
          <a:xfrm>
            <a:off x="8023860" y="2400300"/>
            <a:ext cx="411480" cy="411480"/>
          </a:xfrm>
          <a:prstGeom prst="rect">
            <a:avLst/>
          </a:prstGeom>
        </p:spPr>
      </p:pic>
      <p:sp>
        <p:nvSpPr>
          <p:cNvPr id="19" name="Text 16"/>
          <p:cNvSpPr txBox="1"/>
          <p:nvPr/>
        </p:nvSpPr>
        <p:spPr>
          <a:xfrm>
            <a:off x="8823960" y="2240280"/>
            <a:ext cx="2651760" cy="457200"/>
          </a:xfrm>
          <a:prstGeom prst="rect">
            <a:avLst/>
          </a:prstGeom>
          <a:noFill/>
          <a:ln/>
        </p:spPr>
        <p:txBody>
          <a:bodyPr wrap="square" lIns="0" tIns="0" rIns="0" bIns="0" rtlCol="0" anchor="t"/>
          <a:lstStyle/>
          <a:p>
            <a:pPr indent="0" marL="0">
              <a:buNone/>
            </a:pPr>
            <a:r>
              <a:rPr lang="en-US" sz="2200" b="1" dirty="0">
                <a:solidFill>
                  <a:srgbClr val="D97706"/>
                </a:solidFill>
              </a:rPr>
              <a:t>SHAP</a:t>
            </a:r>
            <a:endParaRPr lang="en-US" sz="2200" dirty="0"/>
          </a:p>
        </p:txBody>
      </p:sp>
      <p:sp>
        <p:nvSpPr>
          <p:cNvPr id="20" name="Text 17"/>
          <p:cNvSpPr txBox="1"/>
          <p:nvPr/>
        </p:nvSpPr>
        <p:spPr>
          <a:xfrm>
            <a:off x="7818120" y="3108960"/>
            <a:ext cx="3550615" cy="685800"/>
          </a:xfrm>
          <a:prstGeom prst="rect">
            <a:avLst/>
          </a:prstGeom>
          <a:noFill/>
          <a:ln/>
        </p:spPr>
        <p:txBody>
          <a:bodyPr wrap="square" lIns="0" tIns="0" rIns="0" bIns="0" rtlCol="0" anchor="t"/>
          <a:lstStyle/>
          <a:p>
            <a:pPr indent="0" marL="0">
              <a:buNone/>
            </a:pPr>
            <a:r>
              <a:rPr lang="en-US" sz="1500" dirty="0">
                <a:solidFill>
                  <a:schemeClr val="tx2"/>
                </a:solidFill>
              </a:rPr>
              <a:t>Measures how much each clue pushed the score.</a:t>
            </a:r>
            <a:endParaRPr lang="en-US" sz="1500" dirty="0"/>
          </a:p>
        </p:txBody>
      </p:sp>
      <p:sp>
        <p:nvSpPr>
          <p:cNvPr id="21" name="tool LIME"/>
          <p:cNvSpPr/>
          <p:nvPr/>
        </p:nvSpPr>
        <p:spPr>
          <a:xfrm>
            <a:off x="7589520" y="4023360"/>
            <a:ext cx="4053535" cy="1920240"/>
          </a:xfrm>
          <a:prstGeom prst="roundRect">
            <a:avLst>
              <a:gd name="adj" fmla="val 5714"/>
            </a:avLst>
          </a:prstGeom>
          <a:solidFill>
            <a:schemeClr val="bg2"/>
          </a:solidFill>
          <a:ln w="12700">
            <a:solidFill>
              <a:schemeClr val="bg2"/>
            </a:solidFill>
            <a:prstDash val="solid"/>
          </a:ln>
        </p:spPr>
      </p:sp>
      <p:sp>
        <p:nvSpPr>
          <p:cNvPr id="22" name="tool LIME circle"/>
          <p:cNvSpPr/>
          <p:nvPr/>
        </p:nvSpPr>
        <p:spPr>
          <a:xfrm>
            <a:off x="7818120" y="4297680"/>
            <a:ext cx="822960" cy="822960"/>
          </a:xfrm>
          <a:prstGeom prst="ellipse">
            <a:avLst/>
          </a:prstGeom>
          <a:solidFill>
            <a:srgbClr val="16A34A"/>
          </a:solidFill>
          <a:ln w="12700">
            <a:solidFill>
              <a:srgbClr val="16A34A"/>
            </a:solidFill>
            <a:prstDash val="solid"/>
          </a:ln>
        </p:spPr>
      </p:sp>
      <p:pic>
        <p:nvPicPr>
          <p:cNvPr id="23" name="tool LIME icon" descr="preencoded.png">    </p:cNvPr>
          <p:cNvPicPr>
            <a:picLocks noChangeAspect="1"/>
          </p:cNvPicPr>
          <p:nvPr/>
        </p:nvPicPr>
        <p:blipFill>
          <a:blip r:embed="rId2"/>
          <a:stretch>
            <a:fillRect/>
          </a:stretch>
        </p:blipFill>
        <p:spPr>
          <a:xfrm>
            <a:off x="8023860" y="4503420"/>
            <a:ext cx="411480" cy="411480"/>
          </a:xfrm>
          <a:prstGeom prst="rect">
            <a:avLst/>
          </a:prstGeom>
        </p:spPr>
      </p:pic>
      <p:sp>
        <p:nvSpPr>
          <p:cNvPr id="24" name="Text 20"/>
          <p:cNvSpPr txBox="1"/>
          <p:nvPr/>
        </p:nvSpPr>
        <p:spPr>
          <a:xfrm>
            <a:off x="8823960" y="4343400"/>
            <a:ext cx="2651760" cy="457200"/>
          </a:xfrm>
          <a:prstGeom prst="rect">
            <a:avLst/>
          </a:prstGeom>
          <a:noFill/>
          <a:ln/>
        </p:spPr>
        <p:txBody>
          <a:bodyPr wrap="square" lIns="0" tIns="0" rIns="0" bIns="0" rtlCol="0" anchor="t"/>
          <a:lstStyle/>
          <a:p>
            <a:pPr indent="0" marL="0">
              <a:buNone/>
            </a:pPr>
            <a:r>
              <a:rPr lang="en-US" sz="2200" b="1" dirty="0">
                <a:solidFill>
                  <a:srgbClr val="16A34A"/>
                </a:solidFill>
              </a:rPr>
              <a:t>LIME</a:t>
            </a:r>
            <a:endParaRPr lang="en-US" sz="2200" dirty="0"/>
          </a:p>
        </p:txBody>
      </p:sp>
      <p:sp>
        <p:nvSpPr>
          <p:cNvPr id="25" name="Text 21"/>
          <p:cNvSpPr txBox="1"/>
          <p:nvPr/>
        </p:nvSpPr>
        <p:spPr>
          <a:xfrm>
            <a:off x="7818120" y="5212080"/>
            <a:ext cx="3550615" cy="685800"/>
          </a:xfrm>
          <a:prstGeom prst="rect">
            <a:avLst/>
          </a:prstGeom>
          <a:noFill/>
          <a:ln/>
        </p:spPr>
        <p:txBody>
          <a:bodyPr wrap="square" lIns="0" tIns="0" rIns="0" bIns="0" rtlCol="0" anchor="t"/>
          <a:lstStyle/>
          <a:p>
            <a:pPr indent="0" marL="0">
              <a:buNone/>
            </a:pPr>
            <a:r>
              <a:rPr lang="en-US" sz="1500" dirty="0">
                <a:solidFill>
                  <a:schemeClr val="tx2"/>
                </a:solidFill>
              </a:rPr>
              <a:t>Gives simple “if … then” rules for this one result.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Step 5: protecting the evidence</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3"/>
          </a:solidFill>
          <a:ln/>
        </p:spPr>
        <p:txBody>
          <a:bodyPr wrap="square" rtlCol="0" anchor="ctr"/>
          <a:lstStyle/>
          <a:p>
            <a:pPr algn="ctr" indent="0" marL="0">
              <a:buNone/>
            </a:pPr>
            <a:r>
              <a:rPr lang="en-US" sz="1200" b="1" dirty="0">
                <a:solidFill>
                  <a:schemeClr val="bg1"/>
                </a:solidFill>
              </a:rPr>
              <a:t>STEP 5</a:t>
            </a:r>
            <a:endParaRPr lang="en-US" sz="1200" dirty="0"/>
          </a:p>
        </p:txBody>
      </p:sp>
      <p:sp>
        <p:nvSpPr>
          <p:cNvPr id="4" name="fingerprint band"/>
          <p:cNvSpPr/>
          <p:nvPr/>
        </p:nvSpPr>
        <p:spPr>
          <a:xfrm>
            <a:off x="548640" y="1280160"/>
            <a:ext cx="11094415" cy="1280160"/>
          </a:xfrm>
          <a:prstGeom prst="roundRect">
            <a:avLst>
              <a:gd name="adj" fmla="val 8571"/>
            </a:avLst>
          </a:prstGeom>
          <a:solidFill>
            <a:schemeClr val="bg2"/>
          </a:solidFill>
          <a:ln w="12700">
            <a:solidFill>
              <a:schemeClr val="bg2"/>
            </a:solidFill>
            <a:prstDash val="solid"/>
          </a:ln>
        </p:spPr>
      </p:sp>
      <p:sp>
        <p:nvSpPr>
          <p:cNvPr id="5" name="fingerprint circle"/>
          <p:cNvSpPr/>
          <p:nvPr/>
        </p:nvSpPr>
        <p:spPr>
          <a:xfrm>
            <a:off x="822960" y="1463040"/>
            <a:ext cx="914400" cy="914400"/>
          </a:xfrm>
          <a:prstGeom prst="ellipse">
            <a:avLst/>
          </a:prstGeom>
          <a:solidFill>
            <a:srgbClr val="16A34A"/>
          </a:solidFill>
          <a:ln w="12700">
            <a:solidFill>
              <a:srgbClr val="16A34A"/>
            </a:solidFill>
            <a:prstDash val="solid"/>
          </a:ln>
        </p:spPr>
      </p:sp>
      <p:pic>
        <p:nvPicPr>
          <p:cNvPr id="6" name="fingerprint icon" descr="preencoded.png">    </p:cNvPr>
          <p:cNvPicPr>
            <a:picLocks noChangeAspect="1"/>
          </p:cNvPicPr>
          <p:nvPr/>
        </p:nvPicPr>
        <p:blipFill>
          <a:blip r:embed="rId1"/>
          <a:stretch>
            <a:fillRect/>
          </a:stretch>
        </p:blipFill>
        <p:spPr>
          <a:xfrm>
            <a:off x="1051560" y="1691640"/>
            <a:ext cx="457200" cy="457200"/>
          </a:xfrm>
          <a:prstGeom prst="rect">
            <a:avLst/>
          </a:prstGeom>
        </p:spPr>
      </p:pic>
      <p:sp>
        <p:nvSpPr>
          <p:cNvPr id="7" name="Text 4"/>
          <p:cNvSpPr txBox="1"/>
          <p:nvPr/>
        </p:nvSpPr>
        <p:spPr>
          <a:xfrm>
            <a:off x="2011680" y="1463040"/>
            <a:ext cx="9357055" cy="914400"/>
          </a:xfrm>
          <a:prstGeom prst="rect">
            <a:avLst/>
          </a:prstGeom>
          <a:noFill/>
          <a:ln/>
        </p:spPr>
        <p:txBody>
          <a:bodyPr wrap="square" lIns="0" tIns="0" rIns="0" bIns="0" rtlCol="0" anchor="ctr"/>
          <a:lstStyle/>
          <a:p>
            <a:pPr indent="0" marL="0">
              <a:buNone/>
            </a:pPr>
            <a:r>
              <a:rPr lang="en-US" sz="1800" b="1" dirty="0">
                <a:solidFill>
                  <a:schemeClr val="tx1"/>
                </a:solidFill>
              </a:rPr>
              <a:t>Every file gets a digital fingerprint (SHA-256 hash). </a:t>
            </a:r>
            <a:pPr indent="0" marL="0">
              <a:buNone/>
            </a:pPr>
            <a:r>
              <a:rPr lang="en-US" sz="1800" dirty="0">
                <a:solidFill>
                  <a:schemeClr val="tx1"/>
                </a:solidFill>
              </a:rPr>
              <a:t>If even one tiny part of the file changes, the fingerprint changes completely.</a:t>
            </a:r>
            <a:endParaRPr lang="en-US" sz="1800" dirty="0"/>
          </a:p>
        </p:txBody>
      </p:sp>
      <p:sp>
        <p:nvSpPr>
          <p:cNvPr id="8" name="check arrow 1"/>
          <p:cNvSpPr/>
          <p:nvPr/>
        </p:nvSpPr>
        <p:spPr>
          <a:xfrm>
            <a:off x="2575522" y="3429000"/>
            <a:ext cx="1493444" cy="0"/>
          </a:xfrm>
          <a:prstGeom prst="line">
            <a:avLst/>
          </a:prstGeom>
          <a:noFill/>
          <a:ln w="38100">
            <a:solidFill>
              <a:srgbClr val="D6DCE6"/>
            </a:solidFill>
            <a:prstDash val="solid"/>
            <a:tailEnd type="triangle"/>
          </a:ln>
        </p:spPr>
      </p:sp>
      <p:sp>
        <p:nvSpPr>
          <p:cNvPr id="9" name="check 1 circle"/>
          <p:cNvSpPr/>
          <p:nvPr/>
        </p:nvSpPr>
        <p:spPr>
          <a:xfrm>
            <a:off x="1386802" y="2880360"/>
            <a:ext cx="1097280" cy="1097280"/>
          </a:xfrm>
          <a:prstGeom prst="ellipse">
            <a:avLst/>
          </a:prstGeom>
          <a:solidFill>
            <a:srgbClr val="16A34A"/>
          </a:solidFill>
          <a:ln w="12700">
            <a:solidFill>
              <a:srgbClr val="16A34A"/>
            </a:solidFill>
            <a:prstDash val="solid"/>
          </a:ln>
        </p:spPr>
      </p:sp>
      <p:pic>
        <p:nvPicPr>
          <p:cNvPr id="10" name="check 1 icon" descr="preencoded.png">    </p:cNvPr>
          <p:cNvPicPr>
            <a:picLocks noChangeAspect="1"/>
          </p:cNvPicPr>
          <p:nvPr/>
        </p:nvPicPr>
        <p:blipFill>
          <a:blip r:embed="rId2"/>
          <a:stretch>
            <a:fillRect/>
          </a:stretch>
        </p:blipFill>
        <p:spPr>
          <a:xfrm>
            <a:off x="1661122" y="3154680"/>
            <a:ext cx="548640" cy="548640"/>
          </a:xfrm>
          <a:prstGeom prst="rect">
            <a:avLst/>
          </a:prstGeom>
        </p:spPr>
      </p:pic>
      <p:sp>
        <p:nvSpPr>
          <p:cNvPr id="11" name="Text 7"/>
          <p:cNvSpPr txBox="1"/>
          <p:nvPr/>
        </p:nvSpPr>
        <p:spPr>
          <a:xfrm>
            <a:off x="640080" y="4114800"/>
            <a:ext cx="2590724" cy="411480"/>
          </a:xfrm>
          <a:prstGeom prst="rect">
            <a:avLst/>
          </a:prstGeom>
          <a:noFill/>
          <a:ln/>
        </p:spPr>
        <p:txBody>
          <a:bodyPr wrap="square" lIns="0" tIns="0" rIns="0" bIns="0" rtlCol="0" anchor="t"/>
          <a:lstStyle/>
          <a:p>
            <a:pPr algn="ctr" indent="0" marL="0">
              <a:buNone/>
            </a:pPr>
            <a:r>
              <a:rPr lang="en-US" sz="1800" b="1" dirty="0">
                <a:solidFill>
                  <a:schemeClr val="tx1"/>
                </a:solidFill>
              </a:rPr>
              <a:t>File arrives</a:t>
            </a:r>
            <a:endParaRPr lang="en-US" sz="1800" dirty="0"/>
          </a:p>
        </p:txBody>
      </p:sp>
      <p:sp>
        <p:nvSpPr>
          <p:cNvPr id="12" name="Text 8"/>
          <p:cNvSpPr txBox="1"/>
          <p:nvPr/>
        </p:nvSpPr>
        <p:spPr>
          <a:xfrm>
            <a:off x="640080" y="4526280"/>
            <a:ext cx="2590724" cy="411480"/>
          </a:xfrm>
          <a:prstGeom prst="rect">
            <a:avLst/>
          </a:prstGeom>
          <a:noFill/>
          <a:ln/>
        </p:spPr>
        <p:txBody>
          <a:bodyPr wrap="square" lIns="0" tIns="0" rIns="0" bIns="0" rtlCol="0" anchor="t"/>
          <a:lstStyle/>
          <a:p>
            <a:pPr algn="ctr" indent="0" marL="0">
              <a:buNone/>
            </a:pPr>
            <a:r>
              <a:rPr lang="en-US" sz="1400" dirty="0">
                <a:solidFill>
                  <a:schemeClr val="tx2"/>
                </a:solidFill>
              </a:rPr>
              <a:t>fingerprint taken</a:t>
            </a:r>
            <a:endParaRPr lang="en-US" sz="1400" dirty="0"/>
          </a:p>
        </p:txBody>
      </p:sp>
      <p:sp>
        <p:nvSpPr>
          <p:cNvPr id="13" name="check arrow 2"/>
          <p:cNvSpPr/>
          <p:nvPr/>
        </p:nvSpPr>
        <p:spPr>
          <a:xfrm>
            <a:off x="5349126" y="3429000"/>
            <a:ext cx="1493444" cy="0"/>
          </a:xfrm>
          <a:prstGeom prst="line">
            <a:avLst/>
          </a:prstGeom>
          <a:noFill/>
          <a:ln w="38100">
            <a:solidFill>
              <a:srgbClr val="D6DCE6"/>
            </a:solidFill>
            <a:prstDash val="solid"/>
            <a:tailEnd type="triangle"/>
          </a:ln>
        </p:spPr>
      </p:sp>
      <p:sp>
        <p:nvSpPr>
          <p:cNvPr id="14" name="check 2 circle"/>
          <p:cNvSpPr/>
          <p:nvPr/>
        </p:nvSpPr>
        <p:spPr>
          <a:xfrm>
            <a:off x="4160406" y="2880360"/>
            <a:ext cx="1097280" cy="1097280"/>
          </a:xfrm>
          <a:prstGeom prst="ellipse">
            <a:avLst/>
          </a:prstGeom>
          <a:solidFill>
            <a:srgbClr val="16A34A"/>
          </a:solidFill>
          <a:ln w="12700">
            <a:solidFill>
              <a:srgbClr val="16A34A"/>
            </a:solidFill>
            <a:prstDash val="solid"/>
          </a:ln>
        </p:spPr>
      </p:sp>
      <p:pic>
        <p:nvPicPr>
          <p:cNvPr id="15" name="check 2 icon" descr="preencoded.png">    </p:cNvPr>
          <p:cNvPicPr>
            <a:picLocks noChangeAspect="1"/>
          </p:cNvPicPr>
          <p:nvPr/>
        </p:nvPicPr>
        <p:blipFill>
          <a:blip r:embed="rId3"/>
          <a:stretch>
            <a:fillRect/>
          </a:stretch>
        </p:blipFill>
        <p:spPr>
          <a:xfrm>
            <a:off x="4434726" y="3154680"/>
            <a:ext cx="548640" cy="548640"/>
          </a:xfrm>
          <a:prstGeom prst="rect">
            <a:avLst/>
          </a:prstGeom>
        </p:spPr>
      </p:pic>
      <p:sp>
        <p:nvSpPr>
          <p:cNvPr id="16" name="Text 11"/>
          <p:cNvSpPr txBox="1"/>
          <p:nvPr/>
        </p:nvSpPr>
        <p:spPr>
          <a:xfrm>
            <a:off x="3413684" y="4114800"/>
            <a:ext cx="2590724" cy="411480"/>
          </a:xfrm>
          <a:prstGeom prst="rect">
            <a:avLst/>
          </a:prstGeom>
          <a:noFill/>
          <a:ln/>
        </p:spPr>
        <p:txBody>
          <a:bodyPr wrap="square" lIns="0" tIns="0" rIns="0" bIns="0" rtlCol="0" anchor="t"/>
          <a:lstStyle/>
          <a:p>
            <a:pPr algn="ctr" indent="0" marL="0">
              <a:buNone/>
            </a:pPr>
            <a:r>
              <a:rPr lang="en-US" sz="1800" b="1" dirty="0">
                <a:solidFill>
                  <a:schemeClr val="tx1"/>
                </a:solidFill>
              </a:rPr>
              <a:t>Before reading</a:t>
            </a:r>
            <a:endParaRPr lang="en-US" sz="1800" dirty="0"/>
          </a:p>
        </p:txBody>
      </p:sp>
      <p:sp>
        <p:nvSpPr>
          <p:cNvPr id="17" name="Text 12"/>
          <p:cNvSpPr txBox="1"/>
          <p:nvPr/>
        </p:nvSpPr>
        <p:spPr>
          <a:xfrm>
            <a:off x="3413684" y="4526280"/>
            <a:ext cx="2590724" cy="411480"/>
          </a:xfrm>
          <a:prstGeom prst="rect">
            <a:avLst/>
          </a:prstGeom>
          <a:noFill/>
          <a:ln/>
        </p:spPr>
        <p:txBody>
          <a:bodyPr wrap="square" lIns="0" tIns="0" rIns="0" bIns="0" rtlCol="0" anchor="t"/>
          <a:lstStyle/>
          <a:p>
            <a:pPr algn="ctr" indent="0" marL="0">
              <a:buNone/>
            </a:pPr>
            <a:r>
              <a:rPr lang="en-US" sz="1400" dirty="0">
                <a:solidFill>
                  <a:schemeClr val="tx2"/>
                </a:solidFill>
              </a:rPr>
              <a:t>fingerprint checked</a:t>
            </a:r>
            <a:endParaRPr lang="en-US" sz="1400" dirty="0"/>
          </a:p>
        </p:txBody>
      </p:sp>
      <p:sp>
        <p:nvSpPr>
          <p:cNvPr id="18" name="check arrow 3"/>
          <p:cNvSpPr/>
          <p:nvPr/>
        </p:nvSpPr>
        <p:spPr>
          <a:xfrm>
            <a:off x="8122730" y="3429000"/>
            <a:ext cx="1493444" cy="0"/>
          </a:xfrm>
          <a:prstGeom prst="line">
            <a:avLst/>
          </a:prstGeom>
          <a:noFill/>
          <a:ln w="38100">
            <a:solidFill>
              <a:srgbClr val="D6DCE6"/>
            </a:solidFill>
            <a:prstDash val="solid"/>
            <a:tailEnd type="triangle"/>
          </a:ln>
        </p:spPr>
      </p:sp>
      <p:sp>
        <p:nvSpPr>
          <p:cNvPr id="19" name="check 3 circle"/>
          <p:cNvSpPr/>
          <p:nvPr/>
        </p:nvSpPr>
        <p:spPr>
          <a:xfrm>
            <a:off x="6934010" y="2880360"/>
            <a:ext cx="1097280" cy="1097280"/>
          </a:xfrm>
          <a:prstGeom prst="ellipse">
            <a:avLst/>
          </a:prstGeom>
          <a:solidFill>
            <a:srgbClr val="16A34A"/>
          </a:solidFill>
          <a:ln w="12700">
            <a:solidFill>
              <a:srgbClr val="16A34A"/>
            </a:solidFill>
            <a:prstDash val="solid"/>
          </a:ln>
        </p:spPr>
      </p:sp>
      <p:pic>
        <p:nvPicPr>
          <p:cNvPr id="20" name="check 3 icon" descr="preencoded.png">    </p:cNvPr>
          <p:cNvPicPr>
            <a:picLocks noChangeAspect="1"/>
          </p:cNvPicPr>
          <p:nvPr/>
        </p:nvPicPr>
        <p:blipFill>
          <a:blip r:embed="rId4"/>
          <a:stretch>
            <a:fillRect/>
          </a:stretch>
        </p:blipFill>
        <p:spPr>
          <a:xfrm>
            <a:off x="7208330" y="3154680"/>
            <a:ext cx="548640" cy="548640"/>
          </a:xfrm>
          <a:prstGeom prst="rect">
            <a:avLst/>
          </a:prstGeom>
        </p:spPr>
      </p:pic>
      <p:sp>
        <p:nvSpPr>
          <p:cNvPr id="21" name="Text 15"/>
          <p:cNvSpPr txBox="1"/>
          <p:nvPr/>
        </p:nvSpPr>
        <p:spPr>
          <a:xfrm>
            <a:off x="6187288" y="4114800"/>
            <a:ext cx="2590724" cy="411480"/>
          </a:xfrm>
          <a:prstGeom prst="rect">
            <a:avLst/>
          </a:prstGeom>
          <a:noFill/>
          <a:ln/>
        </p:spPr>
        <p:txBody>
          <a:bodyPr wrap="square" lIns="0" tIns="0" rIns="0" bIns="0" rtlCol="0" anchor="t"/>
          <a:lstStyle/>
          <a:p>
            <a:pPr algn="ctr" indent="0" marL="0">
              <a:buNone/>
            </a:pPr>
            <a:r>
              <a:rPr lang="en-US" sz="1800" b="1" dirty="0">
                <a:solidFill>
                  <a:schemeClr val="tx1"/>
                </a:solidFill>
              </a:rPr>
              <a:t>Before the AI</a:t>
            </a:r>
            <a:endParaRPr lang="en-US" sz="1800" dirty="0"/>
          </a:p>
        </p:txBody>
      </p:sp>
      <p:sp>
        <p:nvSpPr>
          <p:cNvPr id="22" name="Text 16"/>
          <p:cNvSpPr txBox="1"/>
          <p:nvPr/>
        </p:nvSpPr>
        <p:spPr>
          <a:xfrm>
            <a:off x="6187288" y="4526280"/>
            <a:ext cx="2590724" cy="411480"/>
          </a:xfrm>
          <a:prstGeom prst="rect">
            <a:avLst/>
          </a:prstGeom>
          <a:noFill/>
          <a:ln/>
        </p:spPr>
        <p:txBody>
          <a:bodyPr wrap="square" lIns="0" tIns="0" rIns="0" bIns="0" rtlCol="0" anchor="t"/>
          <a:lstStyle/>
          <a:p>
            <a:pPr algn="ctr" indent="0" marL="0">
              <a:buNone/>
            </a:pPr>
            <a:r>
              <a:rPr lang="en-US" sz="1400" dirty="0">
                <a:solidFill>
                  <a:schemeClr val="tx2"/>
                </a:solidFill>
              </a:rPr>
              <a:t>fingerprint checked</a:t>
            </a:r>
            <a:endParaRPr lang="en-US" sz="1400" dirty="0"/>
          </a:p>
        </p:txBody>
      </p:sp>
      <p:sp>
        <p:nvSpPr>
          <p:cNvPr id="23" name="check 4 circle"/>
          <p:cNvSpPr/>
          <p:nvPr/>
        </p:nvSpPr>
        <p:spPr>
          <a:xfrm>
            <a:off x="9707613" y="2880360"/>
            <a:ext cx="1097280" cy="1097280"/>
          </a:xfrm>
          <a:prstGeom prst="ellipse">
            <a:avLst/>
          </a:prstGeom>
          <a:solidFill>
            <a:srgbClr val="16A34A"/>
          </a:solidFill>
          <a:ln w="12700">
            <a:solidFill>
              <a:srgbClr val="16A34A"/>
            </a:solidFill>
            <a:prstDash val="solid"/>
          </a:ln>
        </p:spPr>
      </p:sp>
      <p:pic>
        <p:nvPicPr>
          <p:cNvPr id="24" name="check 4 icon" descr="preencoded.png">    </p:cNvPr>
          <p:cNvPicPr>
            <a:picLocks noChangeAspect="1"/>
          </p:cNvPicPr>
          <p:nvPr/>
        </p:nvPicPr>
        <p:blipFill>
          <a:blip r:embed="rId5"/>
          <a:stretch>
            <a:fillRect/>
          </a:stretch>
        </p:blipFill>
        <p:spPr>
          <a:xfrm>
            <a:off x="9981933" y="3154680"/>
            <a:ext cx="548640" cy="548640"/>
          </a:xfrm>
          <a:prstGeom prst="rect">
            <a:avLst/>
          </a:prstGeom>
        </p:spPr>
      </p:pic>
      <p:sp>
        <p:nvSpPr>
          <p:cNvPr id="25" name="Text 18"/>
          <p:cNvSpPr txBox="1"/>
          <p:nvPr/>
        </p:nvSpPr>
        <p:spPr>
          <a:xfrm>
            <a:off x="8960891" y="4114800"/>
            <a:ext cx="2590724" cy="411480"/>
          </a:xfrm>
          <a:prstGeom prst="rect">
            <a:avLst/>
          </a:prstGeom>
          <a:noFill/>
          <a:ln/>
        </p:spPr>
        <p:txBody>
          <a:bodyPr wrap="square" lIns="0" tIns="0" rIns="0" bIns="0" rtlCol="0" anchor="t"/>
          <a:lstStyle/>
          <a:p>
            <a:pPr algn="ctr" indent="0" marL="0">
              <a:buNone/>
            </a:pPr>
            <a:r>
              <a:rPr lang="en-US" sz="1800" b="1" dirty="0">
                <a:solidFill>
                  <a:schemeClr val="tx1"/>
                </a:solidFill>
              </a:rPr>
              <a:t>Report</a:t>
            </a:r>
            <a:endParaRPr lang="en-US" sz="1800" dirty="0"/>
          </a:p>
        </p:txBody>
      </p:sp>
      <p:sp>
        <p:nvSpPr>
          <p:cNvPr id="26" name="Text 19"/>
          <p:cNvSpPr txBox="1"/>
          <p:nvPr/>
        </p:nvSpPr>
        <p:spPr>
          <a:xfrm>
            <a:off x="8960891" y="4526280"/>
            <a:ext cx="2590724" cy="411480"/>
          </a:xfrm>
          <a:prstGeom prst="rect">
            <a:avLst/>
          </a:prstGeom>
          <a:noFill/>
          <a:ln/>
        </p:spPr>
        <p:txBody>
          <a:bodyPr wrap="square" lIns="0" tIns="0" rIns="0" bIns="0" rtlCol="0" anchor="t"/>
          <a:lstStyle/>
          <a:p>
            <a:pPr algn="ctr" indent="0" marL="0">
              <a:buNone/>
            </a:pPr>
            <a:r>
              <a:rPr lang="en-US" sz="1400" dirty="0">
                <a:solidFill>
                  <a:schemeClr val="tx2"/>
                </a:solidFill>
              </a:rPr>
              <a:t>sealed with its own fingerprint</a:t>
            </a:r>
            <a:endParaRPr lang="en-US" sz="1400" dirty="0"/>
          </a:p>
        </p:txBody>
      </p:sp>
      <p:sp>
        <p:nvSpPr>
          <p:cNvPr id="27" name="stop band"/>
          <p:cNvSpPr/>
          <p:nvPr/>
        </p:nvSpPr>
        <p:spPr>
          <a:xfrm>
            <a:off x="548640" y="5120640"/>
            <a:ext cx="11094415" cy="868680"/>
          </a:xfrm>
          <a:prstGeom prst="roundRect">
            <a:avLst>
              <a:gd name="adj" fmla="val 12632"/>
            </a:avLst>
          </a:prstGeom>
          <a:solidFill>
            <a:srgbClr val="FDECEC"/>
          </a:solidFill>
          <a:ln w="12700">
            <a:solidFill>
              <a:srgbClr val="FDECEC"/>
            </a:solidFill>
            <a:prstDash val="solid"/>
          </a:ln>
        </p:spPr>
      </p:sp>
      <p:sp>
        <p:nvSpPr>
          <p:cNvPr id="28" name="stop circle"/>
          <p:cNvSpPr/>
          <p:nvPr/>
        </p:nvSpPr>
        <p:spPr>
          <a:xfrm>
            <a:off x="777240" y="5212080"/>
            <a:ext cx="685800" cy="685800"/>
          </a:xfrm>
          <a:prstGeom prst="ellipse">
            <a:avLst/>
          </a:prstGeom>
          <a:solidFill>
            <a:srgbClr val="DC2626"/>
          </a:solidFill>
          <a:ln w="12700">
            <a:solidFill>
              <a:srgbClr val="DC2626"/>
            </a:solidFill>
            <a:prstDash val="solid"/>
          </a:ln>
        </p:spPr>
      </p:sp>
      <p:pic>
        <p:nvPicPr>
          <p:cNvPr id="29" name="stop icon" descr="preencoded.png">    </p:cNvPr>
          <p:cNvPicPr>
            <a:picLocks noChangeAspect="1"/>
          </p:cNvPicPr>
          <p:nvPr/>
        </p:nvPicPr>
        <p:blipFill>
          <a:blip r:embed="rId6"/>
          <a:stretch>
            <a:fillRect/>
          </a:stretch>
        </p:blipFill>
        <p:spPr>
          <a:xfrm>
            <a:off x="948690" y="5383530"/>
            <a:ext cx="342900" cy="342900"/>
          </a:xfrm>
          <a:prstGeom prst="rect">
            <a:avLst/>
          </a:prstGeom>
        </p:spPr>
      </p:pic>
      <p:sp>
        <p:nvSpPr>
          <p:cNvPr id="30" name="Text 22"/>
          <p:cNvSpPr txBox="1"/>
          <p:nvPr/>
        </p:nvSpPr>
        <p:spPr>
          <a:xfrm>
            <a:off x="1645920" y="5212080"/>
            <a:ext cx="9722815" cy="685800"/>
          </a:xfrm>
          <a:prstGeom prst="rect">
            <a:avLst/>
          </a:prstGeom>
          <a:noFill/>
          <a:ln/>
        </p:spPr>
        <p:txBody>
          <a:bodyPr wrap="square" lIns="0" tIns="0" rIns="0" bIns="0" rtlCol="0" anchor="ctr"/>
          <a:lstStyle/>
          <a:p>
            <a:pPr indent="0" marL="0">
              <a:buNone/>
            </a:pPr>
            <a:r>
              <a:rPr lang="en-US" sz="1700" b="1" dirty="0">
                <a:solidFill>
                  <a:srgbClr val="DC2626"/>
                </a:solidFill>
              </a:rPr>
              <a:t>Fingerprint different? </a:t>
            </a:r>
            <a:pPr indent="0" marL="0">
              <a:buNone/>
            </a:pPr>
            <a:r>
              <a:rPr lang="en-US" sz="1700" dirty="0">
                <a:solidFill>
                  <a:schemeClr val="tx1"/>
                </a:solidFill>
              </a:rPr>
              <a:t>The tool will stop, refuse to make a report, and log the problem.</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How the tool will be tested</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5"/>
          </a:solidFill>
          <a:ln/>
        </p:spPr>
        <p:txBody>
          <a:bodyPr wrap="square" rtlCol="0" anchor="ctr"/>
          <a:lstStyle/>
          <a:p>
            <a:pPr algn="ctr" indent="0" marL="0">
              <a:buNone/>
            </a:pPr>
            <a:r>
              <a:rPr lang="en-US" sz="1200" b="1" dirty="0">
                <a:solidFill>
                  <a:schemeClr val="bg1"/>
                </a:solidFill>
              </a:rPr>
              <a:t>EVALUATION</a:t>
            </a:r>
            <a:endParaRPr lang="en-US" sz="1200" dirty="0"/>
          </a:p>
        </p:txBody>
      </p:sp>
      <p:sp>
        <p:nvSpPr>
          <p:cNvPr id="4" name="eval 1"/>
          <p:cNvSpPr/>
          <p:nvPr/>
        </p:nvSpPr>
        <p:spPr>
          <a:xfrm>
            <a:off x="548640" y="1325880"/>
            <a:ext cx="5364328" cy="2194560"/>
          </a:xfrm>
          <a:prstGeom prst="roundRect">
            <a:avLst>
              <a:gd name="adj" fmla="val 5000"/>
            </a:avLst>
          </a:prstGeom>
          <a:solidFill>
            <a:schemeClr val="bg2"/>
          </a:solidFill>
          <a:ln w="12700">
            <a:solidFill>
              <a:schemeClr val="bg2"/>
            </a:solidFill>
            <a:prstDash val="solid"/>
          </a:ln>
        </p:spPr>
      </p:sp>
      <p:sp>
        <p:nvSpPr>
          <p:cNvPr id="5" name="eval 1 circle"/>
          <p:cNvSpPr/>
          <p:nvPr/>
        </p:nvSpPr>
        <p:spPr>
          <a:xfrm>
            <a:off x="868680" y="1691640"/>
            <a:ext cx="1097280" cy="1097280"/>
          </a:xfrm>
          <a:prstGeom prst="ellipse">
            <a:avLst/>
          </a:prstGeom>
          <a:solidFill>
            <a:srgbClr val="2563EB"/>
          </a:solidFill>
          <a:ln w="12700">
            <a:solidFill>
              <a:srgbClr val="2563EB"/>
            </a:solidFill>
            <a:prstDash val="solid"/>
          </a:ln>
        </p:spPr>
      </p:sp>
      <p:pic>
        <p:nvPicPr>
          <p:cNvPr id="6" name="eval 1 icon" descr="preencoded.png">    </p:cNvPr>
          <p:cNvPicPr>
            <a:picLocks noChangeAspect="1"/>
          </p:cNvPicPr>
          <p:nvPr/>
        </p:nvPicPr>
        <p:blipFill>
          <a:blip r:embed="rId1"/>
          <a:stretch>
            <a:fillRect/>
          </a:stretch>
        </p:blipFill>
        <p:spPr>
          <a:xfrm>
            <a:off x="1143000" y="1965960"/>
            <a:ext cx="548640" cy="548640"/>
          </a:xfrm>
          <a:prstGeom prst="rect">
            <a:avLst/>
          </a:prstGeom>
        </p:spPr>
      </p:pic>
      <p:sp>
        <p:nvSpPr>
          <p:cNvPr id="7" name="Text 4"/>
          <p:cNvSpPr txBox="1"/>
          <p:nvPr/>
        </p:nvSpPr>
        <p:spPr>
          <a:xfrm>
            <a:off x="2240280" y="1600200"/>
            <a:ext cx="3398368" cy="685800"/>
          </a:xfrm>
          <a:prstGeom prst="rect">
            <a:avLst/>
          </a:prstGeom>
          <a:noFill/>
          <a:ln/>
        </p:spPr>
        <p:txBody>
          <a:bodyPr wrap="square" lIns="0" tIns="0" rIns="0" bIns="0" rtlCol="0" anchor="b"/>
          <a:lstStyle/>
          <a:p>
            <a:pPr indent="0" marL="0">
              <a:buNone/>
            </a:pPr>
            <a:r>
              <a:rPr lang="en-US" sz="1900" b="1" dirty="0">
                <a:solidFill>
                  <a:schemeClr val="tx1"/>
                </a:solidFill>
              </a:rPr>
              <a:t>An exam on unseen data</a:t>
            </a:r>
            <a:endParaRPr lang="en-US" sz="1900" dirty="0"/>
          </a:p>
        </p:txBody>
      </p:sp>
      <p:sp>
        <p:nvSpPr>
          <p:cNvPr id="8" name="Text 5"/>
          <p:cNvSpPr txBox="1"/>
          <p:nvPr/>
        </p:nvSpPr>
        <p:spPr>
          <a:xfrm>
            <a:off x="2240280" y="2377440"/>
            <a:ext cx="3398368" cy="1005840"/>
          </a:xfrm>
          <a:prstGeom prst="rect">
            <a:avLst/>
          </a:prstGeom>
          <a:noFill/>
          <a:ln/>
        </p:spPr>
        <p:txBody>
          <a:bodyPr wrap="square" lIns="0" tIns="0" rIns="0" bIns="0" rtlCol="0" anchor="t"/>
          <a:lstStyle/>
          <a:p>
            <a:pPr indent="0" marL="0">
              <a:buNone/>
            </a:pPr>
            <a:r>
              <a:rPr lang="en-US" sz="1500" dirty="0">
                <a:solidFill>
                  <a:schemeClr val="tx2"/>
                </a:solidFill>
              </a:rPr>
              <a:t>20% of the examples stay hidden during training and are only used at the end.</a:t>
            </a:r>
            <a:endParaRPr lang="en-US" sz="1500" dirty="0"/>
          </a:p>
        </p:txBody>
      </p:sp>
      <p:sp>
        <p:nvSpPr>
          <p:cNvPr id="9" name="eval 2"/>
          <p:cNvSpPr/>
          <p:nvPr/>
        </p:nvSpPr>
        <p:spPr>
          <a:xfrm>
            <a:off x="6278728" y="1325880"/>
            <a:ext cx="5364328" cy="2194560"/>
          </a:xfrm>
          <a:prstGeom prst="roundRect">
            <a:avLst>
              <a:gd name="adj" fmla="val 5000"/>
            </a:avLst>
          </a:prstGeom>
          <a:solidFill>
            <a:schemeClr val="bg2"/>
          </a:solidFill>
          <a:ln w="12700">
            <a:solidFill>
              <a:schemeClr val="bg2"/>
            </a:solidFill>
            <a:prstDash val="solid"/>
          </a:ln>
        </p:spPr>
      </p:sp>
      <p:sp>
        <p:nvSpPr>
          <p:cNvPr id="10" name="eval 2 circle"/>
          <p:cNvSpPr/>
          <p:nvPr/>
        </p:nvSpPr>
        <p:spPr>
          <a:xfrm>
            <a:off x="6598768" y="1691640"/>
            <a:ext cx="1097280" cy="1097280"/>
          </a:xfrm>
          <a:prstGeom prst="ellipse">
            <a:avLst/>
          </a:prstGeom>
          <a:solidFill>
            <a:srgbClr val="6D5BD0"/>
          </a:solidFill>
          <a:ln w="12700">
            <a:solidFill>
              <a:srgbClr val="6D5BD0"/>
            </a:solidFill>
            <a:prstDash val="solid"/>
          </a:ln>
        </p:spPr>
      </p:sp>
      <p:pic>
        <p:nvPicPr>
          <p:cNvPr id="11" name="eval 2 icon" descr="preencoded.png">    </p:cNvPr>
          <p:cNvPicPr>
            <a:picLocks noChangeAspect="1"/>
          </p:cNvPicPr>
          <p:nvPr/>
        </p:nvPicPr>
        <p:blipFill>
          <a:blip r:embed="rId2"/>
          <a:stretch>
            <a:fillRect/>
          </a:stretch>
        </p:blipFill>
        <p:spPr>
          <a:xfrm>
            <a:off x="6873088" y="1965960"/>
            <a:ext cx="548640" cy="548640"/>
          </a:xfrm>
          <a:prstGeom prst="rect">
            <a:avLst/>
          </a:prstGeom>
        </p:spPr>
      </p:pic>
      <p:sp>
        <p:nvSpPr>
          <p:cNvPr id="12" name="Text 8"/>
          <p:cNvSpPr txBox="1"/>
          <p:nvPr/>
        </p:nvSpPr>
        <p:spPr>
          <a:xfrm>
            <a:off x="7970368" y="1600200"/>
            <a:ext cx="3398368" cy="685800"/>
          </a:xfrm>
          <a:prstGeom prst="rect">
            <a:avLst/>
          </a:prstGeom>
          <a:noFill/>
          <a:ln/>
        </p:spPr>
        <p:txBody>
          <a:bodyPr wrap="square" lIns="0" tIns="0" rIns="0" bIns="0" rtlCol="0" anchor="b"/>
          <a:lstStyle/>
          <a:p>
            <a:pPr indent="0" marL="0">
              <a:buNone/>
            </a:pPr>
            <a:r>
              <a:rPr lang="en-US" sz="1900" b="1" dirty="0">
                <a:solidFill>
                  <a:schemeClr val="tx1"/>
                </a:solidFill>
              </a:rPr>
              <a:t>Compare two AI models</a:t>
            </a:r>
            <a:endParaRPr lang="en-US" sz="1900" dirty="0"/>
          </a:p>
        </p:txBody>
      </p:sp>
      <p:sp>
        <p:nvSpPr>
          <p:cNvPr id="13" name="Text 9"/>
          <p:cNvSpPr txBox="1"/>
          <p:nvPr/>
        </p:nvSpPr>
        <p:spPr>
          <a:xfrm>
            <a:off x="7970368" y="2377440"/>
            <a:ext cx="3398368" cy="1005840"/>
          </a:xfrm>
          <a:prstGeom prst="rect">
            <a:avLst/>
          </a:prstGeom>
          <a:noFill/>
          <a:ln/>
        </p:spPr>
        <p:txBody>
          <a:bodyPr wrap="square" lIns="0" tIns="0" rIns="0" bIns="0" rtlCol="0" anchor="t"/>
          <a:lstStyle/>
          <a:p>
            <a:pPr indent="0" marL="0">
              <a:buNone/>
            </a:pPr>
            <a:r>
              <a:rPr lang="en-US" sz="1500" dirty="0">
                <a:solidFill>
                  <a:schemeClr val="tx2"/>
                </a:solidFill>
              </a:rPr>
              <a:t>Random Forest against a simpler model (Logistic Regression). The better one is kept.</a:t>
            </a:r>
            <a:endParaRPr lang="en-US" sz="1500" dirty="0"/>
          </a:p>
        </p:txBody>
      </p:sp>
      <p:sp>
        <p:nvSpPr>
          <p:cNvPr id="14" name="eval 3"/>
          <p:cNvSpPr/>
          <p:nvPr/>
        </p:nvSpPr>
        <p:spPr>
          <a:xfrm>
            <a:off x="548640" y="3749040"/>
            <a:ext cx="5364328" cy="2194560"/>
          </a:xfrm>
          <a:prstGeom prst="roundRect">
            <a:avLst>
              <a:gd name="adj" fmla="val 5000"/>
            </a:avLst>
          </a:prstGeom>
          <a:solidFill>
            <a:schemeClr val="bg2"/>
          </a:solidFill>
          <a:ln w="12700">
            <a:solidFill>
              <a:schemeClr val="bg2"/>
            </a:solidFill>
            <a:prstDash val="solid"/>
          </a:ln>
        </p:spPr>
      </p:sp>
      <p:sp>
        <p:nvSpPr>
          <p:cNvPr id="15" name="eval 3 circle"/>
          <p:cNvSpPr/>
          <p:nvPr/>
        </p:nvSpPr>
        <p:spPr>
          <a:xfrm>
            <a:off x="868680" y="4114800"/>
            <a:ext cx="1097280" cy="1097280"/>
          </a:xfrm>
          <a:prstGeom prst="ellipse">
            <a:avLst/>
          </a:prstGeom>
          <a:solidFill>
            <a:srgbClr val="DC2626"/>
          </a:solidFill>
          <a:ln w="12700">
            <a:solidFill>
              <a:srgbClr val="DC2626"/>
            </a:solidFill>
            <a:prstDash val="solid"/>
          </a:ln>
        </p:spPr>
      </p:sp>
      <p:pic>
        <p:nvPicPr>
          <p:cNvPr id="16" name="eval 3 icon" descr="preencoded.png">    </p:cNvPr>
          <p:cNvPicPr>
            <a:picLocks noChangeAspect="1"/>
          </p:cNvPicPr>
          <p:nvPr/>
        </p:nvPicPr>
        <p:blipFill>
          <a:blip r:embed="rId3"/>
          <a:stretch>
            <a:fillRect/>
          </a:stretch>
        </p:blipFill>
        <p:spPr>
          <a:xfrm>
            <a:off x="1143000" y="4389120"/>
            <a:ext cx="548640" cy="548640"/>
          </a:xfrm>
          <a:prstGeom prst="rect">
            <a:avLst/>
          </a:prstGeom>
        </p:spPr>
      </p:pic>
      <p:sp>
        <p:nvSpPr>
          <p:cNvPr id="17" name="Text 12"/>
          <p:cNvSpPr txBox="1"/>
          <p:nvPr/>
        </p:nvSpPr>
        <p:spPr>
          <a:xfrm>
            <a:off x="2240280" y="4023360"/>
            <a:ext cx="3398368" cy="685800"/>
          </a:xfrm>
          <a:prstGeom prst="rect">
            <a:avLst/>
          </a:prstGeom>
          <a:noFill/>
          <a:ln/>
        </p:spPr>
        <p:txBody>
          <a:bodyPr wrap="square" lIns="0" tIns="0" rIns="0" bIns="0" rtlCol="0" anchor="b"/>
          <a:lstStyle/>
          <a:p>
            <a:pPr indent="0" marL="0">
              <a:buNone/>
            </a:pPr>
            <a:r>
              <a:rPr lang="en-US" sz="1900" b="1" dirty="0">
                <a:solidFill>
                  <a:schemeClr val="tx1"/>
                </a:solidFill>
              </a:rPr>
              <a:t>Measure what matters</a:t>
            </a:r>
            <a:endParaRPr lang="en-US" sz="1900" dirty="0"/>
          </a:p>
        </p:txBody>
      </p:sp>
      <p:sp>
        <p:nvSpPr>
          <p:cNvPr id="18" name="Text 13"/>
          <p:cNvSpPr txBox="1"/>
          <p:nvPr/>
        </p:nvSpPr>
        <p:spPr>
          <a:xfrm>
            <a:off x="2240280" y="4800600"/>
            <a:ext cx="3398368" cy="1005840"/>
          </a:xfrm>
          <a:prstGeom prst="rect">
            <a:avLst/>
          </a:prstGeom>
          <a:noFill/>
          <a:ln/>
        </p:spPr>
        <p:txBody>
          <a:bodyPr wrap="square" lIns="0" tIns="0" rIns="0" bIns="0" rtlCol="0" anchor="t"/>
          <a:lstStyle/>
          <a:p>
            <a:pPr indent="0" marL="0">
              <a:buNone/>
            </a:pPr>
            <a:r>
              <a:rPr lang="en-US" sz="1500" dirty="0">
                <a:solidFill>
                  <a:schemeClr val="tx2"/>
                </a:solidFill>
              </a:rPr>
              <a:t>How often it is correct, how much malware it misses, and how many false alarms it raises.</a:t>
            </a:r>
            <a:endParaRPr lang="en-US" sz="1500" dirty="0"/>
          </a:p>
        </p:txBody>
      </p:sp>
      <p:sp>
        <p:nvSpPr>
          <p:cNvPr id="19" name="eval 4"/>
          <p:cNvSpPr/>
          <p:nvPr/>
        </p:nvSpPr>
        <p:spPr>
          <a:xfrm>
            <a:off x="6278728" y="3749040"/>
            <a:ext cx="5364328" cy="2194560"/>
          </a:xfrm>
          <a:prstGeom prst="roundRect">
            <a:avLst>
              <a:gd name="adj" fmla="val 5000"/>
            </a:avLst>
          </a:prstGeom>
          <a:solidFill>
            <a:schemeClr val="bg2"/>
          </a:solidFill>
          <a:ln w="12700">
            <a:solidFill>
              <a:schemeClr val="bg2"/>
            </a:solidFill>
            <a:prstDash val="solid"/>
          </a:ln>
        </p:spPr>
      </p:sp>
      <p:sp>
        <p:nvSpPr>
          <p:cNvPr id="20" name="eval 4 circle"/>
          <p:cNvSpPr/>
          <p:nvPr/>
        </p:nvSpPr>
        <p:spPr>
          <a:xfrm>
            <a:off x="6598768" y="4114800"/>
            <a:ext cx="1097280" cy="1097280"/>
          </a:xfrm>
          <a:prstGeom prst="ellipse">
            <a:avLst/>
          </a:prstGeom>
          <a:solidFill>
            <a:srgbClr val="16A34A"/>
          </a:solidFill>
          <a:ln w="12700">
            <a:solidFill>
              <a:srgbClr val="16A34A"/>
            </a:solidFill>
            <a:prstDash val="solid"/>
          </a:ln>
        </p:spPr>
      </p:sp>
      <p:pic>
        <p:nvPicPr>
          <p:cNvPr id="21" name="eval 4 icon" descr="preencoded.png">    </p:cNvPr>
          <p:cNvPicPr>
            <a:picLocks noChangeAspect="1"/>
          </p:cNvPicPr>
          <p:nvPr/>
        </p:nvPicPr>
        <p:blipFill>
          <a:blip r:embed="rId4"/>
          <a:stretch>
            <a:fillRect/>
          </a:stretch>
        </p:blipFill>
        <p:spPr>
          <a:xfrm>
            <a:off x="6873088" y="4389120"/>
            <a:ext cx="548640" cy="548640"/>
          </a:xfrm>
          <a:prstGeom prst="rect">
            <a:avLst/>
          </a:prstGeom>
        </p:spPr>
      </p:pic>
      <p:sp>
        <p:nvSpPr>
          <p:cNvPr id="22" name="Text 16"/>
          <p:cNvSpPr txBox="1"/>
          <p:nvPr/>
        </p:nvSpPr>
        <p:spPr>
          <a:xfrm>
            <a:off x="7970368" y="4023360"/>
            <a:ext cx="3398368" cy="685800"/>
          </a:xfrm>
          <a:prstGeom prst="rect">
            <a:avLst/>
          </a:prstGeom>
          <a:noFill/>
          <a:ln/>
        </p:spPr>
        <p:txBody>
          <a:bodyPr wrap="square" lIns="0" tIns="0" rIns="0" bIns="0" rtlCol="0" anchor="b"/>
          <a:lstStyle/>
          <a:p>
            <a:pPr indent="0" marL="0">
              <a:buNone/>
            </a:pPr>
            <a:r>
              <a:rPr lang="en-US" sz="1900" b="1" dirty="0">
                <a:solidFill>
                  <a:schemeClr val="tx1"/>
                </a:solidFill>
              </a:rPr>
              <a:t>Test with real memory files</a:t>
            </a:r>
            <a:endParaRPr lang="en-US" sz="1900" dirty="0"/>
          </a:p>
        </p:txBody>
      </p:sp>
      <p:sp>
        <p:nvSpPr>
          <p:cNvPr id="23" name="Text 17"/>
          <p:cNvSpPr txBox="1"/>
          <p:nvPr/>
        </p:nvSpPr>
        <p:spPr>
          <a:xfrm>
            <a:off x="7970368" y="4800600"/>
            <a:ext cx="3398368" cy="1005840"/>
          </a:xfrm>
          <a:prstGeom prst="rect">
            <a:avLst/>
          </a:prstGeom>
          <a:noFill/>
          <a:ln/>
        </p:spPr>
        <p:txBody>
          <a:bodyPr wrap="square" lIns="0" tIns="0" rIns="0" bIns="0" rtlCol="0" anchor="t"/>
          <a:lstStyle/>
          <a:p>
            <a:pPr indent="0" marL="0">
              <a:buNone/>
            </a:pPr>
            <a:r>
              <a:rPr lang="en-US" sz="1500" dirty="0">
                <a:solidFill>
                  <a:schemeClr val="tx2"/>
                </a:solidFill>
              </a:rPr>
              <a:t>Run the full tool on sample clean and infected memory files, start to finish.</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Tools I will use</a:t>
            </a:r>
            <a:endParaRPr lang="en-US" sz="2800" dirty="0"/>
          </a:p>
        </p:txBody>
      </p:sp>
      <p:sp>
        <p:nvSpPr>
          <p:cNvPr id="3" name="tool card Python"/>
          <p:cNvSpPr/>
          <p:nvPr/>
        </p:nvSpPr>
        <p:spPr>
          <a:xfrm>
            <a:off x="548640" y="1371600"/>
            <a:ext cx="2606040" cy="2194560"/>
          </a:xfrm>
          <a:prstGeom prst="roundRect">
            <a:avLst>
              <a:gd name="adj" fmla="val 5000"/>
            </a:avLst>
          </a:prstGeom>
          <a:solidFill>
            <a:schemeClr val="bg2"/>
          </a:solidFill>
          <a:ln w="12700">
            <a:solidFill>
              <a:schemeClr val="bg2"/>
            </a:solidFill>
            <a:prstDash val="solid"/>
          </a:ln>
        </p:spPr>
      </p:sp>
      <p:pic>
        <p:nvPicPr>
          <p:cNvPr id="4" name="Python logo" descr="preencoded.png">    </p:cNvPr>
          <p:cNvPicPr>
            <a:picLocks noChangeAspect="1"/>
          </p:cNvPicPr>
          <p:nvPr/>
        </p:nvPicPr>
        <p:blipFill>
          <a:blip r:embed="rId1"/>
          <a:stretch>
            <a:fillRect/>
          </a:stretch>
        </p:blipFill>
        <p:spPr>
          <a:xfrm>
            <a:off x="1463040" y="1645920"/>
            <a:ext cx="777240" cy="777240"/>
          </a:xfrm>
          <a:prstGeom prst="rect">
            <a:avLst/>
          </a:prstGeom>
        </p:spPr>
      </p:pic>
      <p:sp>
        <p:nvSpPr>
          <p:cNvPr id="5" name="Text 2"/>
          <p:cNvSpPr txBox="1"/>
          <p:nvPr/>
        </p:nvSpPr>
        <p:spPr>
          <a:xfrm>
            <a:off x="640080" y="256032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Python</a:t>
            </a:r>
            <a:endParaRPr lang="en-US" sz="1900" dirty="0"/>
          </a:p>
        </p:txBody>
      </p:sp>
      <p:sp>
        <p:nvSpPr>
          <p:cNvPr id="6" name="Text 3"/>
          <p:cNvSpPr txBox="1"/>
          <p:nvPr/>
        </p:nvSpPr>
        <p:spPr>
          <a:xfrm>
            <a:off x="640080" y="3017520"/>
            <a:ext cx="2423160" cy="457200"/>
          </a:xfrm>
          <a:prstGeom prst="rect">
            <a:avLst/>
          </a:prstGeom>
          <a:noFill/>
          <a:ln/>
        </p:spPr>
        <p:txBody>
          <a:bodyPr wrap="square" lIns="0" tIns="0" rIns="0" bIns="0" rtlCol="0" anchor="t"/>
          <a:lstStyle/>
          <a:p>
            <a:pPr algn="ctr" indent="0" marL="0">
              <a:buNone/>
            </a:pPr>
            <a:r>
              <a:rPr lang="en-US" sz="1400" dirty="0">
                <a:solidFill>
                  <a:schemeClr val="tx2"/>
                </a:solidFill>
              </a:rPr>
              <a:t>The programming language</a:t>
            </a:r>
            <a:endParaRPr lang="en-US" sz="1400" dirty="0"/>
          </a:p>
        </p:txBody>
      </p:sp>
      <p:sp>
        <p:nvSpPr>
          <p:cNvPr id="7" name="tool card Streamlit"/>
          <p:cNvSpPr/>
          <p:nvPr/>
        </p:nvSpPr>
        <p:spPr>
          <a:xfrm>
            <a:off x="3364992" y="1371600"/>
            <a:ext cx="2606040" cy="2194560"/>
          </a:xfrm>
          <a:prstGeom prst="roundRect">
            <a:avLst>
              <a:gd name="adj" fmla="val 5000"/>
            </a:avLst>
          </a:prstGeom>
          <a:solidFill>
            <a:schemeClr val="bg2"/>
          </a:solidFill>
          <a:ln w="12700">
            <a:solidFill>
              <a:schemeClr val="bg2"/>
            </a:solidFill>
            <a:prstDash val="solid"/>
          </a:ln>
        </p:spPr>
      </p:sp>
      <p:pic>
        <p:nvPicPr>
          <p:cNvPr id="8" name="Streamlit logo" descr="preencoded.png">    </p:cNvPr>
          <p:cNvPicPr>
            <a:picLocks noChangeAspect="1"/>
          </p:cNvPicPr>
          <p:nvPr/>
        </p:nvPicPr>
        <p:blipFill>
          <a:blip r:embed="rId2"/>
          <a:stretch>
            <a:fillRect/>
          </a:stretch>
        </p:blipFill>
        <p:spPr>
          <a:xfrm>
            <a:off x="4279392" y="1645920"/>
            <a:ext cx="777240" cy="777240"/>
          </a:xfrm>
          <a:prstGeom prst="rect">
            <a:avLst/>
          </a:prstGeom>
        </p:spPr>
      </p:pic>
      <p:sp>
        <p:nvSpPr>
          <p:cNvPr id="9" name="Text 5"/>
          <p:cNvSpPr txBox="1"/>
          <p:nvPr/>
        </p:nvSpPr>
        <p:spPr>
          <a:xfrm>
            <a:off x="3456432" y="256032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Streamlit</a:t>
            </a:r>
            <a:endParaRPr lang="en-US" sz="1900" dirty="0"/>
          </a:p>
        </p:txBody>
      </p:sp>
      <p:sp>
        <p:nvSpPr>
          <p:cNvPr id="10" name="Text 6"/>
          <p:cNvSpPr txBox="1"/>
          <p:nvPr/>
        </p:nvSpPr>
        <p:spPr>
          <a:xfrm>
            <a:off x="3456432" y="3017520"/>
            <a:ext cx="2423160" cy="457200"/>
          </a:xfrm>
          <a:prstGeom prst="rect">
            <a:avLst/>
          </a:prstGeom>
          <a:noFill/>
          <a:ln/>
        </p:spPr>
        <p:txBody>
          <a:bodyPr wrap="square" lIns="0" tIns="0" rIns="0" bIns="0" rtlCol="0" anchor="t"/>
          <a:lstStyle/>
          <a:p>
            <a:pPr algn="ctr" indent="0" marL="0">
              <a:buNone/>
            </a:pPr>
            <a:r>
              <a:rPr lang="en-US" sz="1400" dirty="0">
                <a:solidFill>
                  <a:schemeClr val="tx2"/>
                </a:solidFill>
              </a:rPr>
              <a:t>The web screen investigators use</a:t>
            </a:r>
            <a:endParaRPr lang="en-US" sz="1400" dirty="0"/>
          </a:p>
        </p:txBody>
      </p:sp>
      <p:sp>
        <p:nvSpPr>
          <p:cNvPr id="11" name="tool card Volatility 3"/>
          <p:cNvSpPr/>
          <p:nvPr/>
        </p:nvSpPr>
        <p:spPr>
          <a:xfrm>
            <a:off x="6181344" y="1371600"/>
            <a:ext cx="2606040" cy="2194560"/>
          </a:xfrm>
          <a:prstGeom prst="roundRect">
            <a:avLst>
              <a:gd name="adj" fmla="val 5000"/>
            </a:avLst>
          </a:prstGeom>
          <a:solidFill>
            <a:schemeClr val="bg2"/>
          </a:solidFill>
          <a:ln w="12700">
            <a:solidFill>
              <a:schemeClr val="bg2"/>
            </a:solidFill>
            <a:prstDash val="solid"/>
          </a:ln>
        </p:spPr>
      </p:sp>
      <p:pic>
        <p:nvPicPr>
          <p:cNvPr id="12" name="Volatility 3 logo" descr="preencoded.png">    </p:cNvPr>
          <p:cNvPicPr>
            <a:picLocks noChangeAspect="1"/>
          </p:cNvPicPr>
          <p:nvPr/>
        </p:nvPicPr>
        <p:blipFill>
          <a:blip r:embed="rId3"/>
          <a:stretch>
            <a:fillRect/>
          </a:stretch>
        </p:blipFill>
        <p:spPr>
          <a:xfrm>
            <a:off x="7095744" y="1645920"/>
            <a:ext cx="777240" cy="777240"/>
          </a:xfrm>
          <a:prstGeom prst="rect">
            <a:avLst/>
          </a:prstGeom>
        </p:spPr>
      </p:pic>
      <p:sp>
        <p:nvSpPr>
          <p:cNvPr id="13" name="Text 8"/>
          <p:cNvSpPr txBox="1"/>
          <p:nvPr/>
        </p:nvSpPr>
        <p:spPr>
          <a:xfrm>
            <a:off x="6272784" y="256032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Volatility 3</a:t>
            </a:r>
            <a:endParaRPr lang="en-US" sz="1900" dirty="0"/>
          </a:p>
        </p:txBody>
      </p:sp>
      <p:sp>
        <p:nvSpPr>
          <p:cNvPr id="14" name="Text 9"/>
          <p:cNvSpPr txBox="1"/>
          <p:nvPr/>
        </p:nvSpPr>
        <p:spPr>
          <a:xfrm>
            <a:off x="6272784" y="3017520"/>
            <a:ext cx="2423160" cy="457200"/>
          </a:xfrm>
          <a:prstGeom prst="rect">
            <a:avLst/>
          </a:prstGeom>
          <a:noFill/>
          <a:ln/>
        </p:spPr>
        <p:txBody>
          <a:bodyPr wrap="square" lIns="0" tIns="0" rIns="0" bIns="0" rtlCol="0" anchor="t"/>
          <a:lstStyle/>
          <a:p>
            <a:pPr algn="ctr" indent="0" marL="0">
              <a:buNone/>
            </a:pPr>
            <a:r>
              <a:rPr lang="en-US" sz="1400" dirty="0">
                <a:solidFill>
                  <a:schemeClr val="tx2"/>
                </a:solidFill>
              </a:rPr>
              <a:t>Reads the memory file</a:t>
            </a:r>
            <a:endParaRPr lang="en-US" sz="1400" dirty="0"/>
          </a:p>
        </p:txBody>
      </p:sp>
      <p:sp>
        <p:nvSpPr>
          <p:cNvPr id="15" name="tool card scikit-learn"/>
          <p:cNvSpPr/>
          <p:nvPr/>
        </p:nvSpPr>
        <p:spPr>
          <a:xfrm>
            <a:off x="8997696" y="1371600"/>
            <a:ext cx="2606040" cy="2194560"/>
          </a:xfrm>
          <a:prstGeom prst="roundRect">
            <a:avLst>
              <a:gd name="adj" fmla="val 5000"/>
            </a:avLst>
          </a:prstGeom>
          <a:solidFill>
            <a:schemeClr val="bg2"/>
          </a:solidFill>
          <a:ln w="12700">
            <a:solidFill>
              <a:schemeClr val="bg2"/>
            </a:solidFill>
            <a:prstDash val="solid"/>
          </a:ln>
        </p:spPr>
      </p:sp>
      <p:pic>
        <p:nvPicPr>
          <p:cNvPr id="16" name="scikit-learn logo" descr="preencoded.png">    </p:cNvPr>
          <p:cNvPicPr>
            <a:picLocks noChangeAspect="1"/>
          </p:cNvPicPr>
          <p:nvPr/>
        </p:nvPicPr>
        <p:blipFill>
          <a:blip r:embed="rId4"/>
          <a:stretch>
            <a:fillRect/>
          </a:stretch>
        </p:blipFill>
        <p:spPr>
          <a:xfrm>
            <a:off x="9912096" y="1645920"/>
            <a:ext cx="777240" cy="777240"/>
          </a:xfrm>
          <a:prstGeom prst="rect">
            <a:avLst/>
          </a:prstGeom>
        </p:spPr>
      </p:pic>
      <p:sp>
        <p:nvSpPr>
          <p:cNvPr id="17" name="Text 11"/>
          <p:cNvSpPr txBox="1"/>
          <p:nvPr/>
        </p:nvSpPr>
        <p:spPr>
          <a:xfrm>
            <a:off x="9089136" y="256032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scikit-learn</a:t>
            </a:r>
            <a:endParaRPr lang="en-US" sz="1900" dirty="0"/>
          </a:p>
        </p:txBody>
      </p:sp>
      <p:sp>
        <p:nvSpPr>
          <p:cNvPr id="18" name="Text 12"/>
          <p:cNvSpPr txBox="1"/>
          <p:nvPr/>
        </p:nvSpPr>
        <p:spPr>
          <a:xfrm>
            <a:off x="9089136" y="3017520"/>
            <a:ext cx="2423160" cy="457200"/>
          </a:xfrm>
          <a:prstGeom prst="rect">
            <a:avLst/>
          </a:prstGeom>
          <a:noFill/>
          <a:ln/>
        </p:spPr>
        <p:txBody>
          <a:bodyPr wrap="square" lIns="0" tIns="0" rIns="0" bIns="0" rtlCol="0" anchor="t"/>
          <a:lstStyle/>
          <a:p>
            <a:pPr algn="ctr" indent="0" marL="0">
              <a:buNone/>
            </a:pPr>
            <a:r>
              <a:rPr lang="en-US" sz="1400" dirty="0">
                <a:solidFill>
                  <a:schemeClr val="tx2"/>
                </a:solidFill>
              </a:rPr>
              <a:t>Builds the AI models</a:t>
            </a:r>
            <a:endParaRPr lang="en-US" sz="1400" dirty="0"/>
          </a:p>
        </p:txBody>
      </p:sp>
      <p:sp>
        <p:nvSpPr>
          <p:cNvPr id="19" name="tool card SHAP · LIME"/>
          <p:cNvSpPr/>
          <p:nvPr/>
        </p:nvSpPr>
        <p:spPr>
          <a:xfrm>
            <a:off x="548640" y="3794760"/>
            <a:ext cx="2606040" cy="2194560"/>
          </a:xfrm>
          <a:prstGeom prst="roundRect">
            <a:avLst>
              <a:gd name="adj" fmla="val 5000"/>
            </a:avLst>
          </a:prstGeom>
          <a:solidFill>
            <a:schemeClr val="bg2"/>
          </a:solidFill>
          <a:ln w="12700">
            <a:solidFill>
              <a:schemeClr val="bg2"/>
            </a:solidFill>
            <a:prstDash val="solid"/>
          </a:ln>
        </p:spPr>
      </p:sp>
      <p:pic>
        <p:nvPicPr>
          <p:cNvPr id="20" name="SHAP · LIME logo" descr="preencoded.png">    </p:cNvPr>
          <p:cNvPicPr>
            <a:picLocks noChangeAspect="1"/>
          </p:cNvPicPr>
          <p:nvPr/>
        </p:nvPicPr>
        <p:blipFill>
          <a:blip r:embed="rId5"/>
          <a:stretch>
            <a:fillRect/>
          </a:stretch>
        </p:blipFill>
        <p:spPr>
          <a:xfrm>
            <a:off x="1463040" y="4069080"/>
            <a:ext cx="777240" cy="777240"/>
          </a:xfrm>
          <a:prstGeom prst="rect">
            <a:avLst/>
          </a:prstGeom>
        </p:spPr>
      </p:pic>
      <p:sp>
        <p:nvSpPr>
          <p:cNvPr id="21" name="Text 14"/>
          <p:cNvSpPr txBox="1"/>
          <p:nvPr/>
        </p:nvSpPr>
        <p:spPr>
          <a:xfrm>
            <a:off x="640080" y="498348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SHAP · LIME</a:t>
            </a:r>
            <a:endParaRPr lang="en-US" sz="1900" dirty="0"/>
          </a:p>
        </p:txBody>
      </p:sp>
      <p:sp>
        <p:nvSpPr>
          <p:cNvPr id="22" name="Text 15"/>
          <p:cNvSpPr txBox="1"/>
          <p:nvPr/>
        </p:nvSpPr>
        <p:spPr>
          <a:xfrm>
            <a:off x="640080" y="5440680"/>
            <a:ext cx="2423160" cy="457200"/>
          </a:xfrm>
          <a:prstGeom prst="rect">
            <a:avLst/>
          </a:prstGeom>
          <a:noFill/>
          <a:ln/>
        </p:spPr>
        <p:txBody>
          <a:bodyPr wrap="square" lIns="0" tIns="0" rIns="0" bIns="0" rtlCol="0" anchor="t"/>
          <a:lstStyle/>
          <a:p>
            <a:pPr algn="ctr" indent="0" marL="0">
              <a:buNone/>
            </a:pPr>
            <a:r>
              <a:rPr lang="en-US" sz="1400" dirty="0">
                <a:solidFill>
                  <a:schemeClr val="tx2"/>
                </a:solidFill>
              </a:rPr>
              <a:t>Explain the AI’s decision</a:t>
            </a:r>
            <a:endParaRPr lang="en-US" sz="1400" dirty="0"/>
          </a:p>
        </p:txBody>
      </p:sp>
      <p:sp>
        <p:nvSpPr>
          <p:cNvPr id="23" name="tool card pandas"/>
          <p:cNvSpPr/>
          <p:nvPr/>
        </p:nvSpPr>
        <p:spPr>
          <a:xfrm>
            <a:off x="3364992" y="3794760"/>
            <a:ext cx="2606040" cy="2194560"/>
          </a:xfrm>
          <a:prstGeom prst="roundRect">
            <a:avLst>
              <a:gd name="adj" fmla="val 5000"/>
            </a:avLst>
          </a:prstGeom>
          <a:solidFill>
            <a:schemeClr val="bg2"/>
          </a:solidFill>
          <a:ln w="12700">
            <a:solidFill>
              <a:schemeClr val="bg2"/>
            </a:solidFill>
            <a:prstDash val="solid"/>
          </a:ln>
        </p:spPr>
      </p:sp>
      <p:pic>
        <p:nvPicPr>
          <p:cNvPr id="24" name="pandas logo" descr="preencoded.png">    </p:cNvPr>
          <p:cNvPicPr>
            <a:picLocks noChangeAspect="1"/>
          </p:cNvPicPr>
          <p:nvPr/>
        </p:nvPicPr>
        <p:blipFill>
          <a:blip r:embed="rId6"/>
          <a:stretch>
            <a:fillRect/>
          </a:stretch>
        </p:blipFill>
        <p:spPr>
          <a:xfrm>
            <a:off x="4279392" y="4069080"/>
            <a:ext cx="777240" cy="777240"/>
          </a:xfrm>
          <a:prstGeom prst="rect">
            <a:avLst/>
          </a:prstGeom>
        </p:spPr>
      </p:pic>
      <p:sp>
        <p:nvSpPr>
          <p:cNvPr id="25" name="Text 17"/>
          <p:cNvSpPr txBox="1"/>
          <p:nvPr/>
        </p:nvSpPr>
        <p:spPr>
          <a:xfrm>
            <a:off x="3456432" y="498348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pandas</a:t>
            </a:r>
            <a:endParaRPr lang="en-US" sz="1900" dirty="0"/>
          </a:p>
        </p:txBody>
      </p:sp>
      <p:sp>
        <p:nvSpPr>
          <p:cNvPr id="26" name="Text 18"/>
          <p:cNvSpPr txBox="1"/>
          <p:nvPr/>
        </p:nvSpPr>
        <p:spPr>
          <a:xfrm>
            <a:off x="3456432" y="5440680"/>
            <a:ext cx="2423160" cy="457200"/>
          </a:xfrm>
          <a:prstGeom prst="rect">
            <a:avLst/>
          </a:prstGeom>
          <a:noFill/>
          <a:ln/>
        </p:spPr>
        <p:txBody>
          <a:bodyPr wrap="square" lIns="0" tIns="0" rIns="0" bIns="0" rtlCol="0" anchor="t"/>
          <a:lstStyle/>
          <a:p>
            <a:pPr algn="ctr" indent="0" marL="0">
              <a:buNone/>
            </a:pPr>
            <a:r>
              <a:rPr lang="en-US" sz="1400" dirty="0">
                <a:solidFill>
                  <a:schemeClr val="tx2"/>
                </a:solidFill>
              </a:rPr>
              <a:t>Handles the numbers</a:t>
            </a:r>
            <a:endParaRPr lang="en-US" sz="1400" dirty="0"/>
          </a:p>
        </p:txBody>
      </p:sp>
      <p:sp>
        <p:nvSpPr>
          <p:cNvPr id="27" name="tool card ReportLab"/>
          <p:cNvSpPr/>
          <p:nvPr/>
        </p:nvSpPr>
        <p:spPr>
          <a:xfrm>
            <a:off x="6181344" y="3794760"/>
            <a:ext cx="2606040" cy="2194560"/>
          </a:xfrm>
          <a:prstGeom prst="roundRect">
            <a:avLst>
              <a:gd name="adj" fmla="val 5000"/>
            </a:avLst>
          </a:prstGeom>
          <a:solidFill>
            <a:schemeClr val="bg2"/>
          </a:solidFill>
          <a:ln w="12700">
            <a:solidFill>
              <a:schemeClr val="bg2"/>
            </a:solidFill>
            <a:prstDash val="solid"/>
          </a:ln>
        </p:spPr>
      </p:sp>
      <p:pic>
        <p:nvPicPr>
          <p:cNvPr id="28" name="ReportLab logo" descr="preencoded.png">    </p:cNvPr>
          <p:cNvPicPr>
            <a:picLocks noChangeAspect="1"/>
          </p:cNvPicPr>
          <p:nvPr/>
        </p:nvPicPr>
        <p:blipFill>
          <a:blip r:embed="rId7"/>
          <a:stretch>
            <a:fillRect/>
          </a:stretch>
        </p:blipFill>
        <p:spPr>
          <a:xfrm>
            <a:off x="7095744" y="4069080"/>
            <a:ext cx="777240" cy="777240"/>
          </a:xfrm>
          <a:prstGeom prst="rect">
            <a:avLst/>
          </a:prstGeom>
        </p:spPr>
      </p:pic>
      <p:sp>
        <p:nvSpPr>
          <p:cNvPr id="29" name="Text 20"/>
          <p:cNvSpPr txBox="1"/>
          <p:nvPr/>
        </p:nvSpPr>
        <p:spPr>
          <a:xfrm>
            <a:off x="6272784" y="498348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ReportLab</a:t>
            </a:r>
            <a:endParaRPr lang="en-US" sz="1900" dirty="0"/>
          </a:p>
        </p:txBody>
      </p:sp>
      <p:sp>
        <p:nvSpPr>
          <p:cNvPr id="30" name="Text 21"/>
          <p:cNvSpPr txBox="1"/>
          <p:nvPr/>
        </p:nvSpPr>
        <p:spPr>
          <a:xfrm>
            <a:off x="6272784" y="5440680"/>
            <a:ext cx="2423160" cy="457200"/>
          </a:xfrm>
          <a:prstGeom prst="rect">
            <a:avLst/>
          </a:prstGeom>
          <a:noFill/>
          <a:ln/>
        </p:spPr>
        <p:txBody>
          <a:bodyPr wrap="square" lIns="0" tIns="0" rIns="0" bIns="0" rtlCol="0" anchor="t"/>
          <a:lstStyle/>
          <a:p>
            <a:pPr algn="ctr" indent="0" marL="0">
              <a:buNone/>
            </a:pPr>
            <a:r>
              <a:rPr lang="en-US" sz="1400" dirty="0">
                <a:solidFill>
                  <a:schemeClr val="tx2"/>
                </a:solidFill>
              </a:rPr>
              <a:t>Creates the PDF report</a:t>
            </a:r>
            <a:endParaRPr lang="en-US" sz="1400" dirty="0"/>
          </a:p>
        </p:txBody>
      </p:sp>
      <p:sp>
        <p:nvSpPr>
          <p:cNvPr id="31" name="tool card hashlib"/>
          <p:cNvSpPr/>
          <p:nvPr/>
        </p:nvSpPr>
        <p:spPr>
          <a:xfrm>
            <a:off x="8997696" y="3794760"/>
            <a:ext cx="2606040" cy="2194560"/>
          </a:xfrm>
          <a:prstGeom prst="roundRect">
            <a:avLst>
              <a:gd name="adj" fmla="val 5000"/>
            </a:avLst>
          </a:prstGeom>
          <a:solidFill>
            <a:schemeClr val="bg2"/>
          </a:solidFill>
          <a:ln w="12700">
            <a:solidFill>
              <a:schemeClr val="bg2"/>
            </a:solidFill>
            <a:prstDash val="solid"/>
          </a:ln>
        </p:spPr>
      </p:sp>
      <p:pic>
        <p:nvPicPr>
          <p:cNvPr id="32" name="hashlib logo" descr="preencoded.png">    </p:cNvPr>
          <p:cNvPicPr>
            <a:picLocks noChangeAspect="1"/>
          </p:cNvPicPr>
          <p:nvPr/>
        </p:nvPicPr>
        <p:blipFill>
          <a:blip r:embed="rId8"/>
          <a:stretch>
            <a:fillRect/>
          </a:stretch>
        </p:blipFill>
        <p:spPr>
          <a:xfrm>
            <a:off x="9912096" y="4069080"/>
            <a:ext cx="777240" cy="777240"/>
          </a:xfrm>
          <a:prstGeom prst="rect">
            <a:avLst/>
          </a:prstGeom>
        </p:spPr>
      </p:pic>
      <p:sp>
        <p:nvSpPr>
          <p:cNvPr id="33" name="Text 23"/>
          <p:cNvSpPr txBox="1"/>
          <p:nvPr/>
        </p:nvSpPr>
        <p:spPr>
          <a:xfrm>
            <a:off x="9089136" y="498348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hashlib</a:t>
            </a:r>
            <a:endParaRPr lang="en-US" sz="1900" dirty="0"/>
          </a:p>
        </p:txBody>
      </p:sp>
      <p:sp>
        <p:nvSpPr>
          <p:cNvPr id="34" name="Text 24"/>
          <p:cNvSpPr txBox="1"/>
          <p:nvPr/>
        </p:nvSpPr>
        <p:spPr>
          <a:xfrm>
            <a:off x="9089136" y="5440680"/>
            <a:ext cx="2423160" cy="457200"/>
          </a:xfrm>
          <a:prstGeom prst="rect">
            <a:avLst/>
          </a:prstGeom>
          <a:noFill/>
          <a:ln/>
        </p:spPr>
        <p:txBody>
          <a:bodyPr wrap="square" lIns="0" tIns="0" rIns="0" bIns="0" rtlCol="0" anchor="t"/>
          <a:lstStyle/>
          <a:p>
            <a:pPr algn="ctr" indent="0" marL="0">
              <a:buNone/>
            </a:pPr>
            <a:r>
              <a:rPr lang="en-US" sz="1400" dirty="0">
                <a:solidFill>
                  <a:schemeClr val="tx2"/>
                </a:solidFill>
              </a:rPr>
              <a:t>Makes digital fingerprints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Expected outcome</a:t>
            </a:r>
            <a:endParaRPr lang="en-US" sz="2800" dirty="0"/>
          </a:p>
        </p:txBody>
      </p:sp>
      <p:sp>
        <p:nvSpPr>
          <p:cNvPr id="3" name="outcome 1"/>
          <p:cNvSpPr/>
          <p:nvPr/>
        </p:nvSpPr>
        <p:spPr>
          <a:xfrm>
            <a:off x="548640" y="1463040"/>
            <a:ext cx="3454298" cy="4297680"/>
          </a:xfrm>
          <a:prstGeom prst="roundRect">
            <a:avLst>
              <a:gd name="adj" fmla="val 3177"/>
            </a:avLst>
          </a:prstGeom>
          <a:solidFill>
            <a:schemeClr val="bg2"/>
          </a:solidFill>
          <a:ln w="12700">
            <a:solidFill>
              <a:schemeClr val="bg2"/>
            </a:solidFill>
            <a:prstDash val="solid"/>
          </a:ln>
        </p:spPr>
      </p:sp>
      <p:sp>
        <p:nvSpPr>
          <p:cNvPr id="4" name="outcome 1 circle"/>
          <p:cNvSpPr/>
          <p:nvPr/>
        </p:nvSpPr>
        <p:spPr>
          <a:xfrm>
            <a:off x="1589989" y="1828800"/>
            <a:ext cx="1371600" cy="1371600"/>
          </a:xfrm>
          <a:prstGeom prst="ellipse">
            <a:avLst/>
          </a:prstGeom>
          <a:solidFill>
            <a:srgbClr val="0891B2"/>
          </a:solidFill>
          <a:ln w="12700">
            <a:solidFill>
              <a:srgbClr val="0891B2"/>
            </a:solidFill>
            <a:prstDash val="solid"/>
          </a:ln>
        </p:spPr>
      </p:sp>
      <p:pic>
        <p:nvPicPr>
          <p:cNvPr id="5" name="outcome 1 icon" descr="preencoded.png">    </p:cNvPr>
          <p:cNvPicPr>
            <a:picLocks noChangeAspect="1"/>
          </p:cNvPicPr>
          <p:nvPr/>
        </p:nvPicPr>
        <p:blipFill>
          <a:blip r:embed="rId1"/>
          <a:stretch>
            <a:fillRect/>
          </a:stretch>
        </p:blipFill>
        <p:spPr>
          <a:xfrm>
            <a:off x="1932889" y="2171700"/>
            <a:ext cx="685800" cy="685800"/>
          </a:xfrm>
          <a:prstGeom prst="rect">
            <a:avLst/>
          </a:prstGeom>
        </p:spPr>
      </p:pic>
      <p:sp>
        <p:nvSpPr>
          <p:cNvPr id="6" name="Text 3"/>
          <p:cNvSpPr txBox="1"/>
          <p:nvPr/>
        </p:nvSpPr>
        <p:spPr>
          <a:xfrm>
            <a:off x="822960" y="3474720"/>
            <a:ext cx="2905658" cy="822960"/>
          </a:xfrm>
          <a:prstGeom prst="rect">
            <a:avLst/>
          </a:prstGeom>
          <a:noFill/>
          <a:ln/>
        </p:spPr>
        <p:txBody>
          <a:bodyPr wrap="square" lIns="0" tIns="0" rIns="0" bIns="0" rtlCol="0" anchor="t"/>
          <a:lstStyle/>
          <a:p>
            <a:pPr algn="ctr" indent="0" marL="0">
              <a:buNone/>
            </a:pPr>
            <a:r>
              <a:rPr lang="en-US" sz="2200" b="1" dirty="0">
                <a:solidFill>
                  <a:schemeClr val="tx1"/>
                </a:solidFill>
              </a:rPr>
              <a:t>A working web tool</a:t>
            </a:r>
            <a:endParaRPr lang="en-US" sz="2200" dirty="0"/>
          </a:p>
        </p:txBody>
      </p:sp>
      <p:sp>
        <p:nvSpPr>
          <p:cNvPr id="7" name="Text 4"/>
          <p:cNvSpPr txBox="1"/>
          <p:nvPr/>
        </p:nvSpPr>
        <p:spPr>
          <a:xfrm>
            <a:off x="822960" y="4389120"/>
            <a:ext cx="2905658" cy="1188720"/>
          </a:xfrm>
          <a:prstGeom prst="rect">
            <a:avLst/>
          </a:prstGeom>
          <a:noFill/>
          <a:ln/>
        </p:spPr>
        <p:txBody>
          <a:bodyPr wrap="square" lIns="0" tIns="0" rIns="0" bIns="0" rtlCol="0" anchor="t"/>
          <a:lstStyle/>
          <a:p>
            <a:pPr algn="ctr" indent="0" marL="0">
              <a:buNone/>
            </a:pPr>
            <a:r>
              <a:rPr lang="en-US" sz="1700" dirty="0">
                <a:solidFill>
                  <a:schemeClr val="tx2"/>
                </a:solidFill>
              </a:rPr>
              <a:t>Upload a memory file and get a clear clean, suspicious or high-risk result.</a:t>
            </a:r>
            <a:endParaRPr lang="en-US" sz="1700" dirty="0"/>
          </a:p>
        </p:txBody>
      </p:sp>
      <p:sp>
        <p:nvSpPr>
          <p:cNvPr id="8" name="outcome 2"/>
          <p:cNvSpPr/>
          <p:nvPr/>
        </p:nvSpPr>
        <p:spPr>
          <a:xfrm>
            <a:off x="4368698" y="1463040"/>
            <a:ext cx="3454298" cy="4297680"/>
          </a:xfrm>
          <a:prstGeom prst="roundRect">
            <a:avLst>
              <a:gd name="adj" fmla="val 3177"/>
            </a:avLst>
          </a:prstGeom>
          <a:solidFill>
            <a:schemeClr val="bg2"/>
          </a:solidFill>
          <a:ln w="12700">
            <a:solidFill>
              <a:schemeClr val="bg2"/>
            </a:solidFill>
            <a:prstDash val="solid"/>
          </a:ln>
        </p:spPr>
      </p:sp>
      <p:sp>
        <p:nvSpPr>
          <p:cNvPr id="9" name="outcome 2 circle"/>
          <p:cNvSpPr/>
          <p:nvPr/>
        </p:nvSpPr>
        <p:spPr>
          <a:xfrm>
            <a:off x="5410048" y="1828800"/>
            <a:ext cx="1371600" cy="1371600"/>
          </a:xfrm>
          <a:prstGeom prst="ellipse">
            <a:avLst/>
          </a:prstGeom>
          <a:solidFill>
            <a:srgbClr val="D97706"/>
          </a:solidFill>
          <a:ln w="12700">
            <a:solidFill>
              <a:srgbClr val="D97706"/>
            </a:solidFill>
            <a:prstDash val="solid"/>
          </a:ln>
        </p:spPr>
      </p:sp>
      <p:pic>
        <p:nvPicPr>
          <p:cNvPr id="10" name="outcome 2 icon" descr="preencoded.png">    </p:cNvPr>
          <p:cNvPicPr>
            <a:picLocks noChangeAspect="1"/>
          </p:cNvPicPr>
          <p:nvPr/>
        </p:nvPicPr>
        <p:blipFill>
          <a:blip r:embed="rId2"/>
          <a:stretch>
            <a:fillRect/>
          </a:stretch>
        </p:blipFill>
        <p:spPr>
          <a:xfrm>
            <a:off x="5752948" y="2171700"/>
            <a:ext cx="685800" cy="685800"/>
          </a:xfrm>
          <a:prstGeom prst="rect">
            <a:avLst/>
          </a:prstGeom>
        </p:spPr>
      </p:pic>
      <p:sp>
        <p:nvSpPr>
          <p:cNvPr id="11" name="Text 7"/>
          <p:cNvSpPr txBox="1"/>
          <p:nvPr/>
        </p:nvSpPr>
        <p:spPr>
          <a:xfrm>
            <a:off x="4643018" y="3474720"/>
            <a:ext cx="2905658" cy="822960"/>
          </a:xfrm>
          <a:prstGeom prst="rect">
            <a:avLst/>
          </a:prstGeom>
          <a:noFill/>
          <a:ln/>
        </p:spPr>
        <p:txBody>
          <a:bodyPr wrap="square" lIns="0" tIns="0" rIns="0" bIns="0" rtlCol="0" anchor="t"/>
          <a:lstStyle/>
          <a:p>
            <a:pPr algn="ctr" indent="0" marL="0">
              <a:buNone/>
            </a:pPr>
            <a:r>
              <a:rPr lang="en-US" sz="2200" b="1" dirty="0">
                <a:solidFill>
                  <a:schemeClr val="tx1"/>
                </a:solidFill>
              </a:rPr>
              <a:t>Plain-English reasons</a:t>
            </a:r>
            <a:endParaRPr lang="en-US" sz="2200" dirty="0"/>
          </a:p>
        </p:txBody>
      </p:sp>
      <p:sp>
        <p:nvSpPr>
          <p:cNvPr id="12" name="Text 8"/>
          <p:cNvSpPr txBox="1"/>
          <p:nvPr/>
        </p:nvSpPr>
        <p:spPr>
          <a:xfrm>
            <a:off x="4643018" y="4389120"/>
            <a:ext cx="2905658" cy="1188720"/>
          </a:xfrm>
          <a:prstGeom prst="rect">
            <a:avLst/>
          </a:prstGeom>
          <a:noFill/>
          <a:ln/>
        </p:spPr>
        <p:txBody>
          <a:bodyPr wrap="square" lIns="0" tIns="0" rIns="0" bIns="0" rtlCol="0" anchor="t"/>
          <a:lstStyle/>
          <a:p>
            <a:pPr algn="ctr" indent="0" marL="0">
              <a:buNone/>
            </a:pPr>
            <a:r>
              <a:rPr lang="en-US" sz="1700" dirty="0">
                <a:solidFill>
                  <a:schemeClr val="tx2"/>
                </a:solidFill>
              </a:rPr>
              <a:t>Every result comes with the main reasons behind it.</a:t>
            </a:r>
            <a:endParaRPr lang="en-US" sz="1700" dirty="0"/>
          </a:p>
        </p:txBody>
      </p:sp>
      <p:sp>
        <p:nvSpPr>
          <p:cNvPr id="13" name="outcome 3"/>
          <p:cNvSpPr/>
          <p:nvPr/>
        </p:nvSpPr>
        <p:spPr>
          <a:xfrm>
            <a:off x="8188757" y="1463040"/>
            <a:ext cx="3454298" cy="4297680"/>
          </a:xfrm>
          <a:prstGeom prst="roundRect">
            <a:avLst>
              <a:gd name="adj" fmla="val 3177"/>
            </a:avLst>
          </a:prstGeom>
          <a:solidFill>
            <a:schemeClr val="bg2"/>
          </a:solidFill>
          <a:ln w="12700">
            <a:solidFill>
              <a:schemeClr val="bg2"/>
            </a:solidFill>
            <a:prstDash val="solid"/>
          </a:ln>
        </p:spPr>
      </p:sp>
      <p:sp>
        <p:nvSpPr>
          <p:cNvPr id="14" name="outcome 3 circle"/>
          <p:cNvSpPr/>
          <p:nvPr/>
        </p:nvSpPr>
        <p:spPr>
          <a:xfrm>
            <a:off x="9230106" y="1828800"/>
            <a:ext cx="1371600" cy="1371600"/>
          </a:xfrm>
          <a:prstGeom prst="ellipse">
            <a:avLst/>
          </a:prstGeom>
          <a:solidFill>
            <a:srgbClr val="16A34A"/>
          </a:solidFill>
          <a:ln w="12700">
            <a:solidFill>
              <a:srgbClr val="16A34A"/>
            </a:solidFill>
            <a:prstDash val="solid"/>
          </a:ln>
        </p:spPr>
      </p:sp>
      <p:pic>
        <p:nvPicPr>
          <p:cNvPr id="15" name="outcome 3 icon" descr="preencoded.png">    </p:cNvPr>
          <p:cNvPicPr>
            <a:picLocks noChangeAspect="1"/>
          </p:cNvPicPr>
          <p:nvPr/>
        </p:nvPicPr>
        <p:blipFill>
          <a:blip r:embed="rId3"/>
          <a:stretch>
            <a:fillRect/>
          </a:stretch>
        </p:blipFill>
        <p:spPr>
          <a:xfrm>
            <a:off x="9573006" y="2171700"/>
            <a:ext cx="685800" cy="685800"/>
          </a:xfrm>
          <a:prstGeom prst="rect">
            <a:avLst/>
          </a:prstGeom>
        </p:spPr>
      </p:pic>
      <p:sp>
        <p:nvSpPr>
          <p:cNvPr id="16" name="Text 11"/>
          <p:cNvSpPr txBox="1"/>
          <p:nvPr/>
        </p:nvSpPr>
        <p:spPr>
          <a:xfrm>
            <a:off x="8463077" y="3474720"/>
            <a:ext cx="2905658" cy="822960"/>
          </a:xfrm>
          <a:prstGeom prst="rect">
            <a:avLst/>
          </a:prstGeom>
          <a:noFill/>
          <a:ln/>
        </p:spPr>
        <p:txBody>
          <a:bodyPr wrap="square" lIns="0" tIns="0" rIns="0" bIns="0" rtlCol="0" anchor="t"/>
          <a:lstStyle/>
          <a:p>
            <a:pPr algn="ctr" indent="0" marL="0">
              <a:buNone/>
            </a:pPr>
            <a:r>
              <a:rPr lang="en-US" sz="2200" b="1" dirty="0">
                <a:solidFill>
                  <a:schemeClr val="tx1"/>
                </a:solidFill>
              </a:rPr>
              <a:t>A trustworthy report</a:t>
            </a:r>
            <a:endParaRPr lang="en-US" sz="2200" dirty="0"/>
          </a:p>
        </p:txBody>
      </p:sp>
      <p:sp>
        <p:nvSpPr>
          <p:cNvPr id="17" name="Text 12"/>
          <p:cNvSpPr txBox="1"/>
          <p:nvPr/>
        </p:nvSpPr>
        <p:spPr>
          <a:xfrm>
            <a:off x="8463077" y="4389120"/>
            <a:ext cx="2905658" cy="1188720"/>
          </a:xfrm>
          <a:prstGeom prst="rect">
            <a:avLst/>
          </a:prstGeom>
          <a:noFill/>
          <a:ln/>
        </p:spPr>
        <p:txBody>
          <a:bodyPr wrap="square" lIns="0" tIns="0" rIns="0" bIns="0" rtlCol="0" anchor="t"/>
          <a:lstStyle/>
          <a:p>
            <a:pPr algn="ctr" indent="0" marL="0">
              <a:buNone/>
            </a:pPr>
            <a:r>
              <a:rPr lang="en-US" sz="1700" dirty="0">
                <a:solidFill>
                  <a:schemeClr val="tx2"/>
                </a:solidFill>
              </a:rPr>
              <a:t>A PDF report sealed with a digital fingerprint, ready to hand over.</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r>
              <a:rPr lang="en-US" sz="4000" b="1" dirty="0">
                <a:solidFill>
                  <a:schemeClr val="bg1"/>
                </a:solidFill>
              </a:rPr>
              <a:t>Thank you — questions?</a:t>
            </a: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r>
              <a:rPr lang="en-US" sz="1800" dirty="0">
                <a:solidFill>
                  <a:srgbClr val="A5F3FC"/>
                </a:solidFill>
              </a:rPr>
              <a:t>Detect  ·  Explain  ·  Protect the evidence</a:t>
            </a:r>
            <a:endParaRPr lang="en-US" sz="1800" dirty="0"/>
          </a:p>
        </p:txBody>
      </p:sp>
      <p:sp>
        <p:nvSpPr>
          <p:cNvPr id="4" name="questions circle"/>
          <p:cNvSpPr/>
          <p:nvPr/>
        </p:nvSpPr>
        <p:spPr>
          <a:xfrm>
            <a:off x="9692640" y="2103120"/>
            <a:ext cx="1828800" cy="1828800"/>
          </a:xfrm>
          <a:prstGeom prst="ellipse">
            <a:avLst/>
          </a:prstGeom>
          <a:solidFill>
            <a:srgbClr val="0891B2"/>
          </a:solidFill>
          <a:ln w="12700">
            <a:solidFill>
              <a:srgbClr val="0891B2"/>
            </a:solidFill>
            <a:prstDash val="solid"/>
          </a:ln>
        </p:spPr>
      </p:sp>
      <p:pic>
        <p:nvPicPr>
          <p:cNvPr id="5" name="questions icon" descr="preencoded.png">    </p:cNvPr>
          <p:cNvPicPr>
            <a:picLocks noChangeAspect="1"/>
          </p:cNvPicPr>
          <p:nvPr/>
        </p:nvPicPr>
        <p:blipFill>
          <a:blip r:embed="rId1"/>
          <a:stretch>
            <a:fillRect/>
          </a:stretch>
        </p:blipFill>
        <p:spPr>
          <a:xfrm>
            <a:off x="10149840" y="2560320"/>
            <a:ext cx="914400" cy="914400"/>
          </a:xfrm>
          <a:prstGeom prst="rect">
            <a:avLst/>
          </a:prstGeom>
        </p:spPr>
      </p:pic>
    </p:spTree>
  </p:cSld>
  <p:clrMapOvr>
    <a:masterClrMapping/>
  </p:clrMapOvr>
</p:sld>
</file>

<file path=ppt/theme/theme1.xml><?xml version="1.0" encoding="utf-8"?>
<a:theme xmlns:a="http://schemas.openxmlformats.org/drawingml/2006/main" name="Forensic Triage">
  <a:themeElements>
    <a:clrScheme name="Forensic Triage">
      <a:dk1>
        <a:srgbClr val="0F172A"/>
      </a:dk1>
      <a:lt1>
        <a:srgbClr val="FFFFFF"/>
      </a:lt1>
      <a:dk2>
        <a:srgbClr val="0B1F33"/>
      </a:dk2>
      <a:lt2>
        <a:srgbClr val="EEF3F8"/>
      </a:lt2>
      <a:accent1>
        <a:srgbClr val="0891B2"/>
      </a:accent1>
      <a:accent2>
        <a:srgbClr val="DC2626"/>
      </a:accent2>
      <a:accent3>
        <a:srgbClr val="16A34A"/>
      </a:accent3>
      <a:accent4>
        <a:srgbClr val="D97706"/>
      </a:accent4>
      <a:accent5>
        <a:srgbClr val="6D5BD0"/>
      </a:accent5>
      <a:accent6>
        <a:srgbClr val="2563EB"/>
      </a:accent6>
      <a:hlink>
        <a:srgbClr val="2563EB"/>
      </a:hlink>
      <a:folHlink>
        <a:srgbClr val="6D5BD0"/>
      </a:folHlink>
    </a:clrScheme>
    <a:fontScheme name="Forensic Tri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AI-Based Memory Forensic Triage System — Methodology</dc:title>
  <dc:subject>Final-year project viva — methodology</dc:subject>
  <dc:creator>Abdullah Azwar</dc:creator>
  <cp:lastModifiedBy>Abdullah Azwar</cp:lastModifiedBy>
  <cp:revision>1</cp:revision>
  <dcterms:created xsi:type="dcterms:W3CDTF">2026-10-05T09:02:15Z</dcterms:created>
  <dcterms:modified xsi:type="dcterms:W3CDTF">2026-10-05T09:02:15Z</dcterms:modified>
</cp:coreProperties>
</file>