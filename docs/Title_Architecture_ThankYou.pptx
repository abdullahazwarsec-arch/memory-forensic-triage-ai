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ject" id="{2aaba817-af24-fcaf-e111-b0fdc941083a}">
          <p14:sldIdLst>
            <p14:sldId id="256"/>
            <p14:sldId id="257"/>
            <p14:sldId id="25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is an explainable AI-based memory forensic triage system for detecting fileless malware. It does three things: it detects malware in a computer's memory, explains its decision in plain English, and protects the evidence so we can prove it was never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top-level architecture. On the left are the three inputs: a raw memory dump, a Volatility CSV, or a demo sample. The memory itself is captured with other tools such as DumpIt or WinPmem. The investigator works through a Streamlit web dashboard. Inside, evidence goes through four modules: case and evidence intake, feature extraction with Volatility 3, the detection engine with a Random Forest and an Isolation Forest, and the explainability module with SHAP and LIME. Underneath everything, the integrity layer re-checks the evidence hashes at nine stages and blocks analysis if anything changes. Trained models, case records and the audit log are stored at the bottom. On the right are the outputs: a risk verdict, a plain-English explanation and a sealed PDF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I am happy to answer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0B1F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778240" cy="18288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3840480"/>
            <a:ext cx="8778240" cy="914400"/>
          </a:xfrm>
          <a:prstGeom prst="rect">
            <a:avLst/>
          </a:prstGeom>
          <a:noFill/>
          <a:ln/>
        </p:spPr>
        <p:txBody>
          <a:bodyPr wrap="square" rtlCol="0"/>
          <a:lstStyle>
            <a:lvl1pPr indent="0" marL="0">
              <a:buNone/>
              <a:defRPr lang="en-US" sz="1800" dirty="0">
                <a:solidFill>
                  <a:srgbClr val="A5F3FC"/>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478"/>
                </a:solidFill>
              </a:rPr>
              <a:t>Explainable AI Memory Forensic Triage  ·  Abdullah Azwar  ·  COBSCEHNS24.2P-017</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slideLayout" Target="../slideLayouts/slideLayout3.xml"/><Relationship Id="rId1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778240" cy="1828800"/>
          </a:xfrm>
          <a:prstGeom prst="rect">
            <a:avLst/>
          </a:prstGeom>
          <a:noFill/>
          <a:ln/>
        </p:spPr>
        <p:txBody>
          <a:bodyPr wrap="square" rtlCol="0" anchor="b"/>
          <a:lstStyle/>
          <a:p>
            <a:pPr algn="l" indent="0" marL="0">
              <a:buNone/>
            </a:pPr>
            <a:r>
              <a:rPr lang="en-US" sz="4000" b="1" dirty="0">
                <a:solidFill>
                  <a:schemeClr val="bg1"/>
                </a:solidFill>
              </a:rPr>
              <a:t>Explainable AI-Based Memory Forensic Triage System for Detecting Fileless Malware</a:t>
            </a:r>
            <a:endParaRPr lang="en-US" sz="4000" dirty="0"/>
          </a:p>
        </p:txBody>
      </p:sp>
      <p:sp>
        <p:nvSpPr>
          <p:cNvPr id="3" name="Text 0"/>
          <p:cNvSpPr/>
          <p:nvPr>
            <p:ph idx="101" type="body" hasCustomPrompt="1"/>
          </p:nvPr>
        </p:nvSpPr>
        <p:spPr>
          <a:xfrm>
            <a:off x="548640" y="3840480"/>
            <a:ext cx="8778240" cy="914400"/>
          </a:xfrm>
          <a:prstGeom prst="rect">
            <a:avLst/>
          </a:prstGeom>
          <a:noFill/>
          <a:ln/>
        </p:spPr>
        <p:txBody>
          <a:bodyPr wrap="square" rtlCol="0" anchor="t"/>
          <a:lstStyle/>
          <a:p>
            <a:pPr indent="0" marL="0">
              <a:buNone/>
            </a:pPr>
            <a:r>
              <a:rPr lang="en-US" sz="1800" dirty="0">
                <a:solidFill>
                  <a:srgbClr val="A5F3FC"/>
                </a:solidFill>
              </a:rPr>
              <a:t>Detect  ·  Explain  ·  Protect the evidence</a:t>
            </a:r>
            <a:endParaRPr lang="en-US" sz="1800" dirty="0"/>
          </a:p>
        </p:txBody>
      </p:sp>
      <p:sp>
        <p:nvSpPr>
          <p:cNvPr id="4" name="Text 2"/>
          <p:cNvSpPr txBox="1"/>
          <p:nvPr/>
        </p:nvSpPr>
        <p:spPr>
          <a:xfrm>
            <a:off x="548640" y="5120640"/>
            <a:ext cx="7315200" cy="1005840"/>
          </a:xfrm>
          <a:prstGeom prst="rect">
            <a:avLst/>
          </a:prstGeom>
          <a:noFill/>
          <a:ln/>
        </p:spPr>
        <p:txBody>
          <a:bodyPr wrap="square" lIns="0" tIns="0" rIns="0" bIns="0" rtlCol="0" anchor="t"/>
          <a:lstStyle/>
          <a:p>
            <a:pPr indent="0" marL="0">
              <a:buNone/>
            </a:pPr>
            <a:r>
              <a:rPr lang="en-US" sz="1500" b="1" dirty="0">
                <a:solidFill>
                  <a:schemeClr val="bg1"/>
                </a:solidFill>
              </a:rPr>
              <a:t>Abdullah Azwar  ·  COBSCEHNS24.2P-017</a:t>
            </a:r>
            <a:endParaRPr lang="en-US" sz="1500" dirty="0"/>
          </a:p>
          <a:p>
            <a:pPr indent="0" marL="0">
              <a:buNone/>
            </a:pPr>
            <a:r>
              <a:rPr lang="en-US" sz="1500" dirty="0">
                <a:solidFill>
                  <a:schemeClr val="bg1"/>
                </a:solidFill>
              </a:rPr>
              <a:t>BSc (Hons) in Ethical Hacking &amp; Network Security</a:t>
            </a:r>
            <a:endParaRPr lang="en-US" sz="1500" dirty="0"/>
          </a:p>
          <a:p>
            <a:pPr indent="0" marL="0">
              <a:buNone/>
            </a:pPr>
            <a:r>
              <a:rPr lang="en-US" sz="1500" dirty="0">
                <a:solidFill>
                  <a:schemeClr val="bg1"/>
                </a:solidFill>
              </a:rPr>
              <a:t>Supervisor: Mr. Chathura Suduwella</a:t>
            </a:r>
            <a:endParaRPr lang="en-US" sz="1500" dirty="0"/>
          </a:p>
        </p:txBody>
      </p:sp>
      <p:sp>
        <p:nvSpPr>
          <p:cNvPr id="5" name="hero circle"/>
          <p:cNvSpPr/>
          <p:nvPr/>
        </p:nvSpPr>
        <p:spPr>
          <a:xfrm>
            <a:off x="9692640" y="2103120"/>
            <a:ext cx="1828800" cy="1828800"/>
          </a:xfrm>
          <a:prstGeom prst="ellipse">
            <a:avLst/>
          </a:prstGeom>
          <a:solidFill>
            <a:srgbClr val="0891B2"/>
          </a:solidFill>
          <a:ln w="12700">
            <a:solidFill>
              <a:srgbClr val="0891B2"/>
            </a:solidFill>
            <a:prstDash val="solid"/>
          </a:ln>
        </p:spPr>
      </p:sp>
      <p:pic>
        <p:nvPicPr>
          <p:cNvPr id="6" name="hero icon" descr="preencoded.png">    </p:cNvPr>
          <p:cNvPicPr>
            <a:picLocks noChangeAspect="1"/>
          </p:cNvPicPr>
          <p:nvPr/>
        </p:nvPicPr>
        <p:blipFill>
          <a:blip r:embed="rId1"/>
          <a:stretch>
            <a:fillRect/>
          </a:stretch>
        </p:blipFill>
        <p:spPr>
          <a:xfrm>
            <a:off x="10149840" y="2560320"/>
            <a:ext cx="914400" cy="914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nchor="ctr"/>
          <a:lstStyle/>
          <a:p>
            <a:pPr algn="l" indent="0" marL="0">
              <a:buNone/>
            </a:pPr>
            <a:r>
              <a:rPr lang="en-US" sz="2800" b="1" dirty="0">
                <a:solidFill>
                  <a:schemeClr val="tx2"/>
                </a:solidFill>
              </a:rPr>
              <a:t>Top-level system architecture</a:t>
            </a:r>
            <a:endParaRPr lang="en-US" sz="2800" dirty="0"/>
          </a:p>
        </p:txBody>
      </p:sp>
      <p:sp>
        <p:nvSpPr>
          <p:cNvPr id="3" name="inputs panel"/>
          <p:cNvSpPr/>
          <p:nvPr/>
        </p:nvSpPr>
        <p:spPr>
          <a:xfrm>
            <a:off x="548640" y="1188720"/>
            <a:ext cx="2331720" cy="4937760"/>
          </a:xfrm>
          <a:prstGeom prst="roundRect">
            <a:avLst>
              <a:gd name="adj" fmla="val 3922"/>
            </a:avLst>
          </a:prstGeom>
          <a:solidFill>
            <a:schemeClr val="bg2"/>
          </a:solidFill>
          <a:ln w="15875">
            <a:solidFill>
              <a:schemeClr val="bg2"/>
            </a:solidFill>
            <a:prstDash val="solid"/>
          </a:ln>
        </p:spPr>
      </p:sp>
      <p:sp>
        <p:nvSpPr>
          <p:cNvPr id="4" name="Text 2"/>
          <p:cNvSpPr txBox="1"/>
          <p:nvPr/>
        </p:nvSpPr>
        <p:spPr>
          <a:xfrm>
            <a:off x="731520" y="1298448"/>
            <a:ext cx="1965960" cy="274320"/>
          </a:xfrm>
          <a:prstGeom prst="rect">
            <a:avLst/>
          </a:prstGeom>
          <a:noFill/>
          <a:ln/>
        </p:spPr>
        <p:txBody>
          <a:bodyPr wrap="square" lIns="0" tIns="0" rIns="0" bIns="0" rtlCol="0" anchor="t"/>
          <a:lstStyle/>
          <a:p>
            <a:pPr indent="0" marL="0">
              <a:buNone/>
            </a:pPr>
            <a:r>
              <a:rPr lang="en-US" sz="1200" b="1" spc="200" kern="0" dirty="0">
                <a:solidFill>
                  <a:srgbClr val="5B6478"/>
                </a:solidFill>
              </a:rPr>
              <a:t>INPUTS</a:t>
            </a:r>
            <a:endParaRPr lang="en-US" sz="1200" dirty="0"/>
          </a:p>
        </p:txBody>
      </p:sp>
      <p:sp>
        <p:nvSpPr>
          <p:cNvPr id="5" name="input 1"/>
          <p:cNvSpPr/>
          <p:nvPr/>
        </p:nvSpPr>
        <p:spPr>
          <a:xfrm>
            <a:off x="685800" y="1737360"/>
            <a:ext cx="2057400" cy="1234440"/>
          </a:xfrm>
          <a:prstGeom prst="roundRect">
            <a:avLst>
              <a:gd name="adj" fmla="val 7407"/>
            </a:avLst>
          </a:prstGeom>
          <a:solidFill>
            <a:schemeClr val="bg1"/>
          </a:solidFill>
          <a:ln w="15875">
            <a:solidFill>
              <a:srgbClr val="D6DCE6"/>
            </a:solidFill>
            <a:prstDash val="solid"/>
          </a:ln>
        </p:spPr>
      </p:sp>
      <p:pic>
        <p:nvPicPr>
          <p:cNvPr id="6" name="input icon 1" descr="preencoded.png">    </p:cNvPr>
          <p:cNvPicPr>
            <a:picLocks noChangeAspect="1"/>
          </p:cNvPicPr>
          <p:nvPr/>
        </p:nvPicPr>
        <p:blipFill>
          <a:blip r:embed="rId1"/>
          <a:stretch>
            <a:fillRect/>
          </a:stretch>
        </p:blipFill>
        <p:spPr>
          <a:xfrm>
            <a:off x="822960" y="1901952"/>
            <a:ext cx="411480" cy="411480"/>
          </a:xfrm>
          <a:prstGeom prst="rect">
            <a:avLst/>
          </a:prstGeom>
        </p:spPr>
      </p:pic>
      <p:sp>
        <p:nvSpPr>
          <p:cNvPr id="7" name="Text 4"/>
          <p:cNvSpPr txBox="1"/>
          <p:nvPr/>
        </p:nvSpPr>
        <p:spPr>
          <a:xfrm>
            <a:off x="822960" y="2377440"/>
            <a:ext cx="1783080" cy="292608"/>
          </a:xfrm>
          <a:prstGeom prst="rect">
            <a:avLst/>
          </a:prstGeom>
          <a:noFill/>
          <a:ln/>
        </p:spPr>
        <p:txBody>
          <a:bodyPr wrap="square" lIns="0" tIns="0" rIns="0" bIns="0" rtlCol="0" anchor="t"/>
          <a:lstStyle/>
          <a:p>
            <a:pPr indent="0" marL="0">
              <a:buNone/>
            </a:pPr>
            <a:r>
              <a:rPr lang="en-US" sz="1300" b="1" dirty="0">
                <a:solidFill>
                  <a:schemeClr val="tx1"/>
                </a:solidFill>
              </a:rPr>
              <a:t>Memory dump</a:t>
            </a:r>
            <a:endParaRPr lang="en-US" sz="1300" dirty="0"/>
          </a:p>
        </p:txBody>
      </p:sp>
      <p:sp>
        <p:nvSpPr>
          <p:cNvPr id="8" name="Text 5"/>
          <p:cNvSpPr txBox="1"/>
          <p:nvPr/>
        </p:nvSpPr>
        <p:spPr>
          <a:xfrm>
            <a:off x="822960" y="2633472"/>
            <a:ext cx="1783080" cy="274320"/>
          </a:xfrm>
          <a:prstGeom prst="rect">
            <a:avLst/>
          </a:prstGeom>
          <a:noFill/>
          <a:ln/>
        </p:spPr>
        <p:txBody>
          <a:bodyPr wrap="square" lIns="0" tIns="0" rIns="0" bIns="0" rtlCol="0" anchor="t"/>
          <a:lstStyle/>
          <a:p>
            <a:pPr indent="0" marL="0">
              <a:buNone/>
            </a:pPr>
            <a:r>
              <a:rPr lang="en-US" sz="1100" dirty="0">
                <a:solidFill>
                  <a:schemeClr val="tx2"/>
                </a:solidFill>
              </a:rPr>
              <a:t>.raw .mem .vmem .dmp</a:t>
            </a:r>
            <a:endParaRPr lang="en-US" sz="1100" dirty="0"/>
          </a:p>
        </p:txBody>
      </p:sp>
      <p:sp>
        <p:nvSpPr>
          <p:cNvPr id="9" name="input 2"/>
          <p:cNvSpPr/>
          <p:nvPr/>
        </p:nvSpPr>
        <p:spPr>
          <a:xfrm>
            <a:off x="685800" y="3154680"/>
            <a:ext cx="2057400" cy="1234440"/>
          </a:xfrm>
          <a:prstGeom prst="roundRect">
            <a:avLst>
              <a:gd name="adj" fmla="val 7407"/>
            </a:avLst>
          </a:prstGeom>
          <a:solidFill>
            <a:schemeClr val="bg1"/>
          </a:solidFill>
          <a:ln w="15875">
            <a:solidFill>
              <a:srgbClr val="D6DCE6"/>
            </a:solidFill>
            <a:prstDash val="solid"/>
          </a:ln>
        </p:spPr>
      </p:sp>
      <p:pic>
        <p:nvPicPr>
          <p:cNvPr id="10" name="input icon 2" descr="preencoded.png">    </p:cNvPr>
          <p:cNvPicPr>
            <a:picLocks noChangeAspect="1"/>
          </p:cNvPicPr>
          <p:nvPr/>
        </p:nvPicPr>
        <p:blipFill>
          <a:blip r:embed="rId2"/>
          <a:stretch>
            <a:fillRect/>
          </a:stretch>
        </p:blipFill>
        <p:spPr>
          <a:xfrm>
            <a:off x="822960" y="3319272"/>
            <a:ext cx="411480" cy="411480"/>
          </a:xfrm>
          <a:prstGeom prst="rect">
            <a:avLst/>
          </a:prstGeom>
        </p:spPr>
      </p:pic>
      <p:sp>
        <p:nvSpPr>
          <p:cNvPr id="11" name="Text 7"/>
          <p:cNvSpPr txBox="1"/>
          <p:nvPr/>
        </p:nvSpPr>
        <p:spPr>
          <a:xfrm>
            <a:off x="822960" y="3794760"/>
            <a:ext cx="1783080" cy="292608"/>
          </a:xfrm>
          <a:prstGeom prst="rect">
            <a:avLst/>
          </a:prstGeom>
          <a:noFill/>
          <a:ln/>
        </p:spPr>
        <p:txBody>
          <a:bodyPr wrap="square" lIns="0" tIns="0" rIns="0" bIns="0" rtlCol="0" anchor="t"/>
          <a:lstStyle/>
          <a:p>
            <a:pPr indent="0" marL="0">
              <a:buNone/>
            </a:pPr>
            <a:r>
              <a:rPr lang="en-US" sz="1300" b="1" dirty="0">
                <a:solidFill>
                  <a:schemeClr val="tx1"/>
                </a:solidFill>
              </a:rPr>
              <a:t>Volatility CSV</a:t>
            </a:r>
            <a:endParaRPr lang="en-US" sz="1300" dirty="0"/>
          </a:p>
        </p:txBody>
      </p:sp>
      <p:sp>
        <p:nvSpPr>
          <p:cNvPr id="12" name="Text 8"/>
          <p:cNvSpPr txBox="1"/>
          <p:nvPr/>
        </p:nvSpPr>
        <p:spPr>
          <a:xfrm>
            <a:off x="822960" y="4050792"/>
            <a:ext cx="1783080" cy="274320"/>
          </a:xfrm>
          <a:prstGeom prst="rect">
            <a:avLst/>
          </a:prstGeom>
          <a:noFill/>
          <a:ln/>
        </p:spPr>
        <p:txBody>
          <a:bodyPr wrap="square" lIns="0" tIns="0" rIns="0" bIns="0" rtlCol="0" anchor="t"/>
          <a:lstStyle/>
          <a:p>
            <a:pPr indent="0" marL="0">
              <a:buNone/>
            </a:pPr>
            <a:r>
              <a:rPr lang="en-US" sz="1100" dirty="0">
                <a:solidFill>
                  <a:schemeClr val="tx2"/>
                </a:solidFill>
              </a:rPr>
              <a:t>55 feature columns</a:t>
            </a:r>
            <a:endParaRPr lang="en-US" sz="1100" dirty="0"/>
          </a:p>
        </p:txBody>
      </p:sp>
      <p:sp>
        <p:nvSpPr>
          <p:cNvPr id="13" name="input 3"/>
          <p:cNvSpPr/>
          <p:nvPr/>
        </p:nvSpPr>
        <p:spPr>
          <a:xfrm>
            <a:off x="685800" y="4572000"/>
            <a:ext cx="2057400" cy="1234440"/>
          </a:xfrm>
          <a:prstGeom prst="roundRect">
            <a:avLst>
              <a:gd name="adj" fmla="val 7407"/>
            </a:avLst>
          </a:prstGeom>
          <a:solidFill>
            <a:schemeClr val="bg1"/>
          </a:solidFill>
          <a:ln w="15875">
            <a:solidFill>
              <a:srgbClr val="D6DCE6"/>
            </a:solidFill>
            <a:prstDash val="solid"/>
          </a:ln>
        </p:spPr>
      </p:sp>
      <p:pic>
        <p:nvPicPr>
          <p:cNvPr id="14" name="input icon 3" descr="preencoded.png">    </p:cNvPr>
          <p:cNvPicPr>
            <a:picLocks noChangeAspect="1"/>
          </p:cNvPicPr>
          <p:nvPr/>
        </p:nvPicPr>
        <p:blipFill>
          <a:blip r:embed="rId3"/>
          <a:stretch>
            <a:fillRect/>
          </a:stretch>
        </p:blipFill>
        <p:spPr>
          <a:xfrm>
            <a:off x="822960" y="4736592"/>
            <a:ext cx="411480" cy="411480"/>
          </a:xfrm>
          <a:prstGeom prst="rect">
            <a:avLst/>
          </a:prstGeom>
        </p:spPr>
      </p:pic>
      <p:sp>
        <p:nvSpPr>
          <p:cNvPr id="15" name="Text 10"/>
          <p:cNvSpPr txBox="1"/>
          <p:nvPr/>
        </p:nvSpPr>
        <p:spPr>
          <a:xfrm>
            <a:off x="822960" y="5212080"/>
            <a:ext cx="1783080" cy="292608"/>
          </a:xfrm>
          <a:prstGeom prst="rect">
            <a:avLst/>
          </a:prstGeom>
          <a:noFill/>
          <a:ln/>
        </p:spPr>
        <p:txBody>
          <a:bodyPr wrap="square" lIns="0" tIns="0" rIns="0" bIns="0" rtlCol="0" anchor="t"/>
          <a:lstStyle/>
          <a:p>
            <a:pPr indent="0" marL="0">
              <a:buNone/>
            </a:pPr>
            <a:r>
              <a:rPr lang="en-US" sz="1300" b="1" dirty="0">
                <a:solidFill>
                  <a:schemeClr val="tx1"/>
                </a:solidFill>
              </a:rPr>
              <a:t>Sample profile</a:t>
            </a:r>
            <a:endParaRPr lang="en-US" sz="1300" dirty="0"/>
          </a:p>
        </p:txBody>
      </p:sp>
      <p:sp>
        <p:nvSpPr>
          <p:cNvPr id="16" name="Text 11"/>
          <p:cNvSpPr txBox="1"/>
          <p:nvPr/>
        </p:nvSpPr>
        <p:spPr>
          <a:xfrm>
            <a:off x="822960" y="5468112"/>
            <a:ext cx="1783080" cy="274320"/>
          </a:xfrm>
          <a:prstGeom prst="rect">
            <a:avLst/>
          </a:prstGeom>
          <a:noFill/>
          <a:ln/>
        </p:spPr>
        <p:txBody>
          <a:bodyPr wrap="square" lIns="0" tIns="0" rIns="0" bIns="0" rtlCol="0" anchor="t"/>
          <a:lstStyle/>
          <a:p>
            <a:pPr indent="0" marL="0">
              <a:buNone/>
            </a:pPr>
            <a:r>
              <a:rPr lang="en-US" sz="1100" dirty="0">
                <a:solidFill>
                  <a:schemeClr val="tx2"/>
                </a:solidFill>
              </a:rPr>
              <a:t>demo files</a:t>
            </a:r>
            <a:endParaRPr lang="en-US" sz="1100" dirty="0"/>
          </a:p>
        </p:txBody>
      </p:sp>
      <p:sp>
        <p:nvSpPr>
          <p:cNvPr id="17" name="dashboard layer"/>
          <p:cNvSpPr/>
          <p:nvPr/>
        </p:nvSpPr>
        <p:spPr>
          <a:xfrm>
            <a:off x="3200400" y="1188720"/>
            <a:ext cx="5790895" cy="731520"/>
          </a:xfrm>
          <a:prstGeom prst="roundRect">
            <a:avLst>
              <a:gd name="adj" fmla="val 12500"/>
            </a:avLst>
          </a:prstGeom>
          <a:solidFill>
            <a:srgbClr val="0B1F33"/>
          </a:solidFill>
          <a:ln w="15875">
            <a:solidFill>
              <a:srgbClr val="0B1F33"/>
            </a:solidFill>
            <a:prstDash val="solid"/>
          </a:ln>
        </p:spPr>
      </p:sp>
      <p:pic>
        <p:nvPicPr>
          <p:cNvPr id="18" name="analyst icon" descr="preencoded.png">    </p:cNvPr>
          <p:cNvPicPr>
            <a:picLocks noChangeAspect="1"/>
          </p:cNvPicPr>
          <p:nvPr/>
        </p:nvPicPr>
        <p:blipFill>
          <a:blip r:embed="rId4"/>
          <a:stretch>
            <a:fillRect/>
          </a:stretch>
        </p:blipFill>
        <p:spPr>
          <a:xfrm>
            <a:off x="3383280" y="1344168"/>
            <a:ext cx="420624" cy="420624"/>
          </a:xfrm>
          <a:prstGeom prst="rect">
            <a:avLst/>
          </a:prstGeom>
        </p:spPr>
      </p:pic>
      <p:sp>
        <p:nvSpPr>
          <p:cNvPr id="19" name="Text 13"/>
          <p:cNvSpPr txBox="1"/>
          <p:nvPr/>
        </p:nvSpPr>
        <p:spPr>
          <a:xfrm>
            <a:off x="3931920" y="1188720"/>
            <a:ext cx="4876495" cy="731520"/>
          </a:xfrm>
          <a:prstGeom prst="rect">
            <a:avLst/>
          </a:prstGeom>
          <a:noFill/>
          <a:ln/>
        </p:spPr>
        <p:txBody>
          <a:bodyPr wrap="square" lIns="0" tIns="0" rIns="0" bIns="0" rtlCol="0" anchor="ctr"/>
          <a:lstStyle/>
          <a:p>
            <a:pPr indent="0" marL="0">
              <a:buNone/>
            </a:pPr>
            <a:r>
              <a:rPr lang="en-US" sz="1350" b="1" dirty="0">
                <a:solidFill>
                  <a:schemeClr val="bg1"/>
                </a:solidFill>
              </a:rPr>
              <a:t>Streamlit web dashboard  </a:t>
            </a:r>
            <a:pPr indent="0" marL="0">
              <a:buNone/>
            </a:pPr>
            <a:r>
              <a:rPr lang="en-US" sz="1350" dirty="0">
                <a:solidFill>
                  <a:srgbClr val="A5F3FC"/>
                </a:solidFill>
              </a:rPr>
              <a:t>app.py · investigator opens a case, uploads evidence, views results</a:t>
            </a:r>
            <a:endParaRPr lang="en-US" sz="1350" dirty="0"/>
          </a:p>
        </p:txBody>
      </p:sp>
      <p:sp>
        <p:nvSpPr>
          <p:cNvPr id="20" name="input to dashboard"/>
          <p:cNvSpPr/>
          <p:nvPr/>
        </p:nvSpPr>
        <p:spPr>
          <a:xfrm>
            <a:off x="2898648" y="1554480"/>
            <a:ext cx="265176" cy="0"/>
          </a:xfrm>
          <a:prstGeom prst="line">
            <a:avLst/>
          </a:prstGeom>
          <a:noFill/>
          <a:ln w="25400">
            <a:solidFill>
              <a:srgbClr val="5B6478"/>
            </a:solidFill>
            <a:prstDash val="solid"/>
            <a:tailEnd type="triangle"/>
          </a:ln>
        </p:spPr>
      </p:sp>
      <p:sp>
        <p:nvSpPr>
          <p:cNvPr id="21" name="dashboard to pipeline"/>
          <p:cNvSpPr/>
          <p:nvPr/>
        </p:nvSpPr>
        <p:spPr>
          <a:xfrm>
            <a:off x="6095848" y="1938528"/>
            <a:ext cx="0" cy="301752"/>
          </a:xfrm>
          <a:prstGeom prst="line">
            <a:avLst/>
          </a:prstGeom>
          <a:noFill/>
          <a:ln w="25400">
            <a:solidFill>
              <a:srgbClr val="5B6478"/>
            </a:solidFill>
            <a:prstDash val="solid"/>
            <a:headEnd type="triangle"/>
            <a:tailEnd type="triangle"/>
          </a:ln>
        </p:spPr>
      </p:sp>
      <p:sp>
        <p:nvSpPr>
          <p:cNvPr id="22" name="module 1"/>
          <p:cNvSpPr/>
          <p:nvPr/>
        </p:nvSpPr>
        <p:spPr>
          <a:xfrm>
            <a:off x="3200400" y="2286000"/>
            <a:ext cx="1276274" cy="1645920"/>
          </a:xfrm>
          <a:prstGeom prst="roundRect">
            <a:avLst>
              <a:gd name="adj" fmla="val 7165"/>
            </a:avLst>
          </a:prstGeom>
          <a:solidFill>
            <a:schemeClr val="bg1"/>
          </a:solidFill>
          <a:ln w="15875">
            <a:solidFill>
              <a:srgbClr val="6D5BD0"/>
            </a:solidFill>
            <a:prstDash val="solid"/>
          </a:ln>
        </p:spPr>
      </p:sp>
      <p:pic>
        <p:nvPicPr>
          <p:cNvPr id="23" name="module icon 1" descr="preencoded.png">    </p:cNvPr>
          <p:cNvPicPr>
            <a:picLocks noChangeAspect="1"/>
          </p:cNvPicPr>
          <p:nvPr/>
        </p:nvPicPr>
        <p:blipFill>
          <a:blip r:embed="rId5"/>
          <a:stretch>
            <a:fillRect/>
          </a:stretch>
        </p:blipFill>
        <p:spPr>
          <a:xfrm>
            <a:off x="3609937" y="2395728"/>
            <a:ext cx="457200" cy="457200"/>
          </a:xfrm>
          <a:prstGeom prst="rect">
            <a:avLst/>
          </a:prstGeom>
        </p:spPr>
      </p:pic>
      <p:sp>
        <p:nvSpPr>
          <p:cNvPr id="24" name="Text 17"/>
          <p:cNvSpPr txBox="1"/>
          <p:nvPr/>
        </p:nvSpPr>
        <p:spPr>
          <a:xfrm>
            <a:off x="3255264" y="2852928"/>
            <a:ext cx="1166546" cy="502920"/>
          </a:xfrm>
          <a:prstGeom prst="rect">
            <a:avLst/>
          </a:prstGeom>
          <a:noFill/>
          <a:ln/>
        </p:spPr>
        <p:txBody>
          <a:bodyPr wrap="square" lIns="0" tIns="0" rIns="0" bIns="0" rtlCol="0" anchor="ctr"/>
          <a:lstStyle/>
          <a:p>
            <a:pPr algn="ctr" indent="0" marL="0">
              <a:buNone/>
            </a:pPr>
            <a:r>
              <a:rPr lang="en-US" sz="1200" b="1" dirty="0">
                <a:solidFill>
                  <a:schemeClr val="tx1"/>
                </a:solidFill>
              </a:rPr>
              <a:t>Evidence intake</a:t>
            </a:r>
            <a:endParaRPr lang="en-US" sz="1200" dirty="0"/>
          </a:p>
        </p:txBody>
      </p:sp>
      <p:sp>
        <p:nvSpPr>
          <p:cNvPr id="25" name="Text 18"/>
          <p:cNvSpPr txBox="1"/>
          <p:nvPr/>
        </p:nvSpPr>
        <p:spPr>
          <a:xfrm>
            <a:off x="3255264" y="3383280"/>
            <a:ext cx="1166546" cy="502920"/>
          </a:xfrm>
          <a:prstGeom prst="rect">
            <a:avLst/>
          </a:prstGeom>
          <a:noFill/>
          <a:ln/>
        </p:spPr>
        <p:txBody>
          <a:bodyPr wrap="square" lIns="0" tIns="0" rIns="0" bIns="0" rtlCol="0" anchor="t"/>
          <a:lstStyle/>
          <a:p>
            <a:pPr algn="ctr" indent="0" marL="0">
              <a:buNone/>
            </a:pPr>
            <a:r>
              <a:rPr lang="en-US" sz="1000" dirty="0">
                <a:solidFill>
                  <a:schemeClr val="tx2"/>
                </a:solidFill>
              </a:rPr>
              <a:t>case no., analyst, time · evidence ID</a:t>
            </a:r>
            <a:endParaRPr lang="en-US" sz="1000" dirty="0"/>
          </a:p>
        </p:txBody>
      </p:sp>
      <p:sp>
        <p:nvSpPr>
          <p:cNvPr id="26" name="pipeline arrow 1"/>
          <p:cNvSpPr/>
          <p:nvPr/>
        </p:nvSpPr>
        <p:spPr>
          <a:xfrm>
            <a:off x="4494962" y="3063240"/>
            <a:ext cx="192024" cy="0"/>
          </a:xfrm>
          <a:prstGeom prst="line">
            <a:avLst/>
          </a:prstGeom>
          <a:noFill/>
          <a:ln w="25400">
            <a:solidFill>
              <a:srgbClr val="5B6478"/>
            </a:solidFill>
            <a:prstDash val="solid"/>
            <a:tailEnd type="triangle"/>
          </a:ln>
        </p:spPr>
      </p:sp>
      <p:sp>
        <p:nvSpPr>
          <p:cNvPr id="27" name="module 2"/>
          <p:cNvSpPr/>
          <p:nvPr/>
        </p:nvSpPr>
        <p:spPr>
          <a:xfrm>
            <a:off x="4705274" y="2286000"/>
            <a:ext cx="1276274" cy="1645920"/>
          </a:xfrm>
          <a:prstGeom prst="roundRect">
            <a:avLst>
              <a:gd name="adj" fmla="val 7165"/>
            </a:avLst>
          </a:prstGeom>
          <a:solidFill>
            <a:schemeClr val="bg1"/>
          </a:solidFill>
          <a:ln w="15875">
            <a:solidFill>
              <a:srgbClr val="2563EB"/>
            </a:solidFill>
            <a:prstDash val="solid"/>
          </a:ln>
        </p:spPr>
      </p:sp>
      <p:pic>
        <p:nvPicPr>
          <p:cNvPr id="28" name="module icon 2" descr="preencoded.png">    </p:cNvPr>
          <p:cNvPicPr>
            <a:picLocks noChangeAspect="1"/>
          </p:cNvPicPr>
          <p:nvPr/>
        </p:nvPicPr>
        <p:blipFill>
          <a:blip r:embed="rId6"/>
          <a:stretch>
            <a:fillRect/>
          </a:stretch>
        </p:blipFill>
        <p:spPr>
          <a:xfrm>
            <a:off x="5114811" y="2395728"/>
            <a:ext cx="457200" cy="457200"/>
          </a:xfrm>
          <a:prstGeom prst="rect">
            <a:avLst/>
          </a:prstGeom>
        </p:spPr>
      </p:pic>
      <p:sp>
        <p:nvSpPr>
          <p:cNvPr id="29" name="Text 21"/>
          <p:cNvSpPr txBox="1"/>
          <p:nvPr/>
        </p:nvSpPr>
        <p:spPr>
          <a:xfrm>
            <a:off x="4760138" y="2852928"/>
            <a:ext cx="1166546" cy="502920"/>
          </a:xfrm>
          <a:prstGeom prst="rect">
            <a:avLst/>
          </a:prstGeom>
          <a:noFill/>
          <a:ln/>
        </p:spPr>
        <p:txBody>
          <a:bodyPr wrap="square" lIns="0" tIns="0" rIns="0" bIns="0" rtlCol="0" anchor="ctr"/>
          <a:lstStyle/>
          <a:p>
            <a:pPr algn="ctr" indent="0" marL="0">
              <a:buNone/>
            </a:pPr>
            <a:r>
              <a:rPr lang="en-US" sz="1200" b="1" dirty="0">
                <a:solidFill>
                  <a:schemeClr val="tx1"/>
                </a:solidFill>
              </a:rPr>
              <a:t>Feature extraction</a:t>
            </a:r>
            <a:endParaRPr lang="en-US" sz="1200" dirty="0"/>
          </a:p>
        </p:txBody>
      </p:sp>
      <p:sp>
        <p:nvSpPr>
          <p:cNvPr id="30" name="Text 22"/>
          <p:cNvSpPr txBox="1"/>
          <p:nvPr/>
        </p:nvSpPr>
        <p:spPr>
          <a:xfrm>
            <a:off x="4760138" y="3383280"/>
            <a:ext cx="1166546" cy="502920"/>
          </a:xfrm>
          <a:prstGeom prst="rect">
            <a:avLst/>
          </a:prstGeom>
          <a:noFill/>
          <a:ln/>
        </p:spPr>
        <p:txBody>
          <a:bodyPr wrap="square" lIns="0" tIns="0" rIns="0" bIns="0" rtlCol="0" anchor="t"/>
          <a:lstStyle/>
          <a:p>
            <a:pPr algn="ctr" indent="0" marL="0">
              <a:buNone/>
            </a:pPr>
            <a:r>
              <a:rPr lang="en-US" sz="1000" dirty="0">
                <a:solidFill>
                  <a:schemeClr val="tx2"/>
                </a:solidFill>
              </a:rPr>
              <a:t>Volatility 3 · 9 plugins → 55 features</a:t>
            </a:r>
            <a:endParaRPr lang="en-US" sz="1000" dirty="0"/>
          </a:p>
        </p:txBody>
      </p:sp>
      <p:sp>
        <p:nvSpPr>
          <p:cNvPr id="31" name="pipeline arrow 2"/>
          <p:cNvSpPr/>
          <p:nvPr/>
        </p:nvSpPr>
        <p:spPr>
          <a:xfrm>
            <a:off x="5999836" y="3063240"/>
            <a:ext cx="192024" cy="0"/>
          </a:xfrm>
          <a:prstGeom prst="line">
            <a:avLst/>
          </a:prstGeom>
          <a:noFill/>
          <a:ln w="25400">
            <a:solidFill>
              <a:srgbClr val="5B6478"/>
            </a:solidFill>
            <a:prstDash val="solid"/>
            <a:tailEnd type="triangle"/>
          </a:ln>
        </p:spPr>
      </p:sp>
      <p:sp>
        <p:nvSpPr>
          <p:cNvPr id="32" name="module 3"/>
          <p:cNvSpPr/>
          <p:nvPr/>
        </p:nvSpPr>
        <p:spPr>
          <a:xfrm>
            <a:off x="6210148" y="2286000"/>
            <a:ext cx="1276274" cy="1645920"/>
          </a:xfrm>
          <a:prstGeom prst="roundRect">
            <a:avLst>
              <a:gd name="adj" fmla="val 7165"/>
            </a:avLst>
          </a:prstGeom>
          <a:solidFill>
            <a:schemeClr val="bg1"/>
          </a:solidFill>
          <a:ln w="15875">
            <a:solidFill>
              <a:srgbClr val="DC2626"/>
            </a:solidFill>
            <a:prstDash val="solid"/>
          </a:ln>
        </p:spPr>
      </p:sp>
      <p:pic>
        <p:nvPicPr>
          <p:cNvPr id="33" name="module icon 3" descr="preencoded.png">    </p:cNvPr>
          <p:cNvPicPr>
            <a:picLocks noChangeAspect="1"/>
          </p:cNvPicPr>
          <p:nvPr/>
        </p:nvPicPr>
        <p:blipFill>
          <a:blip r:embed="rId7"/>
          <a:stretch>
            <a:fillRect/>
          </a:stretch>
        </p:blipFill>
        <p:spPr>
          <a:xfrm>
            <a:off x="6619685" y="2395728"/>
            <a:ext cx="457200" cy="457200"/>
          </a:xfrm>
          <a:prstGeom prst="rect">
            <a:avLst/>
          </a:prstGeom>
        </p:spPr>
      </p:pic>
      <p:sp>
        <p:nvSpPr>
          <p:cNvPr id="34" name="Text 25"/>
          <p:cNvSpPr txBox="1"/>
          <p:nvPr/>
        </p:nvSpPr>
        <p:spPr>
          <a:xfrm>
            <a:off x="6265012" y="2852928"/>
            <a:ext cx="1166546" cy="502920"/>
          </a:xfrm>
          <a:prstGeom prst="rect">
            <a:avLst/>
          </a:prstGeom>
          <a:noFill/>
          <a:ln/>
        </p:spPr>
        <p:txBody>
          <a:bodyPr wrap="square" lIns="0" tIns="0" rIns="0" bIns="0" rtlCol="0" anchor="ctr"/>
          <a:lstStyle/>
          <a:p>
            <a:pPr algn="ctr" indent="0" marL="0">
              <a:buNone/>
            </a:pPr>
            <a:r>
              <a:rPr lang="en-US" sz="1200" b="1" dirty="0">
                <a:solidFill>
                  <a:schemeClr val="tx1"/>
                </a:solidFill>
              </a:rPr>
              <a:t>Detection engine</a:t>
            </a:r>
            <a:endParaRPr lang="en-US" sz="1200" dirty="0"/>
          </a:p>
        </p:txBody>
      </p:sp>
      <p:sp>
        <p:nvSpPr>
          <p:cNvPr id="35" name="Text 26"/>
          <p:cNvSpPr txBox="1"/>
          <p:nvPr/>
        </p:nvSpPr>
        <p:spPr>
          <a:xfrm>
            <a:off x="6265012" y="3383280"/>
            <a:ext cx="1166546" cy="502920"/>
          </a:xfrm>
          <a:prstGeom prst="rect">
            <a:avLst/>
          </a:prstGeom>
          <a:noFill/>
          <a:ln/>
        </p:spPr>
        <p:txBody>
          <a:bodyPr wrap="square" lIns="0" tIns="0" rIns="0" bIns="0" rtlCol="0" anchor="t"/>
          <a:lstStyle/>
          <a:p>
            <a:pPr algn="ctr" indent="0" marL="0">
              <a:buNone/>
            </a:pPr>
            <a:r>
              <a:rPr lang="en-US" sz="1000" dirty="0">
                <a:solidFill>
                  <a:schemeClr val="tx2"/>
                </a:solidFill>
              </a:rPr>
              <a:t>Random Forest + Isolation Forest</a:t>
            </a:r>
            <a:endParaRPr lang="en-US" sz="1000" dirty="0"/>
          </a:p>
        </p:txBody>
      </p:sp>
      <p:sp>
        <p:nvSpPr>
          <p:cNvPr id="36" name="pipeline arrow 3"/>
          <p:cNvSpPr/>
          <p:nvPr/>
        </p:nvSpPr>
        <p:spPr>
          <a:xfrm>
            <a:off x="7504709" y="3063240"/>
            <a:ext cx="192024" cy="0"/>
          </a:xfrm>
          <a:prstGeom prst="line">
            <a:avLst/>
          </a:prstGeom>
          <a:noFill/>
          <a:ln w="25400">
            <a:solidFill>
              <a:srgbClr val="5B6478"/>
            </a:solidFill>
            <a:prstDash val="solid"/>
            <a:tailEnd type="triangle"/>
          </a:ln>
        </p:spPr>
      </p:sp>
      <p:sp>
        <p:nvSpPr>
          <p:cNvPr id="37" name="module 4"/>
          <p:cNvSpPr/>
          <p:nvPr/>
        </p:nvSpPr>
        <p:spPr>
          <a:xfrm>
            <a:off x="7715021" y="2286000"/>
            <a:ext cx="1276274" cy="1645920"/>
          </a:xfrm>
          <a:prstGeom prst="roundRect">
            <a:avLst>
              <a:gd name="adj" fmla="val 7165"/>
            </a:avLst>
          </a:prstGeom>
          <a:solidFill>
            <a:schemeClr val="bg1"/>
          </a:solidFill>
          <a:ln w="15875">
            <a:solidFill>
              <a:srgbClr val="D97706"/>
            </a:solidFill>
            <a:prstDash val="solid"/>
          </a:ln>
        </p:spPr>
      </p:sp>
      <p:pic>
        <p:nvPicPr>
          <p:cNvPr id="38" name="module icon 4" descr="preencoded.png">    </p:cNvPr>
          <p:cNvPicPr>
            <a:picLocks noChangeAspect="1"/>
          </p:cNvPicPr>
          <p:nvPr/>
        </p:nvPicPr>
        <p:blipFill>
          <a:blip r:embed="rId8"/>
          <a:stretch>
            <a:fillRect/>
          </a:stretch>
        </p:blipFill>
        <p:spPr>
          <a:xfrm>
            <a:off x="8124558" y="2395728"/>
            <a:ext cx="457200" cy="457200"/>
          </a:xfrm>
          <a:prstGeom prst="rect">
            <a:avLst/>
          </a:prstGeom>
        </p:spPr>
      </p:pic>
      <p:sp>
        <p:nvSpPr>
          <p:cNvPr id="39" name="Text 29"/>
          <p:cNvSpPr txBox="1"/>
          <p:nvPr/>
        </p:nvSpPr>
        <p:spPr>
          <a:xfrm>
            <a:off x="7769885" y="2852928"/>
            <a:ext cx="1166546" cy="502920"/>
          </a:xfrm>
          <a:prstGeom prst="rect">
            <a:avLst/>
          </a:prstGeom>
          <a:noFill/>
          <a:ln/>
        </p:spPr>
        <p:txBody>
          <a:bodyPr wrap="square" lIns="0" tIns="0" rIns="0" bIns="0" rtlCol="0" anchor="ctr"/>
          <a:lstStyle/>
          <a:p>
            <a:pPr algn="ctr" indent="0" marL="0">
              <a:buNone/>
            </a:pPr>
            <a:r>
              <a:rPr lang="en-US" sz="1200" b="1" dirty="0">
                <a:solidFill>
                  <a:schemeClr val="tx1"/>
                </a:solidFill>
              </a:rPr>
              <a:t>Explainable AI</a:t>
            </a:r>
            <a:endParaRPr lang="en-US" sz="1200" dirty="0"/>
          </a:p>
        </p:txBody>
      </p:sp>
      <p:sp>
        <p:nvSpPr>
          <p:cNvPr id="40" name="Text 30"/>
          <p:cNvSpPr txBox="1"/>
          <p:nvPr/>
        </p:nvSpPr>
        <p:spPr>
          <a:xfrm>
            <a:off x="7769885" y="3383280"/>
            <a:ext cx="1166546" cy="502920"/>
          </a:xfrm>
          <a:prstGeom prst="rect">
            <a:avLst/>
          </a:prstGeom>
          <a:noFill/>
          <a:ln/>
        </p:spPr>
        <p:txBody>
          <a:bodyPr wrap="square" lIns="0" tIns="0" rIns="0" bIns="0" rtlCol="0" anchor="t"/>
          <a:lstStyle/>
          <a:p>
            <a:pPr algn="ctr" indent="0" marL="0">
              <a:buNone/>
            </a:pPr>
            <a:r>
              <a:rPr lang="en-US" sz="1000" dirty="0">
                <a:solidFill>
                  <a:schemeClr val="tx2"/>
                </a:solidFill>
              </a:rPr>
              <a:t>SHAP + LIME · plain English</a:t>
            </a:r>
            <a:endParaRPr lang="en-US" sz="1000" dirty="0"/>
          </a:p>
        </p:txBody>
      </p:sp>
      <p:sp>
        <p:nvSpPr>
          <p:cNvPr id="41" name="integrity layer"/>
          <p:cNvSpPr/>
          <p:nvPr/>
        </p:nvSpPr>
        <p:spPr>
          <a:xfrm>
            <a:off x="3200400" y="4069080"/>
            <a:ext cx="5790895" cy="685800"/>
          </a:xfrm>
          <a:prstGeom prst="roundRect">
            <a:avLst>
              <a:gd name="adj" fmla="val 13333"/>
            </a:avLst>
          </a:prstGeom>
          <a:solidFill>
            <a:srgbClr val="DCFCE7"/>
          </a:solidFill>
          <a:ln w="15875">
            <a:solidFill>
              <a:srgbClr val="16A34A"/>
            </a:solidFill>
            <a:prstDash val="solid"/>
          </a:ln>
        </p:spPr>
      </p:sp>
      <p:pic>
        <p:nvPicPr>
          <p:cNvPr id="42" name="integrity icon" descr="preencoded.png">    </p:cNvPr>
          <p:cNvPicPr>
            <a:picLocks noChangeAspect="1"/>
          </p:cNvPicPr>
          <p:nvPr/>
        </p:nvPicPr>
        <p:blipFill>
          <a:blip r:embed="rId9"/>
          <a:stretch>
            <a:fillRect/>
          </a:stretch>
        </p:blipFill>
        <p:spPr>
          <a:xfrm>
            <a:off x="3383280" y="4187952"/>
            <a:ext cx="438912" cy="438912"/>
          </a:xfrm>
          <a:prstGeom prst="rect">
            <a:avLst/>
          </a:prstGeom>
        </p:spPr>
      </p:pic>
      <p:sp>
        <p:nvSpPr>
          <p:cNvPr id="43" name="Text 32"/>
          <p:cNvSpPr txBox="1"/>
          <p:nvPr/>
        </p:nvSpPr>
        <p:spPr>
          <a:xfrm>
            <a:off x="3931920" y="4069080"/>
            <a:ext cx="4876495" cy="685800"/>
          </a:xfrm>
          <a:prstGeom prst="rect">
            <a:avLst/>
          </a:prstGeom>
          <a:noFill/>
          <a:ln/>
        </p:spPr>
        <p:txBody>
          <a:bodyPr wrap="square" lIns="0" tIns="0" rIns="0" bIns="0" rtlCol="0" anchor="ctr"/>
          <a:lstStyle/>
          <a:p>
            <a:pPr indent="0" marL="0">
              <a:buNone/>
            </a:pPr>
            <a:r>
              <a:rPr lang="en-US" sz="1200" b="1" dirty="0">
                <a:solidFill>
                  <a:srgbClr val="166534"/>
                </a:solidFill>
              </a:rPr>
              <a:t>Evidence integrity &amp; chain of custody  </a:t>
            </a:r>
            <a:pPr indent="0" marL="0">
              <a:buNone/>
            </a:pPr>
            <a:r>
              <a:rPr lang="en-US" sz="1200" dirty="0">
                <a:solidFill>
                  <a:schemeClr val="tx1"/>
                </a:solidFill>
              </a:rPr>
              <a:t>SHA-256 + MD5 re-checked at 9 stages · mismatch blocks analysis</a:t>
            </a:r>
            <a:endParaRPr lang="en-US" sz="1200" dirty="0"/>
          </a:p>
        </p:txBody>
      </p:sp>
      <p:sp>
        <p:nvSpPr>
          <p:cNvPr id="44" name="store 1"/>
          <p:cNvSpPr/>
          <p:nvPr/>
        </p:nvSpPr>
        <p:spPr>
          <a:xfrm>
            <a:off x="3200400" y="4983480"/>
            <a:ext cx="1777898" cy="1143000"/>
          </a:xfrm>
          <a:prstGeom prst="roundRect">
            <a:avLst>
              <a:gd name="adj" fmla="val 8000"/>
            </a:avLst>
          </a:prstGeom>
          <a:solidFill>
            <a:schemeClr val="bg2"/>
          </a:solidFill>
          <a:ln w="15875">
            <a:solidFill>
              <a:schemeClr val="bg2"/>
            </a:solidFill>
            <a:prstDash val="solid"/>
          </a:ln>
        </p:spPr>
      </p:sp>
      <p:pic>
        <p:nvPicPr>
          <p:cNvPr id="45" name="store icon 1" descr="preencoded.png">    </p:cNvPr>
          <p:cNvPicPr>
            <a:picLocks noChangeAspect="1"/>
          </p:cNvPicPr>
          <p:nvPr/>
        </p:nvPicPr>
        <p:blipFill>
          <a:blip r:embed="rId10"/>
          <a:stretch>
            <a:fillRect/>
          </a:stretch>
        </p:blipFill>
        <p:spPr>
          <a:xfrm>
            <a:off x="3364992" y="5120640"/>
            <a:ext cx="384048" cy="384048"/>
          </a:xfrm>
          <a:prstGeom prst="rect">
            <a:avLst/>
          </a:prstGeom>
        </p:spPr>
      </p:pic>
      <p:sp>
        <p:nvSpPr>
          <p:cNvPr id="46" name="Text 34"/>
          <p:cNvSpPr txBox="1"/>
          <p:nvPr/>
        </p:nvSpPr>
        <p:spPr>
          <a:xfrm>
            <a:off x="3886200" y="5120640"/>
            <a:ext cx="954938" cy="365760"/>
          </a:xfrm>
          <a:prstGeom prst="rect">
            <a:avLst/>
          </a:prstGeom>
          <a:noFill/>
          <a:ln/>
        </p:spPr>
        <p:txBody>
          <a:bodyPr wrap="square" lIns="0" tIns="0" rIns="0" bIns="0" rtlCol="0" anchor="ctr"/>
          <a:lstStyle/>
          <a:p>
            <a:pPr indent="0" marL="0">
              <a:buNone/>
            </a:pPr>
            <a:r>
              <a:rPr lang="en-US" sz="1300" b="1" dirty="0">
                <a:solidFill>
                  <a:schemeClr val="tx1"/>
                </a:solidFill>
              </a:rPr>
              <a:t>Trained models</a:t>
            </a:r>
            <a:endParaRPr lang="en-US" sz="1300" dirty="0"/>
          </a:p>
        </p:txBody>
      </p:sp>
      <p:sp>
        <p:nvSpPr>
          <p:cNvPr id="47" name="Text 35"/>
          <p:cNvSpPr txBox="1"/>
          <p:nvPr/>
        </p:nvSpPr>
        <p:spPr>
          <a:xfrm>
            <a:off x="3364992" y="5596128"/>
            <a:ext cx="1503578" cy="411480"/>
          </a:xfrm>
          <a:prstGeom prst="rect">
            <a:avLst/>
          </a:prstGeom>
          <a:noFill/>
          <a:ln/>
        </p:spPr>
        <p:txBody>
          <a:bodyPr wrap="square" lIns="0" tIns="0" rIns="0" bIns="0" rtlCol="0" anchor="t"/>
          <a:lstStyle/>
          <a:p>
            <a:pPr indent="0" marL="0">
              <a:buNone/>
            </a:pPr>
            <a:r>
              <a:rPr lang="en-US" sz="1100" dirty="0">
                <a:solidFill>
                  <a:schemeClr val="tx2"/>
                </a:solidFill>
              </a:rPr>
              <a:t>models/*.pkl</a:t>
            </a:r>
            <a:endParaRPr lang="en-US" sz="1100" dirty="0"/>
          </a:p>
        </p:txBody>
      </p:sp>
      <p:sp>
        <p:nvSpPr>
          <p:cNvPr id="48" name="store 2"/>
          <p:cNvSpPr/>
          <p:nvPr/>
        </p:nvSpPr>
        <p:spPr>
          <a:xfrm>
            <a:off x="5206898" y="4983480"/>
            <a:ext cx="1777898" cy="1143000"/>
          </a:xfrm>
          <a:prstGeom prst="roundRect">
            <a:avLst>
              <a:gd name="adj" fmla="val 8000"/>
            </a:avLst>
          </a:prstGeom>
          <a:solidFill>
            <a:schemeClr val="bg2"/>
          </a:solidFill>
          <a:ln w="15875">
            <a:solidFill>
              <a:schemeClr val="bg2"/>
            </a:solidFill>
            <a:prstDash val="solid"/>
          </a:ln>
        </p:spPr>
      </p:sp>
      <p:pic>
        <p:nvPicPr>
          <p:cNvPr id="49" name="store icon 2" descr="preencoded.png">    </p:cNvPr>
          <p:cNvPicPr>
            <a:picLocks noChangeAspect="1"/>
          </p:cNvPicPr>
          <p:nvPr/>
        </p:nvPicPr>
        <p:blipFill>
          <a:blip r:embed="rId11"/>
          <a:stretch>
            <a:fillRect/>
          </a:stretch>
        </p:blipFill>
        <p:spPr>
          <a:xfrm>
            <a:off x="5371490" y="5120640"/>
            <a:ext cx="384048" cy="384048"/>
          </a:xfrm>
          <a:prstGeom prst="rect">
            <a:avLst/>
          </a:prstGeom>
        </p:spPr>
      </p:pic>
      <p:sp>
        <p:nvSpPr>
          <p:cNvPr id="50" name="Text 37"/>
          <p:cNvSpPr txBox="1"/>
          <p:nvPr/>
        </p:nvSpPr>
        <p:spPr>
          <a:xfrm>
            <a:off x="5892698" y="5120640"/>
            <a:ext cx="954938" cy="365760"/>
          </a:xfrm>
          <a:prstGeom prst="rect">
            <a:avLst/>
          </a:prstGeom>
          <a:noFill/>
          <a:ln/>
        </p:spPr>
        <p:txBody>
          <a:bodyPr wrap="square" lIns="0" tIns="0" rIns="0" bIns="0" rtlCol="0" anchor="ctr"/>
          <a:lstStyle/>
          <a:p>
            <a:pPr indent="0" marL="0">
              <a:buNone/>
            </a:pPr>
            <a:r>
              <a:rPr lang="en-US" sz="1300" b="1" dirty="0">
                <a:solidFill>
                  <a:schemeClr val="tx1"/>
                </a:solidFill>
              </a:rPr>
              <a:t>Case records</a:t>
            </a:r>
            <a:endParaRPr lang="en-US" sz="1300" dirty="0"/>
          </a:p>
        </p:txBody>
      </p:sp>
      <p:sp>
        <p:nvSpPr>
          <p:cNvPr id="51" name="Text 38"/>
          <p:cNvSpPr txBox="1"/>
          <p:nvPr/>
        </p:nvSpPr>
        <p:spPr>
          <a:xfrm>
            <a:off x="5371490" y="5596128"/>
            <a:ext cx="1503578" cy="411480"/>
          </a:xfrm>
          <a:prstGeom prst="rect">
            <a:avLst/>
          </a:prstGeom>
          <a:noFill/>
          <a:ln/>
        </p:spPr>
        <p:txBody>
          <a:bodyPr wrap="square" lIns="0" tIns="0" rIns="0" bIns="0" rtlCol="0" anchor="t"/>
          <a:lstStyle/>
          <a:p>
            <a:pPr indent="0" marL="0">
              <a:buNone/>
            </a:pPr>
            <a:r>
              <a:rPr lang="en-US" sz="1100" dirty="0">
                <a:solidFill>
                  <a:schemeClr val="tx2"/>
                </a:solidFill>
              </a:rPr>
              <a:t>case.json · custody manifest</a:t>
            </a:r>
            <a:endParaRPr lang="en-US" sz="1100" dirty="0"/>
          </a:p>
        </p:txBody>
      </p:sp>
      <p:sp>
        <p:nvSpPr>
          <p:cNvPr id="52" name="store 3"/>
          <p:cNvSpPr/>
          <p:nvPr/>
        </p:nvSpPr>
        <p:spPr>
          <a:xfrm>
            <a:off x="7213397" y="4983480"/>
            <a:ext cx="1777898" cy="1143000"/>
          </a:xfrm>
          <a:prstGeom prst="roundRect">
            <a:avLst>
              <a:gd name="adj" fmla="val 8000"/>
            </a:avLst>
          </a:prstGeom>
          <a:solidFill>
            <a:schemeClr val="bg2"/>
          </a:solidFill>
          <a:ln w="15875">
            <a:solidFill>
              <a:schemeClr val="bg2"/>
            </a:solidFill>
            <a:prstDash val="solid"/>
          </a:ln>
        </p:spPr>
      </p:sp>
      <p:pic>
        <p:nvPicPr>
          <p:cNvPr id="53" name="store icon 3" descr="preencoded.png">    </p:cNvPr>
          <p:cNvPicPr>
            <a:picLocks noChangeAspect="1"/>
          </p:cNvPicPr>
          <p:nvPr/>
        </p:nvPicPr>
        <p:blipFill>
          <a:blip r:embed="rId12"/>
          <a:stretch>
            <a:fillRect/>
          </a:stretch>
        </p:blipFill>
        <p:spPr>
          <a:xfrm>
            <a:off x="7377989" y="5120640"/>
            <a:ext cx="384048" cy="384048"/>
          </a:xfrm>
          <a:prstGeom prst="rect">
            <a:avLst/>
          </a:prstGeom>
        </p:spPr>
      </p:pic>
      <p:sp>
        <p:nvSpPr>
          <p:cNvPr id="54" name="Text 40"/>
          <p:cNvSpPr txBox="1"/>
          <p:nvPr/>
        </p:nvSpPr>
        <p:spPr>
          <a:xfrm>
            <a:off x="7899197" y="5120640"/>
            <a:ext cx="954938" cy="365760"/>
          </a:xfrm>
          <a:prstGeom prst="rect">
            <a:avLst/>
          </a:prstGeom>
          <a:noFill/>
          <a:ln/>
        </p:spPr>
        <p:txBody>
          <a:bodyPr wrap="square" lIns="0" tIns="0" rIns="0" bIns="0" rtlCol="0" anchor="ctr"/>
          <a:lstStyle/>
          <a:p>
            <a:pPr indent="0" marL="0">
              <a:buNone/>
            </a:pPr>
            <a:r>
              <a:rPr lang="en-US" sz="1300" b="1" dirty="0">
                <a:solidFill>
                  <a:schemeClr val="tx1"/>
                </a:solidFill>
              </a:rPr>
              <a:t>Audit log</a:t>
            </a:r>
            <a:endParaRPr lang="en-US" sz="1300" dirty="0"/>
          </a:p>
        </p:txBody>
      </p:sp>
      <p:sp>
        <p:nvSpPr>
          <p:cNvPr id="55" name="Text 41"/>
          <p:cNvSpPr txBox="1"/>
          <p:nvPr/>
        </p:nvSpPr>
        <p:spPr>
          <a:xfrm>
            <a:off x="7377989" y="5596128"/>
            <a:ext cx="1503578" cy="411480"/>
          </a:xfrm>
          <a:prstGeom prst="rect">
            <a:avLst/>
          </a:prstGeom>
          <a:noFill/>
          <a:ln/>
        </p:spPr>
        <p:txBody>
          <a:bodyPr wrap="square" lIns="0" tIns="0" rIns="0" bIns="0" rtlCol="0" anchor="t"/>
          <a:lstStyle/>
          <a:p>
            <a:pPr indent="0" marL="0">
              <a:buNone/>
            </a:pPr>
            <a:r>
              <a:rPr lang="en-US" sz="1100" dirty="0">
                <a:solidFill>
                  <a:schemeClr val="tx2"/>
                </a:solidFill>
              </a:rPr>
              <a:t>logs/triage_audit.log</a:t>
            </a:r>
            <a:endParaRPr lang="en-US" sz="1100" dirty="0"/>
          </a:p>
        </p:txBody>
      </p:sp>
      <p:sp>
        <p:nvSpPr>
          <p:cNvPr id="56" name="integrity to storage"/>
          <p:cNvSpPr/>
          <p:nvPr/>
        </p:nvSpPr>
        <p:spPr>
          <a:xfrm>
            <a:off x="6095848" y="4773168"/>
            <a:ext cx="0" cy="192024"/>
          </a:xfrm>
          <a:prstGeom prst="line">
            <a:avLst/>
          </a:prstGeom>
          <a:noFill/>
          <a:ln w="25400">
            <a:solidFill>
              <a:srgbClr val="5B6478"/>
            </a:solidFill>
            <a:prstDash val="solid"/>
            <a:headEnd type="triangle"/>
            <a:tailEnd type="triangle"/>
          </a:ln>
        </p:spPr>
      </p:sp>
      <p:sp>
        <p:nvSpPr>
          <p:cNvPr id="57" name="outputs panel"/>
          <p:cNvSpPr/>
          <p:nvPr/>
        </p:nvSpPr>
        <p:spPr>
          <a:xfrm>
            <a:off x="9311335" y="1188720"/>
            <a:ext cx="2331720" cy="4937760"/>
          </a:xfrm>
          <a:prstGeom prst="roundRect">
            <a:avLst>
              <a:gd name="adj" fmla="val 3922"/>
            </a:avLst>
          </a:prstGeom>
          <a:solidFill>
            <a:schemeClr val="bg2"/>
          </a:solidFill>
          <a:ln w="15875">
            <a:solidFill>
              <a:schemeClr val="bg2"/>
            </a:solidFill>
            <a:prstDash val="solid"/>
          </a:ln>
        </p:spPr>
      </p:sp>
      <p:sp>
        <p:nvSpPr>
          <p:cNvPr id="58" name="Text 44"/>
          <p:cNvSpPr txBox="1"/>
          <p:nvPr/>
        </p:nvSpPr>
        <p:spPr>
          <a:xfrm>
            <a:off x="9494215" y="1298448"/>
            <a:ext cx="1965960" cy="274320"/>
          </a:xfrm>
          <a:prstGeom prst="rect">
            <a:avLst/>
          </a:prstGeom>
          <a:noFill/>
          <a:ln/>
        </p:spPr>
        <p:txBody>
          <a:bodyPr wrap="square" lIns="0" tIns="0" rIns="0" bIns="0" rtlCol="0" anchor="t"/>
          <a:lstStyle/>
          <a:p>
            <a:pPr indent="0" marL="0">
              <a:buNone/>
            </a:pPr>
            <a:r>
              <a:rPr lang="en-US" sz="1200" b="1" spc="200" kern="0" dirty="0">
                <a:solidFill>
                  <a:srgbClr val="5B6478"/>
                </a:solidFill>
              </a:rPr>
              <a:t>OUTPUTS</a:t>
            </a:r>
            <a:endParaRPr lang="en-US" sz="1200" dirty="0"/>
          </a:p>
        </p:txBody>
      </p:sp>
      <p:sp>
        <p:nvSpPr>
          <p:cNvPr id="59" name="output 1"/>
          <p:cNvSpPr/>
          <p:nvPr/>
        </p:nvSpPr>
        <p:spPr>
          <a:xfrm>
            <a:off x="9448495" y="1737360"/>
            <a:ext cx="2057400" cy="1234440"/>
          </a:xfrm>
          <a:prstGeom prst="roundRect">
            <a:avLst>
              <a:gd name="adj" fmla="val 7407"/>
            </a:avLst>
          </a:prstGeom>
          <a:solidFill>
            <a:schemeClr val="bg1"/>
          </a:solidFill>
          <a:ln w="15875">
            <a:solidFill>
              <a:srgbClr val="D6DCE6"/>
            </a:solidFill>
            <a:prstDash val="solid"/>
          </a:ln>
        </p:spPr>
      </p:sp>
      <p:pic>
        <p:nvPicPr>
          <p:cNvPr id="60" name="output icon 1" descr="preencoded.png">    </p:cNvPr>
          <p:cNvPicPr>
            <a:picLocks noChangeAspect="1"/>
          </p:cNvPicPr>
          <p:nvPr/>
        </p:nvPicPr>
        <p:blipFill>
          <a:blip r:embed="rId13"/>
          <a:stretch>
            <a:fillRect/>
          </a:stretch>
        </p:blipFill>
        <p:spPr>
          <a:xfrm>
            <a:off x="9585655" y="1901952"/>
            <a:ext cx="411480" cy="411480"/>
          </a:xfrm>
          <a:prstGeom prst="rect">
            <a:avLst/>
          </a:prstGeom>
        </p:spPr>
      </p:pic>
      <p:sp>
        <p:nvSpPr>
          <p:cNvPr id="61" name="Text 46"/>
          <p:cNvSpPr txBox="1"/>
          <p:nvPr/>
        </p:nvSpPr>
        <p:spPr>
          <a:xfrm>
            <a:off x="9585655" y="2377440"/>
            <a:ext cx="1783080" cy="292608"/>
          </a:xfrm>
          <a:prstGeom prst="rect">
            <a:avLst/>
          </a:prstGeom>
          <a:noFill/>
          <a:ln/>
        </p:spPr>
        <p:txBody>
          <a:bodyPr wrap="square" lIns="0" tIns="0" rIns="0" bIns="0" rtlCol="0" anchor="t"/>
          <a:lstStyle/>
          <a:p>
            <a:pPr indent="0" marL="0">
              <a:buNone/>
            </a:pPr>
            <a:r>
              <a:rPr lang="en-US" sz="1300" b="1" dirty="0">
                <a:solidFill>
                  <a:schemeClr val="tx1"/>
                </a:solidFill>
              </a:rPr>
              <a:t>Risk verdict</a:t>
            </a:r>
            <a:endParaRPr lang="en-US" sz="1300" dirty="0"/>
          </a:p>
        </p:txBody>
      </p:sp>
      <p:sp>
        <p:nvSpPr>
          <p:cNvPr id="62" name="Text 47"/>
          <p:cNvSpPr txBox="1"/>
          <p:nvPr/>
        </p:nvSpPr>
        <p:spPr>
          <a:xfrm>
            <a:off x="9585655" y="2633472"/>
            <a:ext cx="1783080" cy="292608"/>
          </a:xfrm>
          <a:prstGeom prst="rect">
            <a:avLst/>
          </a:prstGeom>
          <a:noFill/>
          <a:ln/>
        </p:spPr>
        <p:txBody>
          <a:bodyPr wrap="square" lIns="0" tIns="0" rIns="0" bIns="0" rtlCol="0" anchor="t"/>
          <a:lstStyle/>
          <a:p>
            <a:pPr indent="0" marL="0">
              <a:buNone/>
            </a:pPr>
            <a:r>
              <a:rPr lang="en-US" sz="1050" dirty="0">
                <a:solidFill>
                  <a:schemeClr val="tx2"/>
                </a:solidFill>
              </a:rPr>
              <a:t>malware score + risk level</a:t>
            </a:r>
            <a:endParaRPr lang="en-US" sz="1050" dirty="0"/>
          </a:p>
        </p:txBody>
      </p:sp>
      <p:sp>
        <p:nvSpPr>
          <p:cNvPr id="63" name="output 2"/>
          <p:cNvSpPr/>
          <p:nvPr/>
        </p:nvSpPr>
        <p:spPr>
          <a:xfrm>
            <a:off x="9448495" y="3154680"/>
            <a:ext cx="2057400" cy="1234440"/>
          </a:xfrm>
          <a:prstGeom prst="roundRect">
            <a:avLst>
              <a:gd name="adj" fmla="val 7407"/>
            </a:avLst>
          </a:prstGeom>
          <a:solidFill>
            <a:schemeClr val="bg1"/>
          </a:solidFill>
          <a:ln w="15875">
            <a:solidFill>
              <a:srgbClr val="D6DCE6"/>
            </a:solidFill>
            <a:prstDash val="solid"/>
          </a:ln>
        </p:spPr>
      </p:sp>
      <p:pic>
        <p:nvPicPr>
          <p:cNvPr id="64" name="output icon 2" descr="preencoded.png">    </p:cNvPr>
          <p:cNvPicPr>
            <a:picLocks noChangeAspect="1"/>
          </p:cNvPicPr>
          <p:nvPr/>
        </p:nvPicPr>
        <p:blipFill>
          <a:blip r:embed="rId14"/>
          <a:stretch>
            <a:fillRect/>
          </a:stretch>
        </p:blipFill>
        <p:spPr>
          <a:xfrm>
            <a:off x="9585655" y="3319272"/>
            <a:ext cx="411480" cy="411480"/>
          </a:xfrm>
          <a:prstGeom prst="rect">
            <a:avLst/>
          </a:prstGeom>
        </p:spPr>
      </p:pic>
      <p:sp>
        <p:nvSpPr>
          <p:cNvPr id="65" name="Text 49"/>
          <p:cNvSpPr txBox="1"/>
          <p:nvPr/>
        </p:nvSpPr>
        <p:spPr>
          <a:xfrm>
            <a:off x="9585655" y="3794760"/>
            <a:ext cx="1783080" cy="292608"/>
          </a:xfrm>
          <a:prstGeom prst="rect">
            <a:avLst/>
          </a:prstGeom>
          <a:noFill/>
          <a:ln/>
        </p:spPr>
        <p:txBody>
          <a:bodyPr wrap="square" lIns="0" tIns="0" rIns="0" bIns="0" rtlCol="0" anchor="t"/>
          <a:lstStyle/>
          <a:p>
            <a:pPr indent="0" marL="0">
              <a:buNone/>
            </a:pPr>
            <a:r>
              <a:rPr lang="en-US" sz="1300" b="1" dirty="0">
                <a:solidFill>
                  <a:schemeClr val="tx1"/>
                </a:solidFill>
              </a:rPr>
              <a:t>Explanation</a:t>
            </a:r>
            <a:endParaRPr lang="en-US" sz="1300" dirty="0"/>
          </a:p>
        </p:txBody>
      </p:sp>
      <p:sp>
        <p:nvSpPr>
          <p:cNvPr id="66" name="Text 50"/>
          <p:cNvSpPr txBox="1"/>
          <p:nvPr/>
        </p:nvSpPr>
        <p:spPr>
          <a:xfrm>
            <a:off x="9585655" y="4050792"/>
            <a:ext cx="1783080" cy="292608"/>
          </a:xfrm>
          <a:prstGeom prst="rect">
            <a:avLst/>
          </a:prstGeom>
          <a:noFill/>
          <a:ln/>
        </p:spPr>
        <p:txBody>
          <a:bodyPr wrap="square" lIns="0" tIns="0" rIns="0" bIns="0" rtlCol="0" anchor="t"/>
          <a:lstStyle/>
          <a:p>
            <a:pPr indent="0" marL="0">
              <a:buNone/>
            </a:pPr>
            <a:r>
              <a:rPr lang="en-US" sz="1050" dirty="0">
                <a:solidFill>
                  <a:schemeClr val="tx2"/>
                </a:solidFill>
              </a:rPr>
              <a:t>top reasons in plain English</a:t>
            </a:r>
            <a:endParaRPr lang="en-US" sz="1050" dirty="0"/>
          </a:p>
        </p:txBody>
      </p:sp>
      <p:sp>
        <p:nvSpPr>
          <p:cNvPr id="67" name="output 3"/>
          <p:cNvSpPr/>
          <p:nvPr/>
        </p:nvSpPr>
        <p:spPr>
          <a:xfrm>
            <a:off x="9448495" y="4572000"/>
            <a:ext cx="2057400" cy="1234440"/>
          </a:xfrm>
          <a:prstGeom prst="roundRect">
            <a:avLst>
              <a:gd name="adj" fmla="val 7407"/>
            </a:avLst>
          </a:prstGeom>
          <a:solidFill>
            <a:schemeClr val="bg1"/>
          </a:solidFill>
          <a:ln w="15875">
            <a:solidFill>
              <a:srgbClr val="D6DCE6"/>
            </a:solidFill>
            <a:prstDash val="solid"/>
          </a:ln>
        </p:spPr>
      </p:sp>
      <p:pic>
        <p:nvPicPr>
          <p:cNvPr id="68" name="output icon 3" descr="preencoded.png">    </p:cNvPr>
          <p:cNvPicPr>
            <a:picLocks noChangeAspect="1"/>
          </p:cNvPicPr>
          <p:nvPr/>
        </p:nvPicPr>
        <p:blipFill>
          <a:blip r:embed="rId15"/>
          <a:stretch>
            <a:fillRect/>
          </a:stretch>
        </p:blipFill>
        <p:spPr>
          <a:xfrm>
            <a:off x="9585655" y="4736592"/>
            <a:ext cx="411480" cy="411480"/>
          </a:xfrm>
          <a:prstGeom prst="rect">
            <a:avLst/>
          </a:prstGeom>
        </p:spPr>
      </p:pic>
      <p:sp>
        <p:nvSpPr>
          <p:cNvPr id="69" name="Text 52"/>
          <p:cNvSpPr txBox="1"/>
          <p:nvPr/>
        </p:nvSpPr>
        <p:spPr>
          <a:xfrm>
            <a:off x="9585655" y="5212080"/>
            <a:ext cx="1783080" cy="292608"/>
          </a:xfrm>
          <a:prstGeom prst="rect">
            <a:avLst/>
          </a:prstGeom>
          <a:noFill/>
          <a:ln/>
        </p:spPr>
        <p:txBody>
          <a:bodyPr wrap="square" lIns="0" tIns="0" rIns="0" bIns="0" rtlCol="0" anchor="t"/>
          <a:lstStyle/>
          <a:p>
            <a:pPr indent="0" marL="0">
              <a:buNone/>
            </a:pPr>
            <a:r>
              <a:rPr lang="en-US" sz="1300" b="1" dirty="0">
                <a:solidFill>
                  <a:schemeClr val="tx1"/>
                </a:solidFill>
              </a:rPr>
              <a:t>Sealed PDF report</a:t>
            </a:r>
            <a:endParaRPr lang="en-US" sz="1300" dirty="0"/>
          </a:p>
        </p:txBody>
      </p:sp>
      <p:sp>
        <p:nvSpPr>
          <p:cNvPr id="70" name="Text 53"/>
          <p:cNvSpPr txBox="1"/>
          <p:nvPr/>
        </p:nvSpPr>
        <p:spPr>
          <a:xfrm>
            <a:off x="9585655" y="5468112"/>
            <a:ext cx="1783080" cy="292608"/>
          </a:xfrm>
          <a:prstGeom prst="rect">
            <a:avLst/>
          </a:prstGeom>
          <a:noFill/>
          <a:ln/>
        </p:spPr>
        <p:txBody>
          <a:bodyPr wrap="square" lIns="0" tIns="0" rIns="0" bIns="0" rtlCol="0" anchor="t"/>
          <a:lstStyle/>
          <a:p>
            <a:pPr indent="0" marL="0">
              <a:buNone/>
            </a:pPr>
            <a:r>
              <a:rPr lang="en-US" sz="1050" dirty="0">
                <a:solidFill>
                  <a:schemeClr val="tx2"/>
                </a:solidFill>
              </a:rPr>
              <a:t>with its own hash</a:t>
            </a:r>
            <a:endParaRPr lang="en-US" sz="1050" dirty="0"/>
          </a:p>
        </p:txBody>
      </p:sp>
      <p:sp>
        <p:nvSpPr>
          <p:cNvPr id="71" name="pipeline to outputs"/>
          <p:cNvSpPr/>
          <p:nvPr/>
        </p:nvSpPr>
        <p:spPr>
          <a:xfrm>
            <a:off x="9009583" y="3063240"/>
            <a:ext cx="283464" cy="0"/>
          </a:xfrm>
          <a:prstGeom prst="line">
            <a:avLst/>
          </a:prstGeom>
          <a:noFill/>
          <a:ln w="25400">
            <a:solidFill>
              <a:srgbClr val="5B6478"/>
            </a:solidFill>
            <a:prstDash val="solid"/>
            <a:tailEnd type="triangle"/>
          </a:ln>
        </p:spPr>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778240" cy="1828800"/>
          </a:xfrm>
          <a:prstGeom prst="rect">
            <a:avLst/>
          </a:prstGeom>
          <a:noFill/>
          <a:ln/>
        </p:spPr>
        <p:txBody>
          <a:bodyPr wrap="square" rtlCol="0" anchor="b"/>
          <a:lstStyle/>
          <a:p>
            <a:pPr algn="l" indent="0" marL="0">
              <a:buNone/>
            </a:pPr>
            <a:r>
              <a:rPr lang="en-US" sz="4000" b="1" dirty="0">
                <a:solidFill>
                  <a:schemeClr val="bg1"/>
                </a:solidFill>
              </a:rPr>
              <a:t>Thank you</a:t>
            </a:r>
            <a:endParaRPr lang="en-US" sz="4000" dirty="0"/>
          </a:p>
        </p:txBody>
      </p:sp>
      <p:sp>
        <p:nvSpPr>
          <p:cNvPr id="3" name="Text 0"/>
          <p:cNvSpPr/>
          <p:nvPr>
            <p:ph idx="101" type="body" hasCustomPrompt="1"/>
          </p:nvPr>
        </p:nvSpPr>
        <p:spPr>
          <a:xfrm>
            <a:off x="548640" y="3840480"/>
            <a:ext cx="8778240" cy="914400"/>
          </a:xfrm>
          <a:prstGeom prst="rect">
            <a:avLst/>
          </a:prstGeom>
          <a:noFill/>
          <a:ln/>
        </p:spPr>
        <p:txBody>
          <a:bodyPr wrap="square" rtlCol="0" anchor="t"/>
          <a:lstStyle/>
          <a:p>
            <a:pPr indent="0" marL="0">
              <a:buNone/>
            </a:pPr>
            <a:r>
              <a:rPr lang="en-US" sz="1800" dirty="0">
                <a:solidFill>
                  <a:srgbClr val="A5F3FC"/>
                </a:solidFill>
              </a:rPr>
              <a:t>Questions are welcome</a:t>
            </a:r>
            <a:endParaRPr lang="en-US" sz="1800" dirty="0"/>
          </a:p>
        </p:txBody>
      </p:sp>
      <p:sp>
        <p:nvSpPr>
          <p:cNvPr id="4" name="Text 2"/>
          <p:cNvSpPr txBox="1"/>
          <p:nvPr/>
        </p:nvSpPr>
        <p:spPr>
          <a:xfrm>
            <a:off x="548640" y="5120640"/>
            <a:ext cx="8229600" cy="822960"/>
          </a:xfrm>
          <a:prstGeom prst="rect">
            <a:avLst/>
          </a:prstGeom>
          <a:noFill/>
          <a:ln/>
        </p:spPr>
        <p:txBody>
          <a:bodyPr wrap="square" lIns="0" tIns="0" rIns="0" bIns="0" rtlCol="0" anchor="t"/>
          <a:lstStyle/>
          <a:p>
            <a:pPr indent="0" marL="0">
              <a:buNone/>
            </a:pPr>
            <a:r>
              <a:rPr lang="en-US" sz="1500" b="1" dirty="0">
                <a:solidFill>
                  <a:schemeClr val="bg1"/>
                </a:solidFill>
              </a:rPr>
              <a:t>Abdullah Azwar  ·  COBSCEHNS24.2P-017</a:t>
            </a:r>
            <a:endParaRPr lang="en-US" sz="1500" dirty="0"/>
          </a:p>
          <a:p>
            <a:pPr indent="0" marL="0">
              <a:buNone/>
            </a:pPr>
            <a:r>
              <a:rPr lang="en-US" sz="1500" dirty="0">
                <a:solidFill>
                  <a:schemeClr val="bg1"/>
                </a:solidFill>
              </a:rPr>
              <a:t>Explainable AI-Based Memory Forensic Triage System</a:t>
            </a:r>
            <a:endParaRPr lang="en-US" sz="1500" dirty="0"/>
          </a:p>
        </p:txBody>
      </p:sp>
      <p:sp>
        <p:nvSpPr>
          <p:cNvPr id="5" name="questions circle"/>
          <p:cNvSpPr/>
          <p:nvPr/>
        </p:nvSpPr>
        <p:spPr>
          <a:xfrm>
            <a:off x="9692640" y="2103120"/>
            <a:ext cx="1828800" cy="1828800"/>
          </a:xfrm>
          <a:prstGeom prst="ellipse">
            <a:avLst/>
          </a:prstGeom>
          <a:solidFill>
            <a:srgbClr val="0891B2"/>
          </a:solidFill>
          <a:ln w="12700">
            <a:solidFill>
              <a:srgbClr val="0891B2"/>
            </a:solidFill>
            <a:prstDash val="solid"/>
          </a:ln>
        </p:spPr>
      </p:sp>
      <p:pic>
        <p:nvPicPr>
          <p:cNvPr id="6" name="questions icon" descr="preencoded.png">    </p:cNvPr>
          <p:cNvPicPr>
            <a:picLocks noChangeAspect="1"/>
          </p:cNvPicPr>
          <p:nvPr/>
        </p:nvPicPr>
        <p:blipFill>
          <a:blip r:embed="rId1"/>
          <a:stretch>
            <a:fillRect/>
          </a:stretch>
        </p:blipFill>
        <p:spPr>
          <a:xfrm>
            <a:off x="10149840" y="2560320"/>
            <a:ext cx="914400" cy="914400"/>
          </a:xfrm>
          <a:prstGeom prst="rect">
            <a:avLst/>
          </a:prstGeom>
        </p:spPr>
      </p:pic>
    </p:spTree>
  </p:cSld>
  <p:clrMapOvr>
    <a:masterClrMapping/>
  </p:clrMapOvr>
</p:sld>
</file>

<file path=ppt/theme/theme1.xml><?xml version="1.0" encoding="utf-8"?>
<a:theme xmlns:a="http://schemas.openxmlformats.org/drawingml/2006/main" name="Forensic Triage">
  <a:themeElements>
    <a:clrScheme name="Forensic Triage">
      <a:dk1>
        <a:srgbClr val="0F172A"/>
      </a:dk1>
      <a:lt1>
        <a:srgbClr val="FFFFFF"/>
      </a:lt1>
      <a:dk2>
        <a:srgbClr val="0B1F33"/>
      </a:dk2>
      <a:lt2>
        <a:srgbClr val="EEF3F8"/>
      </a:lt2>
      <a:accent1>
        <a:srgbClr val="0891B2"/>
      </a:accent1>
      <a:accent2>
        <a:srgbClr val="DC2626"/>
      </a:accent2>
      <a:accent3>
        <a:srgbClr val="16A34A"/>
      </a:accent3>
      <a:accent4>
        <a:srgbClr val="D97706"/>
      </a:accent4>
      <a:accent5>
        <a:srgbClr val="6D5BD0"/>
      </a:accent5>
      <a:accent6>
        <a:srgbClr val="2563EB"/>
      </a:accent6>
      <a:hlink>
        <a:srgbClr val="2563EB"/>
      </a:hlink>
      <a:folHlink>
        <a:srgbClr val="6D5BD0"/>
      </a:folHlink>
    </a:clrScheme>
    <a:fontScheme name="Forensic Triag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Explainable AI-Based Memory Forensic Triage System — Methodology</dc:title>
  <dc:subject>Final-year project viva — methodology</dc:subject>
  <dc:creator>Abdullah Azwar</dc:creator>
  <cp:lastModifiedBy>Abdullah Azwar</cp:lastModifiedBy>
  <cp:revision>1</cp:revision>
  <dcterms:created xsi:type="dcterms:W3CDTF">2026-10-12T08:00:21Z</dcterms:created>
  <dcterms:modified xsi:type="dcterms:W3CDTF">2026-10-12T08:00:21Z</dcterms:modified>
</cp:coreProperties>
</file>