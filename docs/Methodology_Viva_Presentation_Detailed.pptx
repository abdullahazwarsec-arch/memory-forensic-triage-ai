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d46c6f-3905-7256-c727-45cd18ed15c8}">
          <p14:sldIdLst>
            <p14:sldId id="256"/>
            <p14:sldId id="257"/>
          </p14:sldIdLst>
        </p14:section>
        <p14:section name="Methodology" id="{f962bdb0-fa8c-70ad-bfa9-a1aafe5ec7d7}">
          <p14:sldIdLst>
            <p14:sldId id="258"/>
            <p14:sldId id="259"/>
            <p14:sldId id="260"/>
            <p14:sldId id="261"/>
            <p14:sldId id="262"/>
            <p14:sldId id="263"/>
            <p14:sldId id="264"/>
            <p14:sldId id="265"/>
          </p14:sldIdLst>
        </p14:section>
        <p14:section name="Results" id="{24178d09-6dd5-c5a6-8cc4-74531744b1e6}">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Features per Volatility plugin</a:t>
            </a:r>
          </a:p>
        </c:rich>
      </c:tx>
      <c:layout/>
      <c:overlay val="0"/>
    </c:title>
    <c:autoTitleDeleted val="0"/>
    <c:plotArea>
      <c:layout/>
      <c:barChart>
        <c:barDir val="bar"/>
        <c:grouping val="clustered"/>
        <c:varyColors val="0"/>
        <c:ser>
          <c:idx val="0"/>
          <c:order val="0"/>
          <c:tx>
            <c:strRef>
              <c:f>Sheet1!$B$1</c:f>
              <c:strCache>
                <c:ptCount val="1"/>
                <c:pt idx="0">
                  <c:v>Features</c:v>
                </c:pt>
              </c:strCache>
            </c:strRef>
          </c:tx>
          <c:spPr>
            <a:solidFill>
              <a:srgbClr val="2563E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Sheet1!$A$2:$A$10</c:f>
              <c:multiLvlStrCache>
                <c:ptCount val="9"/>
                <c:lvl>
                  <c:pt idx="0">
                    <c:v>psxview</c:v>
                  </c:pt>
                  <c:pt idx="1">
                    <c:v>handles</c:v>
                  </c:pt>
                  <c:pt idx="2">
                    <c:v>svcscan</c:v>
                  </c:pt>
                  <c:pt idx="3">
                    <c:v>ldrmodules</c:v>
                  </c:pt>
                  <c:pt idx="4">
                    <c:v>pslist</c:v>
                  </c:pt>
                  <c:pt idx="5">
                    <c:v>malfind</c:v>
                  </c:pt>
                  <c:pt idx="6">
                    <c:v>callbacks</c:v>
                  </c:pt>
                  <c:pt idx="7">
                    <c:v>dlllist</c:v>
                  </c:pt>
                  <c:pt idx="8">
                    <c:v>modules</c:v>
                  </c:pt>
                </c:lvl>
              </c:multiLvlStrCache>
            </c:multiLvlStrRef>
          </c:cat>
          <c:val>
            <c:numRef>
              <c:f>Sheet1!$B$2:$B$10</c:f>
              <c:numCache>
                <c:formatCode>General</c:formatCode>
                <c:ptCount val="9"/>
                <c:pt idx="0">
                  <c:v>14</c:v>
                </c:pt>
                <c:pt idx="1">
                  <c:v>13</c:v>
                </c:pt>
                <c:pt idx="2">
                  <c:v>7</c:v>
                </c:pt>
                <c:pt idx="3">
                  <c:v>6</c:v>
                </c:pt>
                <c:pt idx="4">
                  <c:v>5</c:v>
                </c:pt>
                <c:pt idx="5">
                  <c:v>4</c:v>
                </c:pt>
                <c:pt idx="6">
                  <c:v>3</c:v>
                </c:pt>
                <c:pt idx="7">
                  <c:v>2</c:v>
                </c:pt>
                <c:pt idx="8">
                  <c:v>1</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an explainable AI-based memory forensic triage system. In this presentation I will focus on the methodology: how I built it, phase by phase, and how I validated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three parts. Fileless malware lives in RAM. Manual memory analysis is slow. And plain AI detectors are black boxes, which is not acceptable in forensics, where every conclusion must be justified. So my aim was a triage tool that detects, explains, and protects the evidence. These five objectives map directly onto the phases I will show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methodology on one slide. Seven phases, left to right. First the data, then turning memory dumps into features, then training and choosing a model, then detection with risk levels and a zero-day check, then explainability, then forensic soundness, and finally building and testing the system. I will now go through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CIC-MalMem2022 from the Canadian Institute for Cybersecurity. It has 58,596 Windows memory snapshots, half benign and half malware: ransomware, spyware and trojans, including obfuscated samples. Each snapshot was processed with Volatility and reduced to 55 numbers. The chart shows which plugins contribute most of those features. I removed the Category column so the model cannot cheat, and split the data 80/20 with stratification.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work on real evidence, the tool must turn a raw memory dump into the same 55 numbers the model was trained on. My extractor first runs windows.info to identify the kernel, then nine Volatility 3 plugins in parallel, and converts their output into the 55 features. Three features are approximations because Volatility 3 does not have every check used to build the original dataset; I document this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a simple Logistic Regression baseline with a Random Forest. I used a stratified 80/20 split, plus 3-fold cross-validation to check the result is stable and not a lucky split. Random Forest won on every metric: on 11,720 unseen snapshots it made one mistake and missed no malware. I limited tree depth and leaf size to reduce overfitting. I will come back to why these numbers are optimistic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uses two models. The Random Forest gives a malware probability. Because a supervised model only knows what it was trained on, I added an Isolation Forest, an unsupervised model that flags snapshots unlike anything in the training data, as a possible zero-day. The probability is mapped to three risk levels so the analyst knows what to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forensics a score alone is not enough, so every verdict is explained twice. SHAP gives each feature its fair share of the prediction; LIME builds a simple local model around the snapshot and returns readable rules. Using two different methods lets them cross-check each other. The chart on the right is the global SHAP summary: service counts, handles and drivers drive most decisions, which I discuss again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forensic tool must not change the evidence, and must be able to prove it. Every file is fingerprinted with SHA-256 and MD5 when it arrives, and re-checked at nine stages, including before and after Volatility and on the exact feature vector sent to the model. Each ledger entry stores the hash of the previous one, so editing history breaks the chain. If any hash does not match, the tool blocks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finished tool. The analyst opens a case with their name and case number, loads a memory dump or CSV, the tool extracts features, runs both models, explains the result and produces a sealed PDF report. The green band shows the integrity checks along the way. It is built in Python with Streamlit for the interface. I can demonstrate it live after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test-set metrics I ran the tool on nine profiles. Real rows from the dataset are classified correctly. But hand-built profiles and a real benign sample from outside the training conditions are often wrong. I am reporting this honestly because it shows the main limitation: the model does not yet generalise to machines it has not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limitations. The near-perfect accuracy comes from a random split where near-copies of the same malware sample end up in both training and test data, and most benign data comes from one machine. The fix is clear: de-duplicate, split by sample, and add benign dumps from many machines, ideally from my own lab with a Windows VM, simulated attacks and RAM capture. I would also add per-process evidence and stronger protection of the custody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I used: Python, Streamlit for the interface, Volatility 3 for memory analysis, scikit-learn for both models, SHAP and LIME for explainability, pandas and NumPy for data, ReportLab for the PDF, and Python's hashlib for the integrity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tool takes a raw memory dump, extracts 55 features, scores them with two models, explains the verdict two ways and produces a sealed report, with the evidence verified at every step. I have also measured and documented its limitations.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Explainable AI-Based Memory Forensic Triage System</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Methodology  ·  Final-year viva</a:t>
            </a:r>
            <a:endParaRPr lang="en-US" sz="1800" dirty="0"/>
          </a:p>
        </p:txBody>
      </p:sp>
      <p:sp>
        <p:nvSpPr>
          <p:cNvPr id="4" name="presenter"/>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BSc in Ethical Hacking &amp; Network Security</a:t>
            </a:r>
            <a:endParaRPr lang="en-US" sz="1500" dirty="0"/>
          </a:p>
          <a:p>
            <a:pPr indent="0" marL="0">
              <a:buNone/>
            </a:pPr>
            <a:r>
              <a:rPr lang="en-US" sz="1500" dirty="0">
                <a:solidFill>
                  <a:schemeClr val="bg1"/>
                </a:solidFill>
              </a:rPr>
              <a:t>Supervisor: Mr. Chathura Suduwella</a:t>
            </a:r>
            <a:endParaRPr lang="en-US" sz="1500" dirty="0"/>
          </a:p>
        </p:txBody>
      </p:sp>
      <p:sp>
        <p:nvSpPr>
          <p:cNvPr id="5" name="hero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Problem and aim</a:t>
            </a:r>
            <a:endParaRPr lang="en-US" sz="2800" dirty="0"/>
          </a:p>
        </p:txBody>
      </p:sp>
      <p:sp>
        <p:nvSpPr>
          <p:cNvPr id="3" name="problem card 1"/>
          <p:cNvSpPr/>
          <p:nvPr/>
        </p:nvSpPr>
        <p:spPr>
          <a:xfrm>
            <a:off x="548640" y="1325880"/>
            <a:ext cx="5486400" cy="1371600"/>
          </a:xfrm>
          <a:prstGeom prst="roundRect">
            <a:avLst>
              <a:gd name="adj" fmla="val 8000"/>
            </a:avLst>
          </a:prstGeom>
          <a:solidFill>
            <a:schemeClr val="bg2"/>
          </a:solidFill>
          <a:ln w="12700">
            <a:solidFill>
              <a:schemeClr val="bg2"/>
            </a:solidFill>
            <a:prstDash val="solid"/>
          </a:ln>
        </p:spPr>
      </p:sp>
      <p:sp>
        <p:nvSpPr>
          <p:cNvPr id="4" name="problem 1 circle"/>
          <p:cNvSpPr/>
          <p:nvPr/>
        </p:nvSpPr>
        <p:spPr>
          <a:xfrm>
            <a:off x="777240" y="1600200"/>
            <a:ext cx="822960" cy="822960"/>
          </a:xfrm>
          <a:prstGeom prst="ellipse">
            <a:avLst/>
          </a:prstGeom>
          <a:solidFill>
            <a:srgbClr val="DC2626"/>
          </a:solidFill>
          <a:ln w="12700">
            <a:solidFill>
              <a:srgbClr val="DC2626"/>
            </a:solidFill>
            <a:prstDash val="solid"/>
          </a:ln>
        </p:spPr>
      </p:sp>
      <p:pic>
        <p:nvPicPr>
          <p:cNvPr id="5" name="problem 1 icon" descr="preencoded.png">    </p:cNvPr>
          <p:cNvPicPr>
            <a:picLocks noChangeAspect="1"/>
          </p:cNvPicPr>
          <p:nvPr/>
        </p:nvPicPr>
        <p:blipFill>
          <a:blip r:embed="rId1"/>
          <a:stretch>
            <a:fillRect/>
          </a:stretch>
        </p:blipFill>
        <p:spPr>
          <a:xfrm>
            <a:off x="982980" y="1805940"/>
            <a:ext cx="411480" cy="411480"/>
          </a:xfrm>
          <a:prstGeom prst="rect">
            <a:avLst/>
          </a:prstGeom>
        </p:spPr>
      </p:pic>
      <p:sp>
        <p:nvSpPr>
          <p:cNvPr id="6" name="Text 3"/>
          <p:cNvSpPr txBox="1"/>
          <p:nvPr/>
        </p:nvSpPr>
        <p:spPr>
          <a:xfrm>
            <a:off x="1828800" y="1554480"/>
            <a:ext cx="4023360" cy="365760"/>
          </a:xfrm>
          <a:prstGeom prst="rect">
            <a:avLst/>
          </a:prstGeom>
          <a:noFill/>
          <a:ln/>
        </p:spPr>
        <p:txBody>
          <a:bodyPr wrap="square" lIns="0" tIns="0" rIns="0" bIns="0" rtlCol="0" anchor="t"/>
          <a:lstStyle/>
          <a:p>
            <a:pPr indent="0" marL="0">
              <a:buNone/>
            </a:pPr>
            <a:r>
              <a:rPr lang="en-US" sz="1800" b="1" dirty="0">
                <a:solidFill>
                  <a:schemeClr val="tx1"/>
                </a:solidFill>
              </a:rPr>
              <a:t>Hidden in RAM</a:t>
            </a:r>
            <a:endParaRPr lang="en-US" sz="1800" dirty="0"/>
          </a:p>
        </p:txBody>
      </p:sp>
      <p:sp>
        <p:nvSpPr>
          <p:cNvPr id="7" name="Text 4"/>
          <p:cNvSpPr txBox="1"/>
          <p:nvPr/>
        </p:nvSpPr>
        <p:spPr>
          <a:xfrm>
            <a:off x="1828800" y="1965960"/>
            <a:ext cx="4023360" cy="640080"/>
          </a:xfrm>
          <a:prstGeom prst="rect">
            <a:avLst/>
          </a:prstGeom>
          <a:noFill/>
          <a:ln/>
        </p:spPr>
        <p:txBody>
          <a:bodyPr wrap="square" lIns="0" tIns="0" rIns="0" bIns="0" rtlCol="0" anchor="t"/>
          <a:lstStyle/>
          <a:p>
            <a:pPr indent="0" marL="0">
              <a:buNone/>
            </a:pPr>
            <a:r>
              <a:rPr lang="en-US" sz="1400" dirty="0">
                <a:solidFill>
                  <a:schemeClr val="tx2"/>
                </a:solidFill>
              </a:rPr>
              <a:t>Fileless and memory-resident malware leaves little or no trace on disk.</a:t>
            </a:r>
            <a:endParaRPr lang="en-US" sz="1400" dirty="0"/>
          </a:p>
        </p:txBody>
      </p:sp>
      <p:sp>
        <p:nvSpPr>
          <p:cNvPr id="8" name="problem card 2"/>
          <p:cNvSpPr/>
          <p:nvPr/>
        </p:nvSpPr>
        <p:spPr>
          <a:xfrm>
            <a:off x="548640" y="2926080"/>
            <a:ext cx="5486400" cy="1371600"/>
          </a:xfrm>
          <a:prstGeom prst="roundRect">
            <a:avLst>
              <a:gd name="adj" fmla="val 8000"/>
            </a:avLst>
          </a:prstGeom>
          <a:solidFill>
            <a:schemeClr val="bg2"/>
          </a:solidFill>
          <a:ln w="12700">
            <a:solidFill>
              <a:schemeClr val="bg2"/>
            </a:solidFill>
            <a:prstDash val="solid"/>
          </a:ln>
        </p:spPr>
      </p:sp>
      <p:sp>
        <p:nvSpPr>
          <p:cNvPr id="9" name="problem 2 circle"/>
          <p:cNvSpPr/>
          <p:nvPr/>
        </p:nvSpPr>
        <p:spPr>
          <a:xfrm>
            <a:off x="777240" y="3200400"/>
            <a:ext cx="822960" cy="822960"/>
          </a:xfrm>
          <a:prstGeom prst="ellipse">
            <a:avLst/>
          </a:prstGeom>
          <a:solidFill>
            <a:srgbClr val="D97706"/>
          </a:solidFill>
          <a:ln w="12700">
            <a:solidFill>
              <a:srgbClr val="D97706"/>
            </a:solidFill>
            <a:prstDash val="solid"/>
          </a:ln>
        </p:spPr>
      </p:sp>
      <p:pic>
        <p:nvPicPr>
          <p:cNvPr id="10" name="problem 2 icon" descr="preencoded.png">    </p:cNvPr>
          <p:cNvPicPr>
            <a:picLocks noChangeAspect="1"/>
          </p:cNvPicPr>
          <p:nvPr/>
        </p:nvPicPr>
        <p:blipFill>
          <a:blip r:embed="rId2"/>
          <a:stretch>
            <a:fillRect/>
          </a:stretch>
        </p:blipFill>
        <p:spPr>
          <a:xfrm>
            <a:off x="982980" y="3406140"/>
            <a:ext cx="411480" cy="411480"/>
          </a:xfrm>
          <a:prstGeom prst="rect">
            <a:avLst/>
          </a:prstGeom>
        </p:spPr>
      </p:pic>
      <p:sp>
        <p:nvSpPr>
          <p:cNvPr id="11" name="Text 7"/>
          <p:cNvSpPr txBox="1"/>
          <p:nvPr/>
        </p:nvSpPr>
        <p:spPr>
          <a:xfrm>
            <a:off x="1828800" y="3154680"/>
            <a:ext cx="4023360" cy="365760"/>
          </a:xfrm>
          <a:prstGeom prst="rect">
            <a:avLst/>
          </a:prstGeom>
          <a:noFill/>
          <a:ln/>
        </p:spPr>
        <p:txBody>
          <a:bodyPr wrap="square" lIns="0" tIns="0" rIns="0" bIns="0" rtlCol="0" anchor="t"/>
          <a:lstStyle/>
          <a:p>
            <a:pPr indent="0" marL="0">
              <a:buNone/>
            </a:pPr>
            <a:r>
              <a:rPr lang="en-US" sz="1800" b="1" dirty="0">
                <a:solidFill>
                  <a:schemeClr val="tx1"/>
                </a:solidFill>
              </a:rPr>
              <a:t>Manual analysis is slow</a:t>
            </a:r>
            <a:endParaRPr lang="en-US" sz="1800" dirty="0"/>
          </a:p>
        </p:txBody>
      </p:sp>
      <p:sp>
        <p:nvSpPr>
          <p:cNvPr id="12" name="Text 8"/>
          <p:cNvSpPr txBox="1"/>
          <p:nvPr/>
        </p:nvSpPr>
        <p:spPr>
          <a:xfrm>
            <a:off x="1828800" y="3566160"/>
            <a:ext cx="4023360" cy="640080"/>
          </a:xfrm>
          <a:prstGeom prst="rect">
            <a:avLst/>
          </a:prstGeom>
          <a:noFill/>
          <a:ln/>
        </p:spPr>
        <p:txBody>
          <a:bodyPr wrap="square" lIns="0" tIns="0" rIns="0" bIns="0" rtlCol="0" anchor="t"/>
          <a:lstStyle/>
          <a:p>
            <a:pPr indent="0" marL="0">
              <a:buNone/>
            </a:pPr>
            <a:r>
              <a:rPr lang="en-US" sz="1400" dirty="0">
                <a:solidFill>
                  <a:schemeClr val="tx2"/>
                </a:solidFill>
              </a:rPr>
              <a:t>Investigators read thousands of lines of Volatility output by hand.</a:t>
            </a:r>
            <a:endParaRPr lang="en-US" sz="1400" dirty="0"/>
          </a:p>
        </p:txBody>
      </p:sp>
      <p:sp>
        <p:nvSpPr>
          <p:cNvPr id="13" name="problem card 3"/>
          <p:cNvSpPr/>
          <p:nvPr/>
        </p:nvSpPr>
        <p:spPr>
          <a:xfrm>
            <a:off x="548640" y="4526280"/>
            <a:ext cx="5486400" cy="1371600"/>
          </a:xfrm>
          <a:prstGeom prst="roundRect">
            <a:avLst>
              <a:gd name="adj" fmla="val 8000"/>
            </a:avLst>
          </a:prstGeom>
          <a:solidFill>
            <a:schemeClr val="bg2"/>
          </a:solidFill>
          <a:ln w="12700">
            <a:solidFill>
              <a:schemeClr val="bg2"/>
            </a:solidFill>
            <a:prstDash val="solid"/>
          </a:ln>
        </p:spPr>
      </p:sp>
      <p:sp>
        <p:nvSpPr>
          <p:cNvPr id="14" name="problem 3 circle"/>
          <p:cNvSpPr/>
          <p:nvPr/>
        </p:nvSpPr>
        <p:spPr>
          <a:xfrm>
            <a:off x="777240" y="4800600"/>
            <a:ext cx="822960" cy="822960"/>
          </a:xfrm>
          <a:prstGeom prst="ellipse">
            <a:avLst/>
          </a:prstGeom>
          <a:solidFill>
            <a:srgbClr val="6D5BD0"/>
          </a:solidFill>
          <a:ln w="12700">
            <a:solidFill>
              <a:srgbClr val="6D5BD0"/>
            </a:solidFill>
            <a:prstDash val="solid"/>
          </a:ln>
        </p:spPr>
      </p:sp>
      <p:pic>
        <p:nvPicPr>
          <p:cNvPr id="15" name="problem 3 icon" descr="preencoded.png">    </p:cNvPr>
          <p:cNvPicPr>
            <a:picLocks noChangeAspect="1"/>
          </p:cNvPicPr>
          <p:nvPr/>
        </p:nvPicPr>
        <p:blipFill>
          <a:blip r:embed="rId3"/>
          <a:stretch>
            <a:fillRect/>
          </a:stretch>
        </p:blipFill>
        <p:spPr>
          <a:xfrm>
            <a:off x="982980" y="5006340"/>
            <a:ext cx="411480" cy="411480"/>
          </a:xfrm>
          <a:prstGeom prst="rect">
            <a:avLst/>
          </a:prstGeom>
        </p:spPr>
      </p:pic>
      <p:sp>
        <p:nvSpPr>
          <p:cNvPr id="16" name="Text 11"/>
          <p:cNvSpPr txBox="1"/>
          <p:nvPr/>
        </p:nvSpPr>
        <p:spPr>
          <a:xfrm>
            <a:off x="1828800" y="4754880"/>
            <a:ext cx="4023360" cy="365760"/>
          </a:xfrm>
          <a:prstGeom prst="rect">
            <a:avLst/>
          </a:prstGeom>
          <a:noFill/>
          <a:ln/>
        </p:spPr>
        <p:txBody>
          <a:bodyPr wrap="square" lIns="0" tIns="0" rIns="0" bIns="0" rtlCol="0" anchor="t"/>
          <a:lstStyle/>
          <a:p>
            <a:pPr indent="0" marL="0">
              <a:buNone/>
            </a:pPr>
            <a:r>
              <a:rPr lang="en-US" sz="1800" b="1" dirty="0">
                <a:solidFill>
                  <a:schemeClr val="tx1"/>
                </a:solidFill>
              </a:rPr>
              <a:t>AI is a black box</a:t>
            </a:r>
            <a:endParaRPr lang="en-US" sz="1800" dirty="0"/>
          </a:p>
        </p:txBody>
      </p:sp>
      <p:sp>
        <p:nvSpPr>
          <p:cNvPr id="17" name="Text 12"/>
          <p:cNvSpPr txBox="1"/>
          <p:nvPr/>
        </p:nvSpPr>
        <p:spPr>
          <a:xfrm>
            <a:off x="1828800" y="5166360"/>
            <a:ext cx="4023360" cy="640080"/>
          </a:xfrm>
          <a:prstGeom prst="rect">
            <a:avLst/>
          </a:prstGeom>
          <a:noFill/>
          <a:ln/>
        </p:spPr>
        <p:txBody>
          <a:bodyPr wrap="square" lIns="0" tIns="0" rIns="0" bIns="0" rtlCol="0" anchor="t"/>
          <a:lstStyle/>
          <a:p>
            <a:pPr indent="0" marL="0">
              <a:buNone/>
            </a:pPr>
            <a:r>
              <a:rPr lang="en-US" sz="1400" dirty="0">
                <a:solidFill>
                  <a:schemeClr val="tx2"/>
                </a:solidFill>
              </a:rPr>
              <a:t>A “malicious” score without reasons is not usable as forensic evidence.</a:t>
            </a:r>
            <a:endParaRPr lang="en-US" sz="1400" dirty="0"/>
          </a:p>
        </p:txBody>
      </p:sp>
      <p:sp>
        <p:nvSpPr>
          <p:cNvPr id="18" name="aim card"/>
          <p:cNvSpPr/>
          <p:nvPr/>
        </p:nvSpPr>
        <p:spPr>
          <a:xfrm>
            <a:off x="6492240" y="1325880"/>
            <a:ext cx="5150815" cy="4572000"/>
          </a:xfrm>
          <a:prstGeom prst="roundRect">
            <a:avLst>
              <a:gd name="adj" fmla="val 2400"/>
            </a:avLst>
          </a:prstGeom>
          <a:solidFill>
            <a:schemeClr val="tx2"/>
          </a:solidFill>
          <a:ln w="12700">
            <a:solidFill>
              <a:schemeClr val="tx2"/>
            </a:solidFill>
            <a:prstDash val="solid"/>
          </a:ln>
        </p:spPr>
      </p:sp>
      <p:sp>
        <p:nvSpPr>
          <p:cNvPr id="19" name="Text 14"/>
          <p:cNvSpPr txBox="1"/>
          <p:nvPr/>
        </p:nvSpPr>
        <p:spPr>
          <a:xfrm>
            <a:off x="6858000" y="1600200"/>
            <a:ext cx="4572000" cy="320040"/>
          </a:xfrm>
          <a:prstGeom prst="rect">
            <a:avLst/>
          </a:prstGeom>
          <a:noFill/>
          <a:ln/>
        </p:spPr>
        <p:txBody>
          <a:bodyPr wrap="square" lIns="0" tIns="0" rIns="0" bIns="0" rtlCol="0" anchor="t"/>
          <a:lstStyle/>
          <a:p>
            <a:pPr indent="0" marL="0">
              <a:buNone/>
            </a:pPr>
            <a:r>
              <a:rPr lang="en-US" sz="1300" b="1" spc="300" kern="0" dirty="0">
                <a:solidFill>
                  <a:srgbClr val="A5F3FC"/>
                </a:solidFill>
              </a:rPr>
              <a:t>AIM</a:t>
            </a:r>
            <a:endParaRPr lang="en-US" sz="1300" dirty="0"/>
          </a:p>
        </p:txBody>
      </p:sp>
      <p:sp>
        <p:nvSpPr>
          <p:cNvPr id="20" name="Text 15"/>
          <p:cNvSpPr txBox="1"/>
          <p:nvPr/>
        </p:nvSpPr>
        <p:spPr>
          <a:xfrm>
            <a:off x="6858000" y="1965960"/>
            <a:ext cx="4480560" cy="1097280"/>
          </a:xfrm>
          <a:prstGeom prst="rect">
            <a:avLst/>
          </a:prstGeom>
          <a:noFill/>
          <a:ln/>
        </p:spPr>
        <p:txBody>
          <a:bodyPr wrap="square" lIns="0" tIns="0" rIns="0" bIns="0" rtlCol="0" anchor="t"/>
          <a:lstStyle/>
          <a:p>
            <a:pPr indent="0" marL="0">
              <a:buNone/>
            </a:pPr>
            <a:r>
              <a:rPr lang="en-US" sz="1900" b="1" dirty="0">
                <a:solidFill>
                  <a:schemeClr val="bg1"/>
                </a:solidFill>
              </a:rPr>
              <a:t>A triage tool that flags malicious memory, explains why, and keeps the evidence forensically sound.</a:t>
            </a:r>
            <a:endParaRPr lang="en-US" sz="1900" dirty="0"/>
          </a:p>
        </p:txBody>
      </p:sp>
      <p:sp>
        <p:nvSpPr>
          <p:cNvPr id="21" name="Text 16"/>
          <p:cNvSpPr txBox="1"/>
          <p:nvPr/>
        </p:nvSpPr>
        <p:spPr>
          <a:xfrm>
            <a:off x="6858000" y="3429000"/>
            <a:ext cx="448056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Classify memory snapshots as benign or malicious</a:t>
            </a:r>
            <a:endParaRPr lang="en-US" sz="1500" dirty="0"/>
          </a:p>
          <a:p>
            <a:pPr marL="342900" indent="-342900">
              <a:spcAft>
                <a:spcPts val="800"/>
              </a:spcAft>
              <a:buSzPct val="100000"/>
              <a:buChar char="•"/>
            </a:pPr>
            <a:r>
              <a:rPr lang="en-US" sz="1500" dirty="0">
                <a:solidFill>
                  <a:schemeClr val="bg1"/>
                </a:solidFill>
              </a:rPr>
              <a:t>Explain every verdict with SHAP and LIME</a:t>
            </a:r>
            <a:endParaRPr lang="en-US" sz="1500" dirty="0"/>
          </a:p>
          <a:p>
            <a:pPr marL="342900" indent="-342900">
              <a:spcAft>
                <a:spcPts val="800"/>
              </a:spcAft>
              <a:buSzPct val="100000"/>
              <a:buChar char="•"/>
            </a:pPr>
            <a:r>
              <a:rPr lang="en-US" sz="1500" dirty="0">
                <a:solidFill>
                  <a:schemeClr val="bg1"/>
                </a:solidFill>
              </a:rPr>
              <a:t>Accept raw memory dumps, not only CSVs</a:t>
            </a:r>
            <a:endParaRPr lang="en-US" sz="1500" dirty="0"/>
          </a:p>
          <a:p>
            <a:pPr marL="342900" indent="-342900">
              <a:spcAft>
                <a:spcPts val="800"/>
              </a:spcAft>
              <a:buSzPct val="100000"/>
              <a:buChar char="•"/>
            </a:pPr>
            <a:r>
              <a:rPr lang="en-US" sz="1500" dirty="0">
                <a:solidFill>
                  <a:schemeClr val="bg1"/>
                </a:solidFill>
              </a:rPr>
              <a:t>Prove the evidence is never modified</a:t>
            </a:r>
            <a:endParaRPr lang="en-US" sz="1500" dirty="0"/>
          </a:p>
          <a:p>
            <a:pPr marL="342900" indent="-342900">
              <a:spcAft>
                <a:spcPts val="800"/>
              </a:spcAft>
              <a:buSzPct val="100000"/>
              <a:buChar char="•"/>
            </a:pPr>
            <a:r>
              <a:rPr lang="en-US" sz="1500" dirty="0">
                <a:solidFill>
                  <a:schemeClr val="bg1"/>
                </a:solidFill>
              </a:rPr>
              <a:t>Flag possible zero-day behaviour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Methodology at a glance: seven phases</a:t>
            </a:r>
            <a:endParaRPr lang="en-US" sz="2800" dirty="0"/>
          </a:p>
        </p:txBody>
      </p:sp>
      <p:sp>
        <p:nvSpPr>
          <p:cNvPr id="3" name="arrow 1"/>
          <p:cNvSpPr/>
          <p:nvPr/>
        </p:nvSpPr>
        <p:spPr>
          <a:xfrm>
            <a:off x="1889738" y="2514600"/>
            <a:ext cx="487636" cy="0"/>
          </a:xfrm>
          <a:prstGeom prst="line">
            <a:avLst/>
          </a:prstGeom>
          <a:noFill/>
          <a:ln w="31750">
            <a:solidFill>
              <a:srgbClr val="D6DCE6"/>
            </a:solidFill>
            <a:prstDash val="solid"/>
            <a:tailEnd type="triangle"/>
          </a:ln>
        </p:spPr>
      </p:sp>
      <p:sp>
        <p:nvSpPr>
          <p:cNvPr id="4" name="phase 1 circle"/>
          <p:cNvSpPr/>
          <p:nvPr/>
        </p:nvSpPr>
        <p:spPr>
          <a:xfrm>
            <a:off x="838178" y="2011680"/>
            <a:ext cx="1005840" cy="1005840"/>
          </a:xfrm>
          <a:prstGeom prst="ellipse">
            <a:avLst/>
          </a:prstGeom>
          <a:solidFill>
            <a:srgbClr val="2563EB"/>
          </a:solidFill>
          <a:ln w="12700">
            <a:solidFill>
              <a:srgbClr val="2563EB"/>
            </a:solidFill>
            <a:prstDash val="solid"/>
          </a:ln>
        </p:spPr>
      </p:sp>
      <p:pic>
        <p:nvPicPr>
          <p:cNvPr id="5" name="phase 1 icon" descr="preencoded.png">    </p:cNvPr>
          <p:cNvPicPr>
            <a:picLocks noChangeAspect="1"/>
          </p:cNvPicPr>
          <p:nvPr/>
        </p:nvPicPr>
        <p:blipFill>
          <a:blip r:embed="rId1"/>
          <a:stretch>
            <a:fillRect/>
          </a:stretch>
        </p:blipFill>
        <p:spPr>
          <a:xfrm>
            <a:off x="1089638" y="2263140"/>
            <a:ext cx="502920" cy="502920"/>
          </a:xfrm>
          <a:prstGeom prst="rect">
            <a:avLst/>
          </a:prstGeom>
        </p:spPr>
      </p:pic>
      <p:sp>
        <p:nvSpPr>
          <p:cNvPr id="6" name="Text 3"/>
          <p:cNvSpPr txBox="1"/>
          <p:nvPr/>
        </p:nvSpPr>
        <p:spPr>
          <a:xfrm>
            <a:off x="1066778" y="1463040"/>
            <a:ext cx="548640" cy="365760"/>
          </a:xfrm>
          <a:prstGeom prst="rect">
            <a:avLst/>
          </a:prstGeom>
          <a:noFill/>
          <a:ln/>
        </p:spPr>
        <p:txBody>
          <a:bodyPr wrap="square" lIns="0" tIns="0" rIns="0" bIns="0" rtlCol="0" anchor="t"/>
          <a:lstStyle/>
          <a:p>
            <a:pPr algn="ctr" indent="0" marL="0">
              <a:buNone/>
            </a:pPr>
            <a:r>
              <a:rPr lang="en-US" sz="1600" b="1" dirty="0">
                <a:solidFill>
                  <a:srgbClr val="2563EB"/>
                </a:solidFill>
              </a:rPr>
              <a:t>1</a:t>
            </a:r>
            <a:endParaRPr lang="en-US" sz="1600" dirty="0"/>
          </a:p>
        </p:txBody>
      </p:sp>
      <p:sp>
        <p:nvSpPr>
          <p:cNvPr id="7" name="Text 4"/>
          <p:cNvSpPr txBox="1"/>
          <p:nvPr/>
        </p:nvSpPr>
        <p:spPr>
          <a:xfrm>
            <a:off x="594360"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Data</a:t>
            </a:r>
            <a:endParaRPr lang="en-US" sz="1500" dirty="0"/>
          </a:p>
        </p:txBody>
      </p:sp>
      <p:sp>
        <p:nvSpPr>
          <p:cNvPr id="8" name="Text 5"/>
          <p:cNvSpPr txBox="1"/>
          <p:nvPr/>
        </p:nvSpPr>
        <p:spPr>
          <a:xfrm>
            <a:off x="594360"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CIC-MalMem2022 dataset</a:t>
            </a:r>
            <a:endParaRPr lang="en-US" sz="1250" dirty="0"/>
          </a:p>
        </p:txBody>
      </p:sp>
      <p:sp>
        <p:nvSpPr>
          <p:cNvPr id="9" name="arrow 2"/>
          <p:cNvSpPr/>
          <p:nvPr/>
        </p:nvSpPr>
        <p:spPr>
          <a:xfrm>
            <a:off x="3474655" y="2514600"/>
            <a:ext cx="487636" cy="0"/>
          </a:xfrm>
          <a:prstGeom prst="line">
            <a:avLst/>
          </a:prstGeom>
          <a:noFill/>
          <a:ln w="31750">
            <a:solidFill>
              <a:srgbClr val="D6DCE6"/>
            </a:solidFill>
            <a:prstDash val="solid"/>
            <a:tailEnd type="triangle"/>
          </a:ln>
        </p:spPr>
      </p:sp>
      <p:sp>
        <p:nvSpPr>
          <p:cNvPr id="10" name="phase 2 circle"/>
          <p:cNvSpPr/>
          <p:nvPr/>
        </p:nvSpPr>
        <p:spPr>
          <a:xfrm>
            <a:off x="2423095" y="2011680"/>
            <a:ext cx="1005840" cy="1005840"/>
          </a:xfrm>
          <a:prstGeom prst="ellipse">
            <a:avLst/>
          </a:prstGeom>
          <a:solidFill>
            <a:srgbClr val="0891B2"/>
          </a:solidFill>
          <a:ln w="12700">
            <a:solidFill>
              <a:srgbClr val="0891B2"/>
            </a:solidFill>
            <a:prstDash val="solid"/>
          </a:ln>
        </p:spPr>
      </p:sp>
      <p:pic>
        <p:nvPicPr>
          <p:cNvPr id="11" name="phase 2 icon" descr="preencoded.png">    </p:cNvPr>
          <p:cNvPicPr>
            <a:picLocks noChangeAspect="1"/>
          </p:cNvPicPr>
          <p:nvPr/>
        </p:nvPicPr>
        <p:blipFill>
          <a:blip r:embed="rId2"/>
          <a:stretch>
            <a:fillRect/>
          </a:stretch>
        </p:blipFill>
        <p:spPr>
          <a:xfrm>
            <a:off x="2674555" y="2263140"/>
            <a:ext cx="502920" cy="502920"/>
          </a:xfrm>
          <a:prstGeom prst="rect">
            <a:avLst/>
          </a:prstGeom>
        </p:spPr>
      </p:pic>
      <p:sp>
        <p:nvSpPr>
          <p:cNvPr id="12" name="Text 8"/>
          <p:cNvSpPr txBox="1"/>
          <p:nvPr/>
        </p:nvSpPr>
        <p:spPr>
          <a:xfrm>
            <a:off x="2651695" y="1463040"/>
            <a:ext cx="548640" cy="365760"/>
          </a:xfrm>
          <a:prstGeom prst="rect">
            <a:avLst/>
          </a:prstGeom>
          <a:noFill/>
          <a:ln/>
        </p:spPr>
        <p:txBody>
          <a:bodyPr wrap="square" lIns="0" tIns="0" rIns="0" bIns="0" rtlCol="0" anchor="t"/>
          <a:lstStyle/>
          <a:p>
            <a:pPr algn="ctr" indent="0" marL="0">
              <a:buNone/>
            </a:pPr>
            <a:r>
              <a:rPr lang="en-US" sz="1600" b="1" dirty="0">
                <a:solidFill>
                  <a:srgbClr val="0891B2"/>
                </a:solidFill>
              </a:rPr>
              <a:t>2</a:t>
            </a:r>
            <a:endParaRPr lang="en-US" sz="1600" dirty="0"/>
          </a:p>
        </p:txBody>
      </p:sp>
      <p:sp>
        <p:nvSpPr>
          <p:cNvPr id="13" name="Text 9"/>
          <p:cNvSpPr txBox="1"/>
          <p:nvPr/>
        </p:nvSpPr>
        <p:spPr>
          <a:xfrm>
            <a:off x="2179276"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Feature extraction</a:t>
            </a:r>
            <a:endParaRPr lang="en-US" sz="1500" dirty="0"/>
          </a:p>
        </p:txBody>
      </p:sp>
      <p:sp>
        <p:nvSpPr>
          <p:cNvPr id="14" name="Text 10"/>
          <p:cNvSpPr txBox="1"/>
          <p:nvPr/>
        </p:nvSpPr>
        <p:spPr>
          <a:xfrm>
            <a:off x="2179276"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Volatility 3 → 55 features</a:t>
            </a:r>
            <a:endParaRPr lang="en-US" sz="1250" dirty="0"/>
          </a:p>
        </p:txBody>
      </p:sp>
      <p:sp>
        <p:nvSpPr>
          <p:cNvPr id="15" name="arrow 3"/>
          <p:cNvSpPr/>
          <p:nvPr/>
        </p:nvSpPr>
        <p:spPr>
          <a:xfrm>
            <a:off x="5059571" y="2514600"/>
            <a:ext cx="487636" cy="0"/>
          </a:xfrm>
          <a:prstGeom prst="line">
            <a:avLst/>
          </a:prstGeom>
          <a:noFill/>
          <a:ln w="31750">
            <a:solidFill>
              <a:srgbClr val="D6DCE6"/>
            </a:solidFill>
            <a:prstDash val="solid"/>
            <a:tailEnd type="triangle"/>
          </a:ln>
        </p:spPr>
      </p:sp>
      <p:sp>
        <p:nvSpPr>
          <p:cNvPr id="16" name="phase 3 circle"/>
          <p:cNvSpPr/>
          <p:nvPr/>
        </p:nvSpPr>
        <p:spPr>
          <a:xfrm>
            <a:off x="4008011" y="2011680"/>
            <a:ext cx="1005840" cy="1005840"/>
          </a:xfrm>
          <a:prstGeom prst="ellipse">
            <a:avLst/>
          </a:prstGeom>
          <a:solidFill>
            <a:srgbClr val="6D5BD0"/>
          </a:solidFill>
          <a:ln w="12700">
            <a:solidFill>
              <a:srgbClr val="6D5BD0"/>
            </a:solidFill>
            <a:prstDash val="solid"/>
          </a:ln>
        </p:spPr>
      </p:sp>
      <p:pic>
        <p:nvPicPr>
          <p:cNvPr id="17" name="phase 3 icon" descr="preencoded.png">    </p:cNvPr>
          <p:cNvPicPr>
            <a:picLocks noChangeAspect="1"/>
          </p:cNvPicPr>
          <p:nvPr/>
        </p:nvPicPr>
        <p:blipFill>
          <a:blip r:embed="rId3"/>
          <a:stretch>
            <a:fillRect/>
          </a:stretch>
        </p:blipFill>
        <p:spPr>
          <a:xfrm>
            <a:off x="4259471" y="2263140"/>
            <a:ext cx="502920" cy="502920"/>
          </a:xfrm>
          <a:prstGeom prst="rect">
            <a:avLst/>
          </a:prstGeom>
        </p:spPr>
      </p:pic>
      <p:sp>
        <p:nvSpPr>
          <p:cNvPr id="18" name="Text 13"/>
          <p:cNvSpPr txBox="1"/>
          <p:nvPr/>
        </p:nvSpPr>
        <p:spPr>
          <a:xfrm>
            <a:off x="4236611" y="1463040"/>
            <a:ext cx="548640" cy="365760"/>
          </a:xfrm>
          <a:prstGeom prst="rect">
            <a:avLst/>
          </a:prstGeom>
          <a:noFill/>
          <a:ln/>
        </p:spPr>
        <p:txBody>
          <a:bodyPr wrap="square" lIns="0" tIns="0" rIns="0" bIns="0" rtlCol="0" anchor="t"/>
          <a:lstStyle/>
          <a:p>
            <a:pPr algn="ctr" indent="0" marL="0">
              <a:buNone/>
            </a:pPr>
            <a:r>
              <a:rPr lang="en-US" sz="1600" b="1" dirty="0">
                <a:solidFill>
                  <a:srgbClr val="6D5BD0"/>
                </a:solidFill>
              </a:rPr>
              <a:t>3</a:t>
            </a:r>
            <a:endParaRPr lang="en-US" sz="1600" dirty="0"/>
          </a:p>
        </p:txBody>
      </p:sp>
      <p:sp>
        <p:nvSpPr>
          <p:cNvPr id="19" name="Text 14"/>
          <p:cNvSpPr txBox="1"/>
          <p:nvPr/>
        </p:nvSpPr>
        <p:spPr>
          <a:xfrm>
            <a:off x="3764193"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Model training</a:t>
            </a:r>
            <a:endParaRPr lang="en-US" sz="1500" dirty="0"/>
          </a:p>
        </p:txBody>
      </p:sp>
      <p:sp>
        <p:nvSpPr>
          <p:cNvPr id="20" name="Text 15"/>
          <p:cNvSpPr txBox="1"/>
          <p:nvPr/>
        </p:nvSpPr>
        <p:spPr>
          <a:xfrm>
            <a:off x="3764193"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RF vs LR, cross-validation</a:t>
            </a:r>
            <a:endParaRPr lang="en-US" sz="1250" dirty="0"/>
          </a:p>
        </p:txBody>
      </p:sp>
      <p:sp>
        <p:nvSpPr>
          <p:cNvPr id="21" name="arrow 4"/>
          <p:cNvSpPr/>
          <p:nvPr/>
        </p:nvSpPr>
        <p:spPr>
          <a:xfrm>
            <a:off x="6644488" y="2514600"/>
            <a:ext cx="487636" cy="0"/>
          </a:xfrm>
          <a:prstGeom prst="line">
            <a:avLst/>
          </a:prstGeom>
          <a:noFill/>
          <a:ln w="31750">
            <a:solidFill>
              <a:srgbClr val="D6DCE6"/>
            </a:solidFill>
            <a:prstDash val="solid"/>
            <a:tailEnd type="triangle"/>
          </a:ln>
        </p:spPr>
      </p:sp>
      <p:sp>
        <p:nvSpPr>
          <p:cNvPr id="22" name="phase 4 circle"/>
          <p:cNvSpPr/>
          <p:nvPr/>
        </p:nvSpPr>
        <p:spPr>
          <a:xfrm>
            <a:off x="5592928" y="2011680"/>
            <a:ext cx="1005840" cy="1005840"/>
          </a:xfrm>
          <a:prstGeom prst="ellipse">
            <a:avLst/>
          </a:prstGeom>
          <a:solidFill>
            <a:srgbClr val="DC2626"/>
          </a:solidFill>
          <a:ln w="12700">
            <a:solidFill>
              <a:srgbClr val="DC2626"/>
            </a:solidFill>
            <a:prstDash val="solid"/>
          </a:ln>
        </p:spPr>
      </p:sp>
      <p:pic>
        <p:nvPicPr>
          <p:cNvPr id="23" name="phase 4 icon" descr="preencoded.png">    </p:cNvPr>
          <p:cNvPicPr>
            <a:picLocks noChangeAspect="1"/>
          </p:cNvPicPr>
          <p:nvPr/>
        </p:nvPicPr>
        <p:blipFill>
          <a:blip r:embed="rId4"/>
          <a:stretch>
            <a:fillRect/>
          </a:stretch>
        </p:blipFill>
        <p:spPr>
          <a:xfrm>
            <a:off x="5844388" y="2263140"/>
            <a:ext cx="502920" cy="502920"/>
          </a:xfrm>
          <a:prstGeom prst="rect">
            <a:avLst/>
          </a:prstGeom>
        </p:spPr>
      </p:pic>
      <p:sp>
        <p:nvSpPr>
          <p:cNvPr id="24" name="Text 18"/>
          <p:cNvSpPr txBox="1"/>
          <p:nvPr/>
        </p:nvSpPr>
        <p:spPr>
          <a:xfrm>
            <a:off x="5821528" y="1463040"/>
            <a:ext cx="548640" cy="365760"/>
          </a:xfrm>
          <a:prstGeom prst="rect">
            <a:avLst/>
          </a:prstGeom>
          <a:noFill/>
          <a:ln/>
        </p:spPr>
        <p:txBody>
          <a:bodyPr wrap="square" lIns="0" tIns="0" rIns="0" bIns="0" rtlCol="0" anchor="t"/>
          <a:lstStyle/>
          <a:p>
            <a:pPr algn="ctr" indent="0" marL="0">
              <a:buNone/>
            </a:pPr>
            <a:r>
              <a:rPr lang="en-US" sz="1600" b="1" dirty="0">
                <a:solidFill>
                  <a:srgbClr val="DC2626"/>
                </a:solidFill>
              </a:rPr>
              <a:t>4</a:t>
            </a:r>
            <a:endParaRPr lang="en-US" sz="1600" dirty="0"/>
          </a:p>
        </p:txBody>
      </p:sp>
      <p:sp>
        <p:nvSpPr>
          <p:cNvPr id="25" name="Text 19"/>
          <p:cNvSpPr txBox="1"/>
          <p:nvPr/>
        </p:nvSpPr>
        <p:spPr>
          <a:xfrm>
            <a:off x="5349109"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Detection</a:t>
            </a:r>
            <a:endParaRPr lang="en-US" sz="1500" dirty="0"/>
          </a:p>
        </p:txBody>
      </p:sp>
      <p:sp>
        <p:nvSpPr>
          <p:cNvPr id="26" name="Text 20"/>
          <p:cNvSpPr txBox="1"/>
          <p:nvPr/>
        </p:nvSpPr>
        <p:spPr>
          <a:xfrm>
            <a:off x="5349109"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Risk tiers + zero-day check</a:t>
            </a:r>
            <a:endParaRPr lang="en-US" sz="1250" dirty="0"/>
          </a:p>
        </p:txBody>
      </p:sp>
      <p:sp>
        <p:nvSpPr>
          <p:cNvPr id="27" name="arrow 5"/>
          <p:cNvSpPr/>
          <p:nvPr/>
        </p:nvSpPr>
        <p:spPr>
          <a:xfrm>
            <a:off x="8229404" y="2514600"/>
            <a:ext cx="487636" cy="0"/>
          </a:xfrm>
          <a:prstGeom prst="line">
            <a:avLst/>
          </a:prstGeom>
          <a:noFill/>
          <a:ln w="31750">
            <a:solidFill>
              <a:srgbClr val="D6DCE6"/>
            </a:solidFill>
            <a:prstDash val="solid"/>
            <a:tailEnd type="triangle"/>
          </a:ln>
        </p:spPr>
      </p:sp>
      <p:sp>
        <p:nvSpPr>
          <p:cNvPr id="28" name="phase 5 circle"/>
          <p:cNvSpPr/>
          <p:nvPr/>
        </p:nvSpPr>
        <p:spPr>
          <a:xfrm>
            <a:off x="7177844" y="2011680"/>
            <a:ext cx="1005840" cy="1005840"/>
          </a:xfrm>
          <a:prstGeom prst="ellipse">
            <a:avLst/>
          </a:prstGeom>
          <a:solidFill>
            <a:srgbClr val="D97706"/>
          </a:solidFill>
          <a:ln w="12700">
            <a:solidFill>
              <a:srgbClr val="D97706"/>
            </a:solidFill>
            <a:prstDash val="solid"/>
          </a:ln>
        </p:spPr>
      </p:sp>
      <p:pic>
        <p:nvPicPr>
          <p:cNvPr id="29" name="phase 5 icon" descr="preencoded.png">    </p:cNvPr>
          <p:cNvPicPr>
            <a:picLocks noChangeAspect="1"/>
          </p:cNvPicPr>
          <p:nvPr/>
        </p:nvPicPr>
        <p:blipFill>
          <a:blip r:embed="rId5"/>
          <a:stretch>
            <a:fillRect/>
          </a:stretch>
        </p:blipFill>
        <p:spPr>
          <a:xfrm>
            <a:off x="7429304" y="2263140"/>
            <a:ext cx="502920" cy="502920"/>
          </a:xfrm>
          <a:prstGeom prst="rect">
            <a:avLst/>
          </a:prstGeom>
        </p:spPr>
      </p:pic>
      <p:sp>
        <p:nvSpPr>
          <p:cNvPr id="30" name="Text 23"/>
          <p:cNvSpPr txBox="1"/>
          <p:nvPr/>
        </p:nvSpPr>
        <p:spPr>
          <a:xfrm>
            <a:off x="7406444" y="1463040"/>
            <a:ext cx="548640" cy="365760"/>
          </a:xfrm>
          <a:prstGeom prst="rect">
            <a:avLst/>
          </a:prstGeom>
          <a:noFill/>
          <a:ln/>
        </p:spPr>
        <p:txBody>
          <a:bodyPr wrap="square" lIns="0" tIns="0" rIns="0" bIns="0" rtlCol="0" anchor="t"/>
          <a:lstStyle/>
          <a:p>
            <a:pPr algn="ctr" indent="0" marL="0">
              <a:buNone/>
            </a:pPr>
            <a:r>
              <a:rPr lang="en-US" sz="1600" b="1" dirty="0">
                <a:solidFill>
                  <a:srgbClr val="D97706"/>
                </a:solidFill>
              </a:rPr>
              <a:t>5</a:t>
            </a:r>
            <a:endParaRPr lang="en-US" sz="1600" dirty="0"/>
          </a:p>
        </p:txBody>
      </p:sp>
      <p:sp>
        <p:nvSpPr>
          <p:cNvPr id="31" name="Text 24"/>
          <p:cNvSpPr txBox="1"/>
          <p:nvPr/>
        </p:nvSpPr>
        <p:spPr>
          <a:xfrm>
            <a:off x="6934026"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Explainability</a:t>
            </a:r>
            <a:endParaRPr lang="en-US" sz="1500" dirty="0"/>
          </a:p>
        </p:txBody>
      </p:sp>
      <p:sp>
        <p:nvSpPr>
          <p:cNvPr id="32" name="Text 25"/>
          <p:cNvSpPr txBox="1"/>
          <p:nvPr/>
        </p:nvSpPr>
        <p:spPr>
          <a:xfrm>
            <a:off x="6934026"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SHAP + LIME</a:t>
            </a:r>
            <a:endParaRPr lang="en-US" sz="1250" dirty="0"/>
          </a:p>
        </p:txBody>
      </p:sp>
      <p:sp>
        <p:nvSpPr>
          <p:cNvPr id="33" name="arrow 6"/>
          <p:cNvSpPr/>
          <p:nvPr/>
        </p:nvSpPr>
        <p:spPr>
          <a:xfrm>
            <a:off x="9814321" y="2514600"/>
            <a:ext cx="487636" cy="0"/>
          </a:xfrm>
          <a:prstGeom prst="line">
            <a:avLst/>
          </a:prstGeom>
          <a:noFill/>
          <a:ln w="31750">
            <a:solidFill>
              <a:srgbClr val="D6DCE6"/>
            </a:solidFill>
            <a:prstDash val="solid"/>
            <a:tailEnd type="triangle"/>
          </a:ln>
        </p:spPr>
      </p:sp>
      <p:sp>
        <p:nvSpPr>
          <p:cNvPr id="34" name="phase 6 circle"/>
          <p:cNvSpPr/>
          <p:nvPr/>
        </p:nvSpPr>
        <p:spPr>
          <a:xfrm>
            <a:off x="8762761" y="2011680"/>
            <a:ext cx="1005840" cy="1005840"/>
          </a:xfrm>
          <a:prstGeom prst="ellipse">
            <a:avLst/>
          </a:prstGeom>
          <a:solidFill>
            <a:srgbClr val="16A34A"/>
          </a:solidFill>
          <a:ln w="12700">
            <a:solidFill>
              <a:srgbClr val="16A34A"/>
            </a:solidFill>
            <a:prstDash val="solid"/>
          </a:ln>
        </p:spPr>
      </p:sp>
      <p:pic>
        <p:nvPicPr>
          <p:cNvPr id="35" name="phase 6 icon" descr="preencoded.png">    </p:cNvPr>
          <p:cNvPicPr>
            <a:picLocks noChangeAspect="1"/>
          </p:cNvPicPr>
          <p:nvPr/>
        </p:nvPicPr>
        <p:blipFill>
          <a:blip r:embed="rId6"/>
          <a:stretch>
            <a:fillRect/>
          </a:stretch>
        </p:blipFill>
        <p:spPr>
          <a:xfrm>
            <a:off x="9014221" y="2263140"/>
            <a:ext cx="502920" cy="502920"/>
          </a:xfrm>
          <a:prstGeom prst="rect">
            <a:avLst/>
          </a:prstGeom>
        </p:spPr>
      </p:pic>
      <p:sp>
        <p:nvSpPr>
          <p:cNvPr id="36" name="Text 28"/>
          <p:cNvSpPr txBox="1"/>
          <p:nvPr/>
        </p:nvSpPr>
        <p:spPr>
          <a:xfrm>
            <a:off x="8991361" y="1463040"/>
            <a:ext cx="548640" cy="365760"/>
          </a:xfrm>
          <a:prstGeom prst="rect">
            <a:avLst/>
          </a:prstGeom>
          <a:noFill/>
          <a:ln/>
        </p:spPr>
        <p:txBody>
          <a:bodyPr wrap="square" lIns="0" tIns="0" rIns="0" bIns="0" rtlCol="0" anchor="t"/>
          <a:lstStyle/>
          <a:p>
            <a:pPr algn="ctr" indent="0" marL="0">
              <a:buNone/>
            </a:pPr>
            <a:r>
              <a:rPr lang="en-US" sz="1600" b="1" dirty="0">
                <a:solidFill>
                  <a:srgbClr val="16A34A"/>
                </a:solidFill>
              </a:rPr>
              <a:t>6</a:t>
            </a:r>
            <a:endParaRPr lang="en-US" sz="1600" dirty="0"/>
          </a:p>
        </p:txBody>
      </p:sp>
      <p:sp>
        <p:nvSpPr>
          <p:cNvPr id="37" name="Text 29"/>
          <p:cNvSpPr txBox="1"/>
          <p:nvPr/>
        </p:nvSpPr>
        <p:spPr>
          <a:xfrm>
            <a:off x="8518942"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Forensic soundness</a:t>
            </a:r>
            <a:endParaRPr lang="en-US" sz="1500" dirty="0"/>
          </a:p>
        </p:txBody>
      </p:sp>
      <p:sp>
        <p:nvSpPr>
          <p:cNvPr id="38" name="Text 30"/>
          <p:cNvSpPr txBox="1"/>
          <p:nvPr/>
        </p:nvSpPr>
        <p:spPr>
          <a:xfrm>
            <a:off x="8518942"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Hashing + custody ledger</a:t>
            </a:r>
            <a:endParaRPr lang="en-US" sz="1250" dirty="0"/>
          </a:p>
        </p:txBody>
      </p:sp>
      <p:sp>
        <p:nvSpPr>
          <p:cNvPr id="39" name="phase 7 circle"/>
          <p:cNvSpPr/>
          <p:nvPr/>
        </p:nvSpPr>
        <p:spPr>
          <a:xfrm>
            <a:off x="10347677" y="2011680"/>
            <a:ext cx="1005840" cy="1005840"/>
          </a:xfrm>
          <a:prstGeom prst="ellipse">
            <a:avLst/>
          </a:prstGeom>
          <a:solidFill>
            <a:srgbClr val="0B1F33"/>
          </a:solidFill>
          <a:ln w="12700">
            <a:solidFill>
              <a:srgbClr val="0B1F33"/>
            </a:solidFill>
            <a:prstDash val="solid"/>
          </a:ln>
        </p:spPr>
      </p:sp>
      <p:pic>
        <p:nvPicPr>
          <p:cNvPr id="40" name="phase 7 icon" descr="preencoded.png">    </p:cNvPr>
          <p:cNvPicPr>
            <a:picLocks noChangeAspect="1"/>
          </p:cNvPicPr>
          <p:nvPr/>
        </p:nvPicPr>
        <p:blipFill>
          <a:blip r:embed="rId7"/>
          <a:stretch>
            <a:fillRect/>
          </a:stretch>
        </p:blipFill>
        <p:spPr>
          <a:xfrm>
            <a:off x="10599137" y="2263140"/>
            <a:ext cx="502920" cy="502920"/>
          </a:xfrm>
          <a:prstGeom prst="rect">
            <a:avLst/>
          </a:prstGeom>
        </p:spPr>
      </p:pic>
      <p:sp>
        <p:nvSpPr>
          <p:cNvPr id="41" name="Text 32"/>
          <p:cNvSpPr txBox="1"/>
          <p:nvPr/>
        </p:nvSpPr>
        <p:spPr>
          <a:xfrm>
            <a:off x="10576277" y="1463040"/>
            <a:ext cx="548640" cy="365760"/>
          </a:xfrm>
          <a:prstGeom prst="rect">
            <a:avLst/>
          </a:prstGeom>
          <a:noFill/>
          <a:ln/>
        </p:spPr>
        <p:txBody>
          <a:bodyPr wrap="square" lIns="0" tIns="0" rIns="0" bIns="0" rtlCol="0" anchor="t"/>
          <a:lstStyle/>
          <a:p>
            <a:pPr algn="ctr" indent="0" marL="0">
              <a:buNone/>
            </a:pPr>
            <a:r>
              <a:rPr lang="en-US" sz="1600" b="1" dirty="0">
                <a:solidFill>
                  <a:srgbClr val="0B1F33"/>
                </a:solidFill>
              </a:rPr>
              <a:t>7</a:t>
            </a:r>
            <a:endParaRPr lang="en-US" sz="1600" dirty="0"/>
          </a:p>
        </p:txBody>
      </p:sp>
      <p:sp>
        <p:nvSpPr>
          <p:cNvPr id="42" name="Text 33"/>
          <p:cNvSpPr txBox="1"/>
          <p:nvPr/>
        </p:nvSpPr>
        <p:spPr>
          <a:xfrm>
            <a:off x="10103859" y="3200400"/>
            <a:ext cx="1493476" cy="640080"/>
          </a:xfrm>
          <a:prstGeom prst="rect">
            <a:avLst/>
          </a:prstGeom>
          <a:noFill/>
          <a:ln/>
        </p:spPr>
        <p:txBody>
          <a:bodyPr wrap="square" lIns="0" tIns="0" rIns="0" bIns="0" rtlCol="0" anchor="t"/>
          <a:lstStyle/>
          <a:p>
            <a:pPr algn="ctr" indent="0" marL="0">
              <a:buNone/>
            </a:pPr>
            <a:r>
              <a:rPr lang="en-US" sz="1500" b="1" dirty="0">
                <a:solidFill>
                  <a:schemeClr val="tx1"/>
                </a:solidFill>
              </a:rPr>
              <a:t>System &amp; testing</a:t>
            </a:r>
            <a:endParaRPr lang="en-US" sz="1500" dirty="0"/>
          </a:p>
        </p:txBody>
      </p:sp>
      <p:sp>
        <p:nvSpPr>
          <p:cNvPr id="43" name="Text 34"/>
          <p:cNvSpPr txBox="1"/>
          <p:nvPr/>
        </p:nvSpPr>
        <p:spPr>
          <a:xfrm>
            <a:off x="10103859" y="3840480"/>
            <a:ext cx="1493476" cy="640080"/>
          </a:xfrm>
          <a:prstGeom prst="rect">
            <a:avLst/>
          </a:prstGeom>
          <a:noFill/>
          <a:ln/>
        </p:spPr>
        <p:txBody>
          <a:bodyPr wrap="square" lIns="0" tIns="0" rIns="0" bIns="0" rtlCol="0" anchor="t"/>
          <a:lstStyle/>
          <a:p>
            <a:pPr algn="ctr" indent="0" marL="0">
              <a:buNone/>
            </a:pPr>
            <a:r>
              <a:rPr lang="en-US" sz="1250" dirty="0">
                <a:solidFill>
                  <a:schemeClr val="tx2"/>
                </a:solidFill>
              </a:rPr>
              <a:t>Dashboard, report, tests</a:t>
            </a:r>
            <a:endParaRPr lang="en-US" sz="1250" dirty="0"/>
          </a:p>
        </p:txBody>
      </p:sp>
      <p:sp>
        <p:nvSpPr>
          <p:cNvPr id="44" name="approach band"/>
          <p:cNvSpPr/>
          <p:nvPr/>
        </p:nvSpPr>
        <p:spPr>
          <a:xfrm>
            <a:off x="548640" y="4937760"/>
            <a:ext cx="11094415" cy="1097280"/>
          </a:xfrm>
          <a:prstGeom prst="roundRect">
            <a:avLst>
              <a:gd name="adj" fmla="val 10000"/>
            </a:avLst>
          </a:prstGeom>
          <a:solidFill>
            <a:schemeClr val="bg2"/>
          </a:solidFill>
          <a:ln w="12700">
            <a:solidFill>
              <a:schemeClr val="bg2"/>
            </a:solidFill>
            <a:prstDash val="solid"/>
          </a:ln>
        </p:spPr>
      </p:sp>
      <p:sp>
        <p:nvSpPr>
          <p:cNvPr id="45" name="Text 36"/>
          <p:cNvSpPr txBox="1"/>
          <p:nvPr/>
        </p:nvSpPr>
        <p:spPr>
          <a:xfrm>
            <a:off x="822960" y="5120640"/>
            <a:ext cx="10545775" cy="822960"/>
          </a:xfrm>
          <a:prstGeom prst="rect">
            <a:avLst/>
          </a:prstGeom>
          <a:noFill/>
          <a:ln/>
        </p:spPr>
        <p:txBody>
          <a:bodyPr wrap="square" lIns="0" tIns="0" rIns="0" bIns="0" rtlCol="0" anchor="ctr"/>
          <a:lstStyle/>
          <a:p>
            <a:pPr indent="0" marL="0">
              <a:buNone/>
            </a:pPr>
            <a:r>
              <a:rPr lang="en-US" sz="1500" b="1" dirty="0">
                <a:solidFill>
                  <a:schemeClr val="tx1"/>
                </a:solidFill>
              </a:rPr>
              <a:t>Research approach: </a:t>
            </a:r>
            <a:pPr indent="0" marL="0">
              <a:buNone/>
            </a:pPr>
            <a:r>
              <a:rPr lang="en-US" sz="1500" dirty="0">
                <a:solidFill>
                  <a:schemeClr val="tx1"/>
                </a:solidFill>
              </a:rPr>
              <a:t>applied and experimental. Each phase produces an artefact (dataset, extractor, trained models, explanations, custody ledger, tool) that the next phase builds on, and every result is measured on held-out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1 — Data: CIC-MalMem2022</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6"/>
          </a:solidFill>
          <a:ln/>
        </p:spPr>
        <p:txBody>
          <a:bodyPr wrap="square" rtlCol="0" anchor="ctr"/>
          <a:lstStyle/>
          <a:p>
            <a:pPr algn="ctr" indent="0" marL="0">
              <a:buNone/>
            </a:pPr>
            <a:r>
              <a:rPr lang="en-US" sz="1200" b="1" dirty="0">
                <a:solidFill>
                  <a:schemeClr val="bg1"/>
                </a:solidFill>
              </a:rPr>
              <a:t>PHASE 1</a:t>
            </a:r>
            <a:endParaRPr lang="en-US" sz="1200" dirty="0"/>
          </a:p>
        </p:txBody>
      </p:sp>
      <p:sp>
        <p:nvSpPr>
          <p:cNvPr id="4" name="stat 1"/>
          <p:cNvSpPr/>
          <p:nvPr/>
        </p:nvSpPr>
        <p:spPr>
          <a:xfrm>
            <a:off x="548640" y="1325880"/>
            <a:ext cx="4206240" cy="1005840"/>
          </a:xfrm>
          <a:prstGeom prst="roundRect">
            <a:avLst>
              <a:gd name="adj" fmla="val 10909"/>
            </a:avLst>
          </a:prstGeom>
          <a:solidFill>
            <a:schemeClr val="bg2"/>
          </a:solidFill>
          <a:ln w="12700">
            <a:solidFill>
              <a:schemeClr val="bg2"/>
            </a:solidFill>
            <a:prstDash val="solid"/>
          </a:ln>
        </p:spPr>
      </p:sp>
      <p:sp>
        <p:nvSpPr>
          <p:cNvPr id="5" name="Text 3"/>
          <p:cNvSpPr txBox="1"/>
          <p:nvPr/>
        </p:nvSpPr>
        <p:spPr>
          <a:xfrm>
            <a:off x="822960" y="1435608"/>
            <a:ext cx="2011680" cy="777240"/>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58,596</a:t>
            </a:r>
            <a:endParaRPr lang="en-US" sz="3400" dirty="0"/>
          </a:p>
        </p:txBody>
      </p:sp>
      <p:sp>
        <p:nvSpPr>
          <p:cNvPr id="6" name="Text 4"/>
          <p:cNvSpPr txBox="1"/>
          <p:nvPr/>
        </p:nvSpPr>
        <p:spPr>
          <a:xfrm>
            <a:off x="2834640" y="1435608"/>
            <a:ext cx="1828800" cy="777240"/>
          </a:xfrm>
          <a:prstGeom prst="rect">
            <a:avLst/>
          </a:prstGeom>
          <a:noFill/>
          <a:ln/>
        </p:spPr>
        <p:txBody>
          <a:bodyPr wrap="square" lIns="0" tIns="0" rIns="0" bIns="0" rtlCol="0" anchor="ctr"/>
          <a:lstStyle/>
          <a:p>
            <a:pPr indent="0" marL="0">
              <a:buNone/>
            </a:pPr>
            <a:r>
              <a:rPr lang="en-US" sz="1500" dirty="0">
                <a:solidFill>
                  <a:schemeClr val="tx2"/>
                </a:solidFill>
              </a:rPr>
              <a:t>memory snapshots</a:t>
            </a:r>
            <a:endParaRPr lang="en-US" sz="1500" dirty="0"/>
          </a:p>
        </p:txBody>
      </p:sp>
      <p:sp>
        <p:nvSpPr>
          <p:cNvPr id="7" name="stat 2"/>
          <p:cNvSpPr/>
          <p:nvPr/>
        </p:nvSpPr>
        <p:spPr>
          <a:xfrm>
            <a:off x="548640" y="2514600"/>
            <a:ext cx="4206240" cy="1005840"/>
          </a:xfrm>
          <a:prstGeom prst="roundRect">
            <a:avLst>
              <a:gd name="adj" fmla="val 10909"/>
            </a:avLst>
          </a:prstGeom>
          <a:solidFill>
            <a:schemeClr val="bg2"/>
          </a:solidFill>
          <a:ln w="12700">
            <a:solidFill>
              <a:schemeClr val="bg2"/>
            </a:solidFill>
            <a:prstDash val="solid"/>
          </a:ln>
        </p:spPr>
      </p:sp>
      <p:sp>
        <p:nvSpPr>
          <p:cNvPr id="8" name="Text 6"/>
          <p:cNvSpPr txBox="1"/>
          <p:nvPr/>
        </p:nvSpPr>
        <p:spPr>
          <a:xfrm>
            <a:off x="822960" y="2624328"/>
            <a:ext cx="2011680" cy="777240"/>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55</a:t>
            </a:r>
            <a:endParaRPr lang="en-US" sz="3400" dirty="0"/>
          </a:p>
        </p:txBody>
      </p:sp>
      <p:sp>
        <p:nvSpPr>
          <p:cNvPr id="9" name="Text 7"/>
          <p:cNvSpPr txBox="1"/>
          <p:nvPr/>
        </p:nvSpPr>
        <p:spPr>
          <a:xfrm>
            <a:off x="2834640" y="2624328"/>
            <a:ext cx="1828800" cy="777240"/>
          </a:xfrm>
          <a:prstGeom prst="rect">
            <a:avLst/>
          </a:prstGeom>
          <a:noFill/>
          <a:ln/>
        </p:spPr>
        <p:txBody>
          <a:bodyPr wrap="square" lIns="0" tIns="0" rIns="0" bIns="0" rtlCol="0" anchor="ctr"/>
          <a:lstStyle/>
          <a:p>
            <a:pPr indent="0" marL="0">
              <a:buNone/>
            </a:pPr>
            <a:r>
              <a:rPr lang="en-US" sz="1500" dirty="0">
                <a:solidFill>
                  <a:schemeClr val="tx2"/>
                </a:solidFill>
              </a:rPr>
              <a:t>numeric features</a:t>
            </a:r>
            <a:endParaRPr lang="en-US" sz="1500" dirty="0"/>
          </a:p>
        </p:txBody>
      </p:sp>
      <p:sp>
        <p:nvSpPr>
          <p:cNvPr id="10" name="stat 3"/>
          <p:cNvSpPr/>
          <p:nvPr/>
        </p:nvSpPr>
        <p:spPr>
          <a:xfrm>
            <a:off x="548640" y="3703320"/>
            <a:ext cx="4206240" cy="1005840"/>
          </a:xfrm>
          <a:prstGeom prst="roundRect">
            <a:avLst>
              <a:gd name="adj" fmla="val 10909"/>
            </a:avLst>
          </a:prstGeom>
          <a:solidFill>
            <a:schemeClr val="bg2"/>
          </a:solidFill>
          <a:ln w="12700">
            <a:solidFill>
              <a:schemeClr val="bg2"/>
            </a:solidFill>
            <a:prstDash val="solid"/>
          </a:ln>
        </p:spPr>
      </p:sp>
      <p:sp>
        <p:nvSpPr>
          <p:cNvPr id="11" name="Text 9"/>
          <p:cNvSpPr txBox="1"/>
          <p:nvPr/>
        </p:nvSpPr>
        <p:spPr>
          <a:xfrm>
            <a:off x="822960" y="3813048"/>
            <a:ext cx="2011680" cy="777240"/>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50 / 50</a:t>
            </a:r>
            <a:endParaRPr lang="en-US" sz="3400" dirty="0"/>
          </a:p>
        </p:txBody>
      </p:sp>
      <p:sp>
        <p:nvSpPr>
          <p:cNvPr id="12" name="Text 10"/>
          <p:cNvSpPr txBox="1"/>
          <p:nvPr/>
        </p:nvSpPr>
        <p:spPr>
          <a:xfrm>
            <a:off x="2834640" y="3813048"/>
            <a:ext cx="1828800" cy="777240"/>
          </a:xfrm>
          <a:prstGeom prst="rect">
            <a:avLst/>
          </a:prstGeom>
          <a:noFill/>
          <a:ln/>
        </p:spPr>
        <p:txBody>
          <a:bodyPr wrap="square" lIns="0" tIns="0" rIns="0" bIns="0" rtlCol="0" anchor="ctr"/>
          <a:lstStyle/>
          <a:p>
            <a:pPr indent="0" marL="0">
              <a:buNone/>
            </a:pPr>
            <a:r>
              <a:rPr lang="en-US" sz="1500" dirty="0">
                <a:solidFill>
                  <a:schemeClr val="tx2"/>
                </a:solidFill>
              </a:rPr>
              <a:t>benign / malware</a:t>
            </a:r>
            <a:endParaRPr lang="en-US" sz="1500" dirty="0"/>
          </a:p>
        </p:txBody>
      </p:sp>
      <p:sp>
        <p:nvSpPr>
          <p:cNvPr id="13" name="stat 4"/>
          <p:cNvSpPr/>
          <p:nvPr/>
        </p:nvSpPr>
        <p:spPr>
          <a:xfrm>
            <a:off x="548640" y="4892040"/>
            <a:ext cx="4206240" cy="1005840"/>
          </a:xfrm>
          <a:prstGeom prst="roundRect">
            <a:avLst>
              <a:gd name="adj" fmla="val 10909"/>
            </a:avLst>
          </a:prstGeom>
          <a:solidFill>
            <a:schemeClr val="bg2"/>
          </a:solidFill>
          <a:ln w="12700">
            <a:solidFill>
              <a:schemeClr val="bg2"/>
            </a:solidFill>
            <a:prstDash val="solid"/>
          </a:ln>
        </p:spPr>
      </p:sp>
      <p:sp>
        <p:nvSpPr>
          <p:cNvPr id="14" name="Text 12"/>
          <p:cNvSpPr txBox="1"/>
          <p:nvPr/>
        </p:nvSpPr>
        <p:spPr>
          <a:xfrm>
            <a:off x="822960" y="5001768"/>
            <a:ext cx="2011680" cy="777240"/>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3</a:t>
            </a:r>
            <a:endParaRPr lang="en-US" sz="3400" dirty="0"/>
          </a:p>
        </p:txBody>
      </p:sp>
      <p:sp>
        <p:nvSpPr>
          <p:cNvPr id="15" name="Text 13"/>
          <p:cNvSpPr txBox="1"/>
          <p:nvPr/>
        </p:nvSpPr>
        <p:spPr>
          <a:xfrm>
            <a:off x="2834640" y="5001768"/>
            <a:ext cx="1828800" cy="777240"/>
          </a:xfrm>
          <a:prstGeom prst="rect">
            <a:avLst/>
          </a:prstGeom>
          <a:noFill/>
          <a:ln/>
        </p:spPr>
        <p:txBody>
          <a:bodyPr wrap="square" lIns="0" tIns="0" rIns="0" bIns="0" rtlCol="0" anchor="ctr"/>
          <a:lstStyle/>
          <a:p>
            <a:pPr indent="0" marL="0">
              <a:buNone/>
            </a:pPr>
            <a:r>
              <a:rPr lang="en-US" sz="1500" dirty="0">
                <a:solidFill>
                  <a:schemeClr val="tx2"/>
                </a:solidFill>
              </a:rPr>
              <a:t>malware categories</a:t>
            </a:r>
            <a:endParaRPr lang="en-US" sz="1500" dirty="0"/>
          </a:p>
        </p:txBody>
      </p:sp>
      <p:graphicFrame>
        <p:nvGraphicFramePr>
          <p:cNvPr id="16" name="features chart" descr=""/>
          <p:cNvGraphicFramePr/>
          <p:nvPr/>
        </p:nvGraphicFramePr>
        <p:xfrm>
          <a:off x="5120640" y="1234440"/>
          <a:ext cx="6492240" cy="37490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120640" y="5166360"/>
            <a:ext cx="6492240" cy="914400"/>
          </a:xfrm>
          <a:prstGeom prst="rect">
            <a:avLst/>
          </a:prstGeom>
          <a:noFill/>
          <a:ln/>
        </p:spPr>
        <p:txBody>
          <a:bodyPr wrap="square" lIns="0" tIns="0" rIns="0" bIns="0" rtlCol="0" anchor="t"/>
          <a:lstStyle/>
          <a:p>
            <a:pPr indent="0" marL="0">
              <a:buNone/>
            </a:pPr>
            <a:r>
              <a:rPr lang="en-US" sz="1350" b="1" dirty="0">
                <a:solidFill>
                  <a:schemeClr val="tx2"/>
                </a:solidFill>
              </a:rPr>
              <a:t>Preprocessing: </a:t>
            </a:r>
            <a:pPr indent="0" marL="0">
              <a:buNone/>
            </a:pPr>
            <a:r>
              <a:rPr lang="en-US" sz="1350" dirty="0">
                <a:solidFill>
                  <a:schemeClr val="tx2"/>
                </a:solidFill>
              </a:rPr>
              <a:t>label → benign 0 / malware 1 · drop the Category column (prevents label leakage) · stratified 80/20 split, fixed seed 42 for reproducibility.</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2 — From a memory dump to 55 numbers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1"/>
          </a:solidFill>
          <a:ln/>
        </p:spPr>
        <p:txBody>
          <a:bodyPr wrap="square" rtlCol="0" anchor="ctr"/>
          <a:lstStyle/>
          <a:p>
            <a:pPr algn="ctr" indent="0" marL="0">
              <a:buNone/>
            </a:pPr>
            <a:r>
              <a:rPr lang="en-US" sz="1200" b="1" dirty="0">
                <a:solidFill>
                  <a:schemeClr val="bg1"/>
                </a:solidFill>
              </a:rPr>
              <a:t>PHASE 2</a:t>
            </a:r>
            <a:endParaRPr lang="en-US" sz="1200" dirty="0"/>
          </a:p>
        </p:txBody>
      </p:sp>
      <p:sp>
        <p:nvSpPr>
          <p:cNvPr id="4" name="flow card 1"/>
          <p:cNvSpPr/>
          <p:nvPr/>
        </p:nvSpPr>
        <p:spPr>
          <a:xfrm>
            <a:off x="548640" y="1371600"/>
            <a:ext cx="2377440" cy="2377440"/>
          </a:xfrm>
          <a:prstGeom prst="roundRect">
            <a:avLst>
              <a:gd name="adj" fmla="val 4615"/>
            </a:avLst>
          </a:prstGeom>
          <a:solidFill>
            <a:schemeClr val="bg2"/>
          </a:solidFill>
          <a:ln w="12700">
            <a:solidFill>
              <a:schemeClr val="bg2"/>
            </a:solidFill>
            <a:prstDash val="solid"/>
          </a:ln>
        </p:spPr>
      </p:sp>
      <p:sp>
        <p:nvSpPr>
          <p:cNvPr id="5" name="flow 1 circle"/>
          <p:cNvSpPr/>
          <p:nvPr/>
        </p:nvSpPr>
        <p:spPr>
          <a:xfrm>
            <a:off x="1280160" y="1600200"/>
            <a:ext cx="914400" cy="914400"/>
          </a:xfrm>
          <a:prstGeom prst="ellipse">
            <a:avLst/>
          </a:prstGeom>
          <a:solidFill>
            <a:srgbClr val="0891B2"/>
          </a:solidFill>
          <a:ln w="12700">
            <a:solidFill>
              <a:srgbClr val="0891B2"/>
            </a:solidFill>
            <a:prstDash val="solid"/>
          </a:ln>
        </p:spPr>
      </p:sp>
      <p:pic>
        <p:nvPicPr>
          <p:cNvPr id="6" name="flow 1 icon" descr="preencoded.png">    </p:cNvPr>
          <p:cNvPicPr>
            <a:picLocks noChangeAspect="1"/>
          </p:cNvPicPr>
          <p:nvPr/>
        </p:nvPicPr>
        <p:blipFill>
          <a:blip r:embed="rId1"/>
          <a:stretch>
            <a:fillRect/>
          </a:stretch>
        </p:blipFill>
        <p:spPr>
          <a:xfrm>
            <a:off x="1508760" y="1828800"/>
            <a:ext cx="457200" cy="457200"/>
          </a:xfrm>
          <a:prstGeom prst="rect">
            <a:avLst/>
          </a:prstGeom>
        </p:spPr>
      </p:pic>
      <p:sp>
        <p:nvSpPr>
          <p:cNvPr id="7" name="Text 4"/>
          <p:cNvSpPr txBox="1"/>
          <p:nvPr/>
        </p:nvSpPr>
        <p:spPr>
          <a:xfrm>
            <a:off x="685800" y="2606040"/>
            <a:ext cx="2103120" cy="411480"/>
          </a:xfrm>
          <a:prstGeom prst="rect">
            <a:avLst/>
          </a:prstGeom>
          <a:noFill/>
          <a:ln/>
        </p:spPr>
        <p:txBody>
          <a:bodyPr wrap="square" lIns="0" tIns="0" rIns="0" bIns="0" rtlCol="0" anchor="t"/>
          <a:lstStyle/>
          <a:p>
            <a:pPr algn="ctr" indent="0" marL="0">
              <a:buNone/>
            </a:pPr>
            <a:r>
              <a:rPr lang="en-US" sz="1500" b="1" dirty="0">
                <a:solidFill>
                  <a:schemeClr val="tx1"/>
                </a:solidFill>
              </a:rPr>
              <a:t>Memory dump</a:t>
            </a:r>
            <a:endParaRPr lang="en-US" sz="1500" dirty="0"/>
          </a:p>
        </p:txBody>
      </p:sp>
      <p:sp>
        <p:nvSpPr>
          <p:cNvPr id="8" name="Text 5"/>
          <p:cNvSpPr txBox="1"/>
          <p:nvPr/>
        </p:nvSpPr>
        <p:spPr>
          <a:xfrm>
            <a:off x="685800" y="3063240"/>
            <a:ext cx="2103120" cy="640080"/>
          </a:xfrm>
          <a:prstGeom prst="rect">
            <a:avLst/>
          </a:prstGeom>
          <a:noFill/>
          <a:ln/>
        </p:spPr>
        <p:txBody>
          <a:bodyPr wrap="square" lIns="0" tIns="0" rIns="0" bIns="0" rtlCol="0" anchor="t"/>
          <a:lstStyle/>
          <a:p>
            <a:pPr algn="ctr" indent="0" marL="0">
              <a:buNone/>
            </a:pPr>
            <a:r>
              <a:rPr lang="en-US" sz="1250" dirty="0">
                <a:solidFill>
                  <a:schemeClr val="tx2"/>
                </a:solidFill>
              </a:rPr>
              <a:t>.raw .mem .vmem .dmp</a:t>
            </a:r>
            <a:endParaRPr lang="en-US" sz="1250" dirty="0"/>
          </a:p>
          <a:p>
            <a:pPr algn="ctr" indent="0" marL="0">
              <a:buNone/>
            </a:pPr>
            <a:r>
              <a:rPr lang="en-US" sz="1250" dirty="0">
                <a:solidFill>
                  <a:schemeClr val="tx2"/>
                </a:solidFill>
              </a:rPr>
              <a:t>upload or file path</a:t>
            </a:r>
            <a:endParaRPr lang="en-US" sz="1250" dirty="0"/>
          </a:p>
        </p:txBody>
      </p:sp>
      <p:sp>
        <p:nvSpPr>
          <p:cNvPr id="9" name="flow arrow 1"/>
          <p:cNvSpPr/>
          <p:nvPr/>
        </p:nvSpPr>
        <p:spPr>
          <a:xfrm>
            <a:off x="2999232" y="2560320"/>
            <a:ext cx="381914" cy="0"/>
          </a:xfrm>
          <a:prstGeom prst="line">
            <a:avLst/>
          </a:prstGeom>
          <a:noFill/>
          <a:ln w="31750">
            <a:solidFill>
              <a:srgbClr val="5B6478"/>
            </a:solidFill>
            <a:prstDash val="solid"/>
            <a:tailEnd type="triangle"/>
          </a:ln>
        </p:spPr>
      </p:sp>
      <p:sp>
        <p:nvSpPr>
          <p:cNvPr id="10" name="flow card 2"/>
          <p:cNvSpPr/>
          <p:nvPr/>
        </p:nvSpPr>
        <p:spPr>
          <a:xfrm>
            <a:off x="3454298" y="1371600"/>
            <a:ext cx="2377440" cy="2377440"/>
          </a:xfrm>
          <a:prstGeom prst="roundRect">
            <a:avLst>
              <a:gd name="adj" fmla="val 4615"/>
            </a:avLst>
          </a:prstGeom>
          <a:solidFill>
            <a:schemeClr val="bg2"/>
          </a:solidFill>
          <a:ln w="12700">
            <a:solidFill>
              <a:schemeClr val="bg2"/>
            </a:solidFill>
            <a:prstDash val="solid"/>
          </a:ln>
        </p:spPr>
      </p:sp>
      <p:sp>
        <p:nvSpPr>
          <p:cNvPr id="11" name="flow 2 circle"/>
          <p:cNvSpPr/>
          <p:nvPr/>
        </p:nvSpPr>
        <p:spPr>
          <a:xfrm>
            <a:off x="4185818" y="1600200"/>
            <a:ext cx="914400" cy="914400"/>
          </a:xfrm>
          <a:prstGeom prst="ellipse">
            <a:avLst/>
          </a:prstGeom>
          <a:solidFill>
            <a:srgbClr val="2563EB"/>
          </a:solidFill>
          <a:ln w="12700">
            <a:solidFill>
              <a:srgbClr val="2563EB"/>
            </a:solidFill>
            <a:prstDash val="solid"/>
          </a:ln>
        </p:spPr>
      </p:sp>
      <p:pic>
        <p:nvPicPr>
          <p:cNvPr id="12" name="flow 2 icon" descr="preencoded.png">    </p:cNvPr>
          <p:cNvPicPr>
            <a:picLocks noChangeAspect="1"/>
          </p:cNvPicPr>
          <p:nvPr/>
        </p:nvPicPr>
        <p:blipFill>
          <a:blip r:embed="rId2"/>
          <a:stretch>
            <a:fillRect/>
          </a:stretch>
        </p:blipFill>
        <p:spPr>
          <a:xfrm>
            <a:off x="4414418" y="1828800"/>
            <a:ext cx="457200" cy="457200"/>
          </a:xfrm>
          <a:prstGeom prst="rect">
            <a:avLst/>
          </a:prstGeom>
        </p:spPr>
      </p:pic>
      <p:sp>
        <p:nvSpPr>
          <p:cNvPr id="13" name="Text 9"/>
          <p:cNvSpPr txBox="1"/>
          <p:nvPr/>
        </p:nvSpPr>
        <p:spPr>
          <a:xfrm>
            <a:off x="3591458" y="2606040"/>
            <a:ext cx="2103120" cy="411480"/>
          </a:xfrm>
          <a:prstGeom prst="rect">
            <a:avLst/>
          </a:prstGeom>
          <a:noFill/>
          <a:ln/>
        </p:spPr>
        <p:txBody>
          <a:bodyPr wrap="square" lIns="0" tIns="0" rIns="0" bIns="0" rtlCol="0" anchor="t"/>
          <a:lstStyle/>
          <a:p>
            <a:pPr algn="ctr" indent="0" marL="0">
              <a:buNone/>
            </a:pPr>
            <a:r>
              <a:rPr lang="en-US" sz="1500" b="1" dirty="0">
                <a:solidFill>
                  <a:schemeClr val="tx1"/>
                </a:solidFill>
              </a:rPr>
              <a:t>windows.info</a:t>
            </a:r>
            <a:endParaRPr lang="en-US" sz="1500" dirty="0"/>
          </a:p>
        </p:txBody>
      </p:sp>
      <p:sp>
        <p:nvSpPr>
          <p:cNvPr id="14" name="Text 10"/>
          <p:cNvSpPr txBox="1"/>
          <p:nvPr/>
        </p:nvSpPr>
        <p:spPr>
          <a:xfrm>
            <a:off x="3591458" y="3063240"/>
            <a:ext cx="2103120" cy="640080"/>
          </a:xfrm>
          <a:prstGeom prst="rect">
            <a:avLst/>
          </a:prstGeom>
          <a:noFill/>
          <a:ln/>
        </p:spPr>
        <p:txBody>
          <a:bodyPr wrap="square" lIns="0" tIns="0" rIns="0" bIns="0" rtlCol="0" anchor="t"/>
          <a:lstStyle/>
          <a:p>
            <a:pPr algn="ctr" indent="0" marL="0">
              <a:buNone/>
            </a:pPr>
            <a:r>
              <a:rPr lang="en-US" sz="1250" dirty="0">
                <a:solidFill>
                  <a:schemeClr val="tx2"/>
                </a:solidFill>
              </a:rPr>
              <a:t>identify the Windows</a:t>
            </a:r>
            <a:endParaRPr lang="en-US" sz="1250" dirty="0"/>
          </a:p>
          <a:p>
            <a:pPr algn="ctr" indent="0" marL="0">
              <a:buNone/>
            </a:pPr>
            <a:r>
              <a:rPr lang="en-US" sz="1250" dirty="0">
                <a:solidFill>
                  <a:schemeClr val="tx2"/>
                </a:solidFill>
              </a:rPr>
              <a:t>kernel and symbols</a:t>
            </a:r>
            <a:endParaRPr lang="en-US" sz="1250" dirty="0"/>
          </a:p>
        </p:txBody>
      </p:sp>
      <p:sp>
        <p:nvSpPr>
          <p:cNvPr id="15" name="flow arrow 2"/>
          <p:cNvSpPr/>
          <p:nvPr/>
        </p:nvSpPr>
        <p:spPr>
          <a:xfrm>
            <a:off x="5904890" y="2560320"/>
            <a:ext cx="381914" cy="0"/>
          </a:xfrm>
          <a:prstGeom prst="line">
            <a:avLst/>
          </a:prstGeom>
          <a:noFill/>
          <a:ln w="31750">
            <a:solidFill>
              <a:srgbClr val="5B6478"/>
            </a:solidFill>
            <a:prstDash val="solid"/>
            <a:tailEnd type="triangle"/>
          </a:ln>
        </p:spPr>
      </p:sp>
      <p:sp>
        <p:nvSpPr>
          <p:cNvPr id="16" name="flow card 3"/>
          <p:cNvSpPr/>
          <p:nvPr/>
        </p:nvSpPr>
        <p:spPr>
          <a:xfrm>
            <a:off x="6359957" y="1371600"/>
            <a:ext cx="2377440" cy="2377440"/>
          </a:xfrm>
          <a:prstGeom prst="roundRect">
            <a:avLst>
              <a:gd name="adj" fmla="val 4615"/>
            </a:avLst>
          </a:prstGeom>
          <a:solidFill>
            <a:schemeClr val="bg2"/>
          </a:solidFill>
          <a:ln w="12700">
            <a:solidFill>
              <a:schemeClr val="bg2"/>
            </a:solidFill>
            <a:prstDash val="solid"/>
          </a:ln>
        </p:spPr>
      </p:sp>
      <p:sp>
        <p:nvSpPr>
          <p:cNvPr id="17" name="flow 3 circle"/>
          <p:cNvSpPr/>
          <p:nvPr/>
        </p:nvSpPr>
        <p:spPr>
          <a:xfrm>
            <a:off x="7091477" y="1600200"/>
            <a:ext cx="914400" cy="914400"/>
          </a:xfrm>
          <a:prstGeom prst="ellipse">
            <a:avLst/>
          </a:prstGeom>
          <a:solidFill>
            <a:srgbClr val="6D5BD0"/>
          </a:solidFill>
          <a:ln w="12700">
            <a:solidFill>
              <a:srgbClr val="6D5BD0"/>
            </a:solidFill>
            <a:prstDash val="solid"/>
          </a:ln>
        </p:spPr>
      </p:sp>
      <p:pic>
        <p:nvPicPr>
          <p:cNvPr id="18" name="flow 3 icon" descr="preencoded.png">    </p:cNvPr>
          <p:cNvPicPr>
            <a:picLocks noChangeAspect="1"/>
          </p:cNvPicPr>
          <p:nvPr/>
        </p:nvPicPr>
        <p:blipFill>
          <a:blip r:embed="rId3"/>
          <a:stretch>
            <a:fillRect/>
          </a:stretch>
        </p:blipFill>
        <p:spPr>
          <a:xfrm>
            <a:off x="7320077" y="1828800"/>
            <a:ext cx="457200" cy="457200"/>
          </a:xfrm>
          <a:prstGeom prst="rect">
            <a:avLst/>
          </a:prstGeom>
        </p:spPr>
      </p:pic>
      <p:sp>
        <p:nvSpPr>
          <p:cNvPr id="19" name="Text 14"/>
          <p:cNvSpPr txBox="1"/>
          <p:nvPr/>
        </p:nvSpPr>
        <p:spPr>
          <a:xfrm>
            <a:off x="6497117" y="2606040"/>
            <a:ext cx="2103120" cy="411480"/>
          </a:xfrm>
          <a:prstGeom prst="rect">
            <a:avLst/>
          </a:prstGeom>
          <a:noFill/>
          <a:ln/>
        </p:spPr>
        <p:txBody>
          <a:bodyPr wrap="square" lIns="0" tIns="0" rIns="0" bIns="0" rtlCol="0" anchor="t"/>
          <a:lstStyle/>
          <a:p>
            <a:pPr algn="ctr" indent="0" marL="0">
              <a:buNone/>
            </a:pPr>
            <a:r>
              <a:rPr lang="en-US" sz="1500" b="1" dirty="0">
                <a:solidFill>
                  <a:schemeClr val="tx1"/>
                </a:solidFill>
              </a:rPr>
              <a:t>9 Volatility plugins</a:t>
            </a:r>
            <a:endParaRPr lang="en-US" sz="1500" dirty="0"/>
          </a:p>
        </p:txBody>
      </p:sp>
      <p:sp>
        <p:nvSpPr>
          <p:cNvPr id="20" name="Text 15"/>
          <p:cNvSpPr txBox="1"/>
          <p:nvPr/>
        </p:nvSpPr>
        <p:spPr>
          <a:xfrm>
            <a:off x="6497117" y="3063240"/>
            <a:ext cx="2103120" cy="640080"/>
          </a:xfrm>
          <a:prstGeom prst="rect">
            <a:avLst/>
          </a:prstGeom>
          <a:noFill/>
          <a:ln/>
        </p:spPr>
        <p:txBody>
          <a:bodyPr wrap="square" lIns="0" tIns="0" rIns="0" bIns="0" rtlCol="0" anchor="t"/>
          <a:lstStyle/>
          <a:p>
            <a:pPr algn="ctr" indent="0" marL="0">
              <a:buNone/>
            </a:pPr>
            <a:r>
              <a:rPr lang="en-US" sz="1250" dirty="0">
                <a:solidFill>
                  <a:schemeClr val="tx2"/>
                </a:solidFill>
              </a:rPr>
              <a:t>run in parallel</a:t>
            </a:r>
            <a:endParaRPr lang="en-US" sz="1250" dirty="0"/>
          </a:p>
        </p:txBody>
      </p:sp>
      <p:sp>
        <p:nvSpPr>
          <p:cNvPr id="21" name="flow arrow 3"/>
          <p:cNvSpPr/>
          <p:nvPr/>
        </p:nvSpPr>
        <p:spPr>
          <a:xfrm>
            <a:off x="8810549" y="2560320"/>
            <a:ext cx="381914" cy="0"/>
          </a:xfrm>
          <a:prstGeom prst="line">
            <a:avLst/>
          </a:prstGeom>
          <a:noFill/>
          <a:ln w="31750">
            <a:solidFill>
              <a:srgbClr val="5B6478"/>
            </a:solidFill>
            <a:prstDash val="solid"/>
            <a:tailEnd type="triangle"/>
          </a:ln>
        </p:spPr>
      </p:sp>
      <p:sp>
        <p:nvSpPr>
          <p:cNvPr id="22" name="flow card 4"/>
          <p:cNvSpPr/>
          <p:nvPr/>
        </p:nvSpPr>
        <p:spPr>
          <a:xfrm>
            <a:off x="9265615" y="1371600"/>
            <a:ext cx="2377440" cy="2377440"/>
          </a:xfrm>
          <a:prstGeom prst="roundRect">
            <a:avLst>
              <a:gd name="adj" fmla="val 4615"/>
            </a:avLst>
          </a:prstGeom>
          <a:solidFill>
            <a:schemeClr val="bg2"/>
          </a:solidFill>
          <a:ln w="12700">
            <a:solidFill>
              <a:schemeClr val="bg2"/>
            </a:solidFill>
            <a:prstDash val="solid"/>
          </a:ln>
        </p:spPr>
      </p:sp>
      <p:sp>
        <p:nvSpPr>
          <p:cNvPr id="23" name="flow 4 circle"/>
          <p:cNvSpPr/>
          <p:nvPr/>
        </p:nvSpPr>
        <p:spPr>
          <a:xfrm>
            <a:off x="9997135" y="1600200"/>
            <a:ext cx="914400" cy="914400"/>
          </a:xfrm>
          <a:prstGeom prst="ellipse">
            <a:avLst/>
          </a:prstGeom>
          <a:solidFill>
            <a:srgbClr val="16A34A"/>
          </a:solidFill>
          <a:ln w="12700">
            <a:solidFill>
              <a:srgbClr val="16A34A"/>
            </a:solidFill>
            <a:prstDash val="solid"/>
          </a:ln>
        </p:spPr>
      </p:sp>
      <p:pic>
        <p:nvPicPr>
          <p:cNvPr id="24" name="flow 4 icon" descr="preencoded.png">    </p:cNvPr>
          <p:cNvPicPr>
            <a:picLocks noChangeAspect="1"/>
          </p:cNvPicPr>
          <p:nvPr/>
        </p:nvPicPr>
        <p:blipFill>
          <a:blip r:embed="rId4"/>
          <a:stretch>
            <a:fillRect/>
          </a:stretch>
        </p:blipFill>
        <p:spPr>
          <a:xfrm>
            <a:off x="10225735" y="1828800"/>
            <a:ext cx="457200" cy="457200"/>
          </a:xfrm>
          <a:prstGeom prst="rect">
            <a:avLst/>
          </a:prstGeom>
        </p:spPr>
      </p:pic>
      <p:sp>
        <p:nvSpPr>
          <p:cNvPr id="25" name="Text 19"/>
          <p:cNvSpPr txBox="1"/>
          <p:nvPr/>
        </p:nvSpPr>
        <p:spPr>
          <a:xfrm>
            <a:off x="9402775" y="2606040"/>
            <a:ext cx="2103120" cy="411480"/>
          </a:xfrm>
          <a:prstGeom prst="rect">
            <a:avLst/>
          </a:prstGeom>
          <a:noFill/>
          <a:ln/>
        </p:spPr>
        <p:txBody>
          <a:bodyPr wrap="square" lIns="0" tIns="0" rIns="0" bIns="0" rtlCol="0" anchor="t"/>
          <a:lstStyle/>
          <a:p>
            <a:pPr algn="ctr" indent="0" marL="0">
              <a:buNone/>
            </a:pPr>
            <a:r>
              <a:rPr lang="en-US" sz="1500" b="1" dirty="0">
                <a:solidFill>
                  <a:schemeClr val="tx1"/>
                </a:solidFill>
              </a:rPr>
              <a:t>55-feature CSV</a:t>
            </a:r>
            <a:endParaRPr lang="en-US" sz="1500" dirty="0"/>
          </a:p>
        </p:txBody>
      </p:sp>
      <p:sp>
        <p:nvSpPr>
          <p:cNvPr id="26" name="Text 20"/>
          <p:cNvSpPr txBox="1"/>
          <p:nvPr/>
        </p:nvSpPr>
        <p:spPr>
          <a:xfrm>
            <a:off x="9402775" y="3063240"/>
            <a:ext cx="2103120" cy="640080"/>
          </a:xfrm>
          <a:prstGeom prst="rect">
            <a:avLst/>
          </a:prstGeom>
          <a:noFill/>
          <a:ln/>
        </p:spPr>
        <p:txBody>
          <a:bodyPr wrap="square" lIns="0" tIns="0" rIns="0" bIns="0" rtlCol="0" anchor="t"/>
          <a:lstStyle/>
          <a:p>
            <a:pPr algn="ctr" indent="0" marL="0">
              <a:buNone/>
            </a:pPr>
            <a:r>
              <a:rPr lang="en-US" sz="1250" dirty="0">
                <a:solidFill>
                  <a:schemeClr val="tx2"/>
                </a:solidFill>
              </a:rPr>
              <a:t>same columns as</a:t>
            </a:r>
            <a:endParaRPr lang="en-US" sz="1250" dirty="0"/>
          </a:p>
          <a:p>
            <a:pPr algn="ctr" indent="0" marL="0">
              <a:buNone/>
            </a:pPr>
            <a:r>
              <a:rPr lang="en-US" sz="1250" dirty="0">
                <a:solidFill>
                  <a:schemeClr val="tx2"/>
                </a:solidFill>
              </a:rPr>
              <a:t>the training data</a:t>
            </a:r>
            <a:endParaRPr lang="en-US" sz="1250" dirty="0"/>
          </a:p>
        </p:txBody>
      </p:sp>
      <p:sp>
        <p:nvSpPr>
          <p:cNvPr id="27" name="plugin pslist"/>
          <p:cNvSpPr txBox="1"/>
          <p:nvPr/>
        </p:nvSpPr>
        <p:spPr>
          <a:xfrm>
            <a:off x="548640"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pslist</a:t>
            </a:r>
            <a:endParaRPr lang="en-US" sz="1100" dirty="0"/>
          </a:p>
        </p:txBody>
      </p:sp>
      <p:sp>
        <p:nvSpPr>
          <p:cNvPr id="28" name="plugin dlllist"/>
          <p:cNvSpPr txBox="1"/>
          <p:nvPr/>
        </p:nvSpPr>
        <p:spPr>
          <a:xfrm>
            <a:off x="1796593"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dlllist</a:t>
            </a:r>
            <a:endParaRPr lang="en-US" sz="1100" dirty="0"/>
          </a:p>
        </p:txBody>
      </p:sp>
      <p:sp>
        <p:nvSpPr>
          <p:cNvPr id="29" name="plugin handles"/>
          <p:cNvSpPr txBox="1"/>
          <p:nvPr/>
        </p:nvSpPr>
        <p:spPr>
          <a:xfrm>
            <a:off x="3044546"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handles</a:t>
            </a:r>
            <a:endParaRPr lang="en-US" sz="1100" dirty="0"/>
          </a:p>
        </p:txBody>
      </p:sp>
      <p:sp>
        <p:nvSpPr>
          <p:cNvPr id="30" name="plugin ldrmodules"/>
          <p:cNvSpPr txBox="1"/>
          <p:nvPr/>
        </p:nvSpPr>
        <p:spPr>
          <a:xfrm>
            <a:off x="4292498"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ldrmodules</a:t>
            </a:r>
            <a:endParaRPr lang="en-US" sz="1100" dirty="0"/>
          </a:p>
        </p:txBody>
      </p:sp>
      <p:sp>
        <p:nvSpPr>
          <p:cNvPr id="31" name="plugin malfind"/>
          <p:cNvSpPr txBox="1"/>
          <p:nvPr/>
        </p:nvSpPr>
        <p:spPr>
          <a:xfrm>
            <a:off x="5540451"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malfind</a:t>
            </a:r>
            <a:endParaRPr lang="en-US" sz="1100" dirty="0"/>
          </a:p>
        </p:txBody>
      </p:sp>
      <p:sp>
        <p:nvSpPr>
          <p:cNvPr id="32" name="plugin psxview"/>
          <p:cNvSpPr txBox="1"/>
          <p:nvPr/>
        </p:nvSpPr>
        <p:spPr>
          <a:xfrm>
            <a:off x="6788404"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psxview</a:t>
            </a:r>
            <a:endParaRPr lang="en-US" sz="1100" dirty="0"/>
          </a:p>
        </p:txBody>
      </p:sp>
      <p:sp>
        <p:nvSpPr>
          <p:cNvPr id="33" name="plugin modules"/>
          <p:cNvSpPr txBox="1"/>
          <p:nvPr/>
        </p:nvSpPr>
        <p:spPr>
          <a:xfrm>
            <a:off x="8036357"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modules</a:t>
            </a:r>
            <a:endParaRPr lang="en-US" sz="1100" dirty="0"/>
          </a:p>
        </p:txBody>
      </p:sp>
      <p:sp>
        <p:nvSpPr>
          <p:cNvPr id="34" name="plugin svcscan"/>
          <p:cNvSpPr txBox="1"/>
          <p:nvPr/>
        </p:nvSpPr>
        <p:spPr>
          <a:xfrm>
            <a:off x="9284310"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svcscan</a:t>
            </a:r>
            <a:endParaRPr lang="en-US" sz="1100" dirty="0"/>
          </a:p>
        </p:txBody>
      </p:sp>
      <p:sp>
        <p:nvSpPr>
          <p:cNvPr id="35" name="plugin callbacks"/>
          <p:cNvSpPr txBox="1"/>
          <p:nvPr/>
        </p:nvSpPr>
        <p:spPr>
          <a:xfrm>
            <a:off x="10532262" y="4069080"/>
            <a:ext cx="1110793" cy="411480"/>
          </a:xfrm>
          <a:prstGeom prst="roundRect">
            <a:avLst>
              <a:gd name="adj" fmla="val 22222"/>
            </a:avLst>
          </a:prstGeom>
          <a:solidFill>
            <a:srgbClr val="ECE9FB"/>
          </a:solidFill>
          <a:ln/>
        </p:spPr>
        <p:txBody>
          <a:bodyPr wrap="square" rtlCol="0" anchor="ctr"/>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callbacks</a:t>
            </a:r>
            <a:endParaRPr lang="en-US" sz="1100" dirty="0"/>
          </a:p>
        </p:txBody>
      </p:sp>
      <p:sp>
        <p:nvSpPr>
          <p:cNvPr id="36" name="Text 30"/>
          <p:cNvSpPr txBox="1"/>
          <p:nvPr/>
        </p:nvSpPr>
        <p:spPr>
          <a:xfrm>
            <a:off x="548640" y="4754880"/>
            <a:ext cx="11094415" cy="128016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What they measure: </a:t>
            </a:r>
            <a:pPr indent="0" marL="0">
              <a:spcAft>
                <a:spcPts val="600"/>
              </a:spcAft>
              <a:buNone/>
            </a:pPr>
            <a:r>
              <a:rPr lang="en-US" sz="1400" dirty="0">
                <a:solidFill>
                  <a:schemeClr val="tx2"/>
                </a:solidFill>
              </a:rPr>
              <a:t>processes, DLLs, handles, injected code, hidden processes, services and kernel drivers.</a:t>
            </a:r>
            <a:endParaRPr lang="en-US" sz="1400" dirty="0"/>
          </a:p>
          <a:p>
            <a:pPr indent="0" marL="0">
              <a:spcAft>
                <a:spcPts val="600"/>
              </a:spcAft>
              <a:buNone/>
            </a:pPr>
            <a:r>
              <a:rPr lang="en-US" sz="1400" b="1" dirty="0">
                <a:solidFill>
                  <a:schemeClr val="tx2"/>
                </a:solidFill>
              </a:rPr>
              <a:t>Approximations: </a:t>
            </a:r>
            <a:pPr indent="0" marL="0">
              <a:spcAft>
                <a:spcPts val="600"/>
              </a:spcAft>
              <a:buNone/>
            </a:pPr>
            <a:r>
              <a:rPr lang="en-US" sz="1400" dirty="0">
                <a:solidFill>
                  <a:schemeClr val="tx2"/>
                </a:solidFill>
              </a:rPr>
              <a:t>3 features differ slightly because Volatility 3 lacks some checks used to build the dataset (psxview views, de-duplicated services, malfind.protection).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3 — Training and choosing the model</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5"/>
          </a:solidFill>
          <a:ln/>
        </p:spPr>
        <p:txBody>
          <a:bodyPr wrap="square" rtlCol="0" anchor="ctr"/>
          <a:lstStyle/>
          <a:p>
            <a:pPr algn="ctr" indent="0" marL="0">
              <a:buNone/>
            </a:pPr>
            <a:r>
              <a:rPr lang="en-US" sz="1200" b="1" dirty="0">
                <a:solidFill>
                  <a:schemeClr val="bg1"/>
                </a:solidFill>
              </a:rPr>
              <a:t>PHASE 3</a:t>
            </a:r>
            <a:endParaRPr lang="en-US" sz="1200" dirty="0"/>
          </a:p>
        </p:txBody>
      </p:sp>
      <p:sp>
        <p:nvSpPr>
          <p:cNvPr id="4" name="step dot 1"/>
          <p:cNvSpPr/>
          <p:nvPr/>
        </p:nvSpPr>
        <p:spPr>
          <a:xfrm>
            <a:off x="548640" y="1371600"/>
            <a:ext cx="457200" cy="457200"/>
          </a:xfrm>
          <a:prstGeom prst="ellipse">
            <a:avLst/>
          </a:prstGeom>
          <a:solidFill>
            <a:schemeClr val="accent5"/>
          </a:solidFill>
          <a:ln w="12700">
            <a:solidFill>
              <a:schemeClr val="accent5"/>
            </a:solidFill>
            <a:prstDash val="solid"/>
          </a:ln>
        </p:spPr>
      </p:sp>
      <p:sp>
        <p:nvSpPr>
          <p:cNvPr id="5" name="Text 3"/>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88720" y="1371600"/>
            <a:ext cx="5486400" cy="548640"/>
          </a:xfrm>
          <a:prstGeom prst="rect">
            <a:avLst/>
          </a:prstGeom>
          <a:noFill/>
          <a:ln/>
        </p:spPr>
        <p:txBody>
          <a:bodyPr wrap="square" lIns="0" tIns="0" rIns="0" bIns="0" rtlCol="0" anchor="ctr"/>
          <a:lstStyle/>
          <a:p>
            <a:pPr indent="0" marL="0">
              <a:buNone/>
            </a:pPr>
            <a:r>
              <a:rPr lang="en-US" sz="1500" dirty="0">
                <a:solidFill>
                  <a:schemeClr val="tx1"/>
                </a:solidFill>
              </a:rPr>
              <a:t>Two candidates: Logistic Regression (baseline) and Random Forest</a:t>
            </a:r>
            <a:endParaRPr lang="en-US" sz="1500" dirty="0"/>
          </a:p>
        </p:txBody>
      </p:sp>
      <p:sp>
        <p:nvSpPr>
          <p:cNvPr id="7" name="step dot 2"/>
          <p:cNvSpPr/>
          <p:nvPr/>
        </p:nvSpPr>
        <p:spPr>
          <a:xfrm>
            <a:off x="548640" y="2057400"/>
            <a:ext cx="457200" cy="457200"/>
          </a:xfrm>
          <a:prstGeom prst="ellipse">
            <a:avLst/>
          </a:prstGeom>
          <a:solidFill>
            <a:schemeClr val="accent5"/>
          </a:solidFill>
          <a:ln w="12700">
            <a:solidFill>
              <a:schemeClr val="accent5"/>
            </a:solidFill>
            <a:prstDash val="solid"/>
          </a:ln>
        </p:spPr>
      </p:sp>
      <p:sp>
        <p:nvSpPr>
          <p:cNvPr id="8" name="Text 6"/>
          <p:cNvSpPr txBox="1"/>
          <p:nvPr/>
        </p:nvSpPr>
        <p:spPr>
          <a:xfrm>
            <a:off x="548640"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88720" y="2057400"/>
            <a:ext cx="5486400" cy="548640"/>
          </a:xfrm>
          <a:prstGeom prst="rect">
            <a:avLst/>
          </a:prstGeom>
          <a:noFill/>
          <a:ln/>
        </p:spPr>
        <p:txBody>
          <a:bodyPr wrap="square" lIns="0" tIns="0" rIns="0" bIns="0" rtlCol="0" anchor="ctr"/>
          <a:lstStyle/>
          <a:p>
            <a:pPr indent="0" marL="0">
              <a:buNone/>
            </a:pPr>
            <a:r>
              <a:rPr lang="en-US" sz="1500" dirty="0">
                <a:solidFill>
                  <a:schemeClr val="tx1"/>
                </a:solidFill>
              </a:rPr>
              <a:t>Stratified 80/20 train–test split</a:t>
            </a:r>
            <a:endParaRPr lang="en-US" sz="1500" dirty="0"/>
          </a:p>
        </p:txBody>
      </p:sp>
      <p:sp>
        <p:nvSpPr>
          <p:cNvPr id="10" name="step dot 3"/>
          <p:cNvSpPr/>
          <p:nvPr/>
        </p:nvSpPr>
        <p:spPr>
          <a:xfrm>
            <a:off x="548640" y="2743200"/>
            <a:ext cx="457200" cy="457200"/>
          </a:xfrm>
          <a:prstGeom prst="ellipse">
            <a:avLst/>
          </a:prstGeom>
          <a:solidFill>
            <a:schemeClr val="accent5"/>
          </a:solidFill>
          <a:ln w="12700">
            <a:solidFill>
              <a:schemeClr val="accent5"/>
            </a:solidFill>
            <a:prstDash val="solid"/>
          </a:ln>
        </p:spPr>
      </p:sp>
      <p:sp>
        <p:nvSpPr>
          <p:cNvPr id="11" name="Text 9"/>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10"/>
          <p:cNvSpPr txBox="1"/>
          <p:nvPr/>
        </p:nvSpPr>
        <p:spPr>
          <a:xfrm>
            <a:off x="1188720" y="2743200"/>
            <a:ext cx="5486400" cy="548640"/>
          </a:xfrm>
          <a:prstGeom prst="rect">
            <a:avLst/>
          </a:prstGeom>
          <a:noFill/>
          <a:ln/>
        </p:spPr>
        <p:txBody>
          <a:bodyPr wrap="square" lIns="0" tIns="0" rIns="0" bIns="0" rtlCol="0" anchor="ctr"/>
          <a:lstStyle/>
          <a:p>
            <a:pPr indent="0" marL="0">
              <a:buNone/>
            </a:pPr>
            <a:r>
              <a:rPr lang="en-US" sz="1500" dirty="0">
                <a:solidFill>
                  <a:schemeClr val="tx1"/>
                </a:solidFill>
              </a:rPr>
              <a:t>3-fold cross-validation on the training set</a:t>
            </a:r>
            <a:endParaRPr lang="en-US" sz="1500" dirty="0"/>
          </a:p>
        </p:txBody>
      </p:sp>
      <p:sp>
        <p:nvSpPr>
          <p:cNvPr id="13" name="step dot 4"/>
          <p:cNvSpPr/>
          <p:nvPr/>
        </p:nvSpPr>
        <p:spPr>
          <a:xfrm>
            <a:off x="548640" y="3429000"/>
            <a:ext cx="457200" cy="457200"/>
          </a:xfrm>
          <a:prstGeom prst="ellipse">
            <a:avLst/>
          </a:prstGeom>
          <a:solidFill>
            <a:schemeClr val="accent5"/>
          </a:solidFill>
          <a:ln w="12700">
            <a:solidFill>
              <a:schemeClr val="accent5"/>
            </a:solidFill>
            <a:prstDash val="solid"/>
          </a:ln>
        </p:spPr>
      </p:sp>
      <p:sp>
        <p:nvSpPr>
          <p:cNvPr id="14" name="Text 12"/>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3"/>
          <p:cNvSpPr txBox="1"/>
          <p:nvPr/>
        </p:nvSpPr>
        <p:spPr>
          <a:xfrm>
            <a:off x="1188720" y="3429000"/>
            <a:ext cx="5486400" cy="548640"/>
          </a:xfrm>
          <a:prstGeom prst="rect">
            <a:avLst/>
          </a:prstGeom>
          <a:noFill/>
          <a:ln/>
        </p:spPr>
        <p:txBody>
          <a:bodyPr wrap="square" lIns="0" tIns="0" rIns="0" bIns="0" rtlCol="0" anchor="ctr"/>
          <a:lstStyle/>
          <a:p>
            <a:pPr indent="0" marL="0">
              <a:buNone/>
            </a:pPr>
            <a:r>
              <a:rPr lang="en-US" sz="1500" dirty="0">
                <a:solidFill>
                  <a:schemeClr val="tx1"/>
                </a:solidFill>
              </a:rPr>
              <a:t>Keep the model with the highest test ROC-AUC</a:t>
            </a:r>
            <a:endParaRPr lang="en-US" sz="1500" dirty="0"/>
          </a:p>
        </p:txBody>
      </p:sp>
      <p:graphicFrame>
        <p:nvGraphicFramePr>
          <p:cNvPr id="7" name="model table"/>
          <p:cNvGraphicFramePr>
            <a:graphicFrameLocks noGrp="1"/>
          </p:cNvGraphicFramePr>
          <p:nvPr>
            <p:extLst>
              <p:ext uri="{D42A27DB-BD31-4B8C-83A1-F6EECF244321}">
                <p14:modId xmlns:p14="http://schemas.microsoft.com/office/powerpoint/2010/main" val="1579011935"/>
              </p:ext>
            </p:extLst>
          </p:nvPr>
        </p:nvGraphicFramePr>
        <p:xfrm>
          <a:off x="548640" y="4251960"/>
          <a:ext cx="6126480" cy="914400"/>
        </p:xfrm>
        <a:graphic>
          <a:graphicData uri="http://schemas.openxmlformats.org/drawingml/2006/table">
            <a:tbl>
              <a:tblPr/>
              <a:tblGrid>
                <a:gridCol w="1920240"/>
                <a:gridCol w="1051560"/>
                <a:gridCol w="1005840"/>
                <a:gridCol w="1005840"/>
                <a:gridCol w="1143000"/>
              </a:tblGrid>
              <a:tr h="384048">
                <a:tc>
                  <a:txBody>
                    <a:bodyPr/>
                    <a:lstStyle/>
                    <a:p>
                      <a:pPr algn="l" indent="0" marL="0">
                        <a:buNone/>
                      </a:pPr>
                      <a:r>
                        <a:rPr lang="en-US" sz="1300" b="1" dirty="0">
                          <a:solidFill>
                            <a:srgbClr val="FFFFFF"/>
                          </a:solidFill>
                        </a:rPr>
                        <a:t>Model</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rPr>
                        <a:t>Accuracy</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rPr>
                        <a:t>Recall</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rPr>
                        <a:t>F1</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300" b="1" dirty="0">
                          <a:solidFill>
                            <a:srgbClr val="FFFFFF"/>
                          </a:solidFill>
                        </a:rPr>
                        <a:t>ROC-AUC</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r>
              <a:tr h="384048">
                <a:tc>
                  <a:txBody>
                    <a:bodyPr/>
                    <a:lstStyle/>
                    <a:p>
                      <a:pPr algn="l" indent="0" marL="0">
                        <a:buNone/>
                      </a:pPr>
                      <a:r>
                        <a:rPr lang="en-US" sz="1300" b="1" dirty="0">
                          <a:solidFill>
                            <a:srgbClr val="6D5BD0"/>
                          </a:solidFill>
                        </a:rPr>
                        <a:t>Random Forest ✔</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rPr>
                        <a:t>99.99%</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rPr>
                        <a:t>100%</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rPr>
                        <a:t>99.99%</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rPr>
                        <a:t>1.000</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000000"/>
                          </a:solidFill>
                        </a:rPr>
                        <a:t>Logistic Regression</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99.87%</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99.90%</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99.87%</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0.9999</a:t>
                      </a:r>
                      <a:endParaRPr lang="en-US" sz="13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548640" y="5532120"/>
            <a:ext cx="6126480" cy="457200"/>
          </a:xfrm>
          <a:prstGeom prst="rect">
            <a:avLst/>
          </a:prstGeom>
          <a:noFill/>
          <a:ln/>
        </p:spPr>
        <p:txBody>
          <a:bodyPr wrap="square" lIns="0" tIns="0" rIns="0" bIns="0" rtlCol="0" anchor="t"/>
          <a:lstStyle/>
          <a:p>
            <a:pPr indent="0" marL="0">
              <a:buNone/>
            </a:pPr>
            <a:r>
              <a:rPr lang="en-US" sz="1250" dirty="0">
                <a:solidFill>
                  <a:schemeClr val="tx2"/>
                </a:solidFill>
              </a:rPr>
              <a:t>Deployed Random Forest: 150 trees, max depth 12, min 4 samples per leaf.</a:t>
            </a:r>
            <a:endParaRPr lang="en-US" sz="1250" dirty="0"/>
          </a:p>
        </p:txBody>
      </p:sp>
      <p:sp>
        <p:nvSpPr>
          <p:cNvPr id="18" name="confusion card"/>
          <p:cNvSpPr/>
          <p:nvPr/>
        </p:nvSpPr>
        <p:spPr>
          <a:xfrm>
            <a:off x="7040880" y="1280160"/>
            <a:ext cx="4602175" cy="4846320"/>
          </a:xfrm>
          <a:prstGeom prst="roundRect">
            <a:avLst>
              <a:gd name="adj" fmla="val 2384"/>
            </a:avLst>
          </a:prstGeom>
          <a:solidFill>
            <a:schemeClr val="bg2"/>
          </a:solidFill>
          <a:ln w="12700">
            <a:solidFill>
              <a:schemeClr val="bg2"/>
            </a:solidFill>
            <a:prstDash val="solid"/>
          </a:ln>
        </p:spPr>
      </p:sp>
      <p:pic>
        <p:nvPicPr>
          <p:cNvPr id="19" name="confusion matrix" descr="/home/user/Memory-Forensic-Triage-AI/outputs/confusion_matrix.png">    </p:cNvPr>
          <p:cNvPicPr>
            <a:picLocks noChangeAspect="1"/>
          </p:cNvPicPr>
          <p:nvPr/>
        </p:nvPicPr>
        <p:blipFill>
          <a:blip r:embed="rId1"/>
          <a:stretch>
            <a:fillRect/>
          </a:stretch>
        </p:blipFill>
        <p:spPr>
          <a:xfrm>
            <a:off x="7269480" y="1417320"/>
            <a:ext cx="4160520" cy="3465576"/>
          </a:xfrm>
          <a:prstGeom prst="rect">
            <a:avLst/>
          </a:prstGeom>
        </p:spPr>
      </p:pic>
      <p:sp>
        <p:nvSpPr>
          <p:cNvPr id="20" name="Text 16"/>
          <p:cNvSpPr txBox="1"/>
          <p:nvPr/>
        </p:nvSpPr>
        <p:spPr>
          <a:xfrm>
            <a:off x="7269480" y="4983480"/>
            <a:ext cx="4160520" cy="1005840"/>
          </a:xfrm>
          <a:prstGeom prst="rect">
            <a:avLst/>
          </a:prstGeom>
          <a:noFill/>
          <a:ln/>
        </p:spPr>
        <p:txBody>
          <a:bodyPr wrap="square" lIns="0" tIns="0" rIns="0" bIns="0" rtlCol="0" anchor="t"/>
          <a:lstStyle/>
          <a:p>
            <a:pPr indent="0" marL="0">
              <a:buNone/>
            </a:pPr>
            <a:r>
              <a:rPr lang="en-US" sz="2200" b="1" dirty="0">
                <a:solidFill>
                  <a:srgbClr val="6D5BD0"/>
                </a:solidFill>
              </a:rPr>
              <a:t>1 error</a:t>
            </a:r>
            <a:endParaRPr lang="en-US" sz="1350" dirty="0"/>
          </a:p>
          <a:p>
            <a:pPr indent="0" marL="0">
              <a:buNone/>
            </a:pPr>
            <a:r>
              <a:rPr lang="en-US" sz="1350" dirty="0">
                <a:solidFill>
                  <a:schemeClr val="tx2"/>
                </a:solidFill>
              </a:rPr>
              <a:t>in 11,720 test snapshots — one benign flagged as malware, no malware missed.</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4 — Detection: two models, three risk levels</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2"/>
          </a:solidFill>
          <a:ln/>
        </p:spPr>
        <p:txBody>
          <a:bodyPr wrap="square" rtlCol="0" anchor="ctr"/>
          <a:lstStyle/>
          <a:p>
            <a:pPr algn="ctr" indent="0" marL="0">
              <a:buNone/>
            </a:pPr>
            <a:r>
              <a:rPr lang="en-US" sz="1200" b="1" dirty="0">
                <a:solidFill>
                  <a:schemeClr val="bg1"/>
                </a:solidFill>
              </a:rPr>
              <a:t>PHASE 4</a:t>
            </a:r>
            <a:endParaRPr lang="en-US" sz="1200" dirty="0"/>
          </a:p>
        </p:txBody>
      </p:sp>
      <p:sp>
        <p:nvSpPr>
          <p:cNvPr id="4" name="detector 1"/>
          <p:cNvSpPr/>
          <p:nvPr/>
        </p:nvSpPr>
        <p:spPr>
          <a:xfrm>
            <a:off x="548640" y="1325880"/>
            <a:ext cx="5349240" cy="2194560"/>
          </a:xfrm>
          <a:prstGeom prst="roundRect">
            <a:avLst>
              <a:gd name="adj" fmla="val 5000"/>
            </a:avLst>
          </a:prstGeom>
          <a:solidFill>
            <a:schemeClr val="bg2"/>
          </a:solidFill>
          <a:ln w="12700">
            <a:solidFill>
              <a:schemeClr val="bg2"/>
            </a:solidFill>
            <a:prstDash val="solid"/>
          </a:ln>
        </p:spPr>
      </p:sp>
      <p:sp>
        <p:nvSpPr>
          <p:cNvPr id="5" name="detector 1 circle"/>
          <p:cNvSpPr/>
          <p:nvPr/>
        </p:nvSpPr>
        <p:spPr>
          <a:xfrm>
            <a:off x="822960" y="1600200"/>
            <a:ext cx="914400" cy="914400"/>
          </a:xfrm>
          <a:prstGeom prst="ellipse">
            <a:avLst/>
          </a:prstGeom>
          <a:solidFill>
            <a:srgbClr val="DC2626"/>
          </a:solidFill>
          <a:ln w="12700">
            <a:solidFill>
              <a:srgbClr val="DC2626"/>
            </a:solidFill>
            <a:prstDash val="solid"/>
          </a:ln>
        </p:spPr>
      </p:sp>
      <p:pic>
        <p:nvPicPr>
          <p:cNvPr id="6" name="detector 1 icon" descr="preencoded.png">    </p:cNvPr>
          <p:cNvPicPr>
            <a:picLocks noChangeAspect="1"/>
          </p:cNvPicPr>
          <p:nvPr/>
        </p:nvPicPr>
        <p:blipFill>
          <a:blip r:embed="rId1"/>
          <a:stretch>
            <a:fillRect/>
          </a:stretch>
        </p:blipFill>
        <p:spPr>
          <a:xfrm>
            <a:off x="1051560" y="1828800"/>
            <a:ext cx="457200" cy="457200"/>
          </a:xfrm>
          <a:prstGeom prst="rect">
            <a:avLst/>
          </a:prstGeom>
        </p:spPr>
      </p:pic>
      <p:sp>
        <p:nvSpPr>
          <p:cNvPr id="7" name="Text 4"/>
          <p:cNvSpPr txBox="1"/>
          <p:nvPr/>
        </p:nvSpPr>
        <p:spPr>
          <a:xfrm>
            <a:off x="1965960" y="1600200"/>
            <a:ext cx="3749040" cy="411480"/>
          </a:xfrm>
          <a:prstGeom prst="rect">
            <a:avLst/>
          </a:prstGeom>
          <a:noFill/>
          <a:ln/>
        </p:spPr>
        <p:txBody>
          <a:bodyPr wrap="square" lIns="0" tIns="0" rIns="0" bIns="0" rtlCol="0" anchor="t"/>
          <a:lstStyle/>
          <a:p>
            <a:pPr indent="0" marL="0">
              <a:buNone/>
            </a:pPr>
            <a:r>
              <a:rPr lang="en-US" sz="1600" b="1" dirty="0">
                <a:solidFill>
                  <a:schemeClr val="tx1"/>
                </a:solidFill>
              </a:rPr>
              <a:t>Random Forest (supervised)</a:t>
            </a:r>
            <a:endParaRPr lang="en-US" sz="1600" dirty="0"/>
          </a:p>
        </p:txBody>
      </p:sp>
      <p:sp>
        <p:nvSpPr>
          <p:cNvPr id="8" name="Text 5"/>
          <p:cNvSpPr txBox="1"/>
          <p:nvPr/>
        </p:nvSpPr>
        <p:spPr>
          <a:xfrm>
            <a:off x="1965960" y="2057400"/>
            <a:ext cx="3749040" cy="640080"/>
          </a:xfrm>
          <a:prstGeom prst="rect">
            <a:avLst/>
          </a:prstGeom>
          <a:noFill/>
          <a:ln/>
        </p:spPr>
        <p:txBody>
          <a:bodyPr wrap="square" lIns="0" tIns="0" rIns="0" bIns="0" rtlCol="0" anchor="t"/>
          <a:lstStyle/>
          <a:p>
            <a:pPr indent="0" marL="0">
              <a:buNone/>
            </a:pPr>
            <a:r>
              <a:rPr lang="en-US" sz="1400" dirty="0">
                <a:solidFill>
                  <a:schemeClr val="tx2"/>
                </a:solidFill>
              </a:rPr>
              <a:t>150 decision trees vote on the 55 features.</a:t>
            </a:r>
            <a:endParaRPr lang="en-US" sz="1400" dirty="0"/>
          </a:p>
        </p:txBody>
      </p:sp>
      <p:sp>
        <p:nvSpPr>
          <p:cNvPr id="9" name="Text 6"/>
          <p:cNvSpPr txBox="1"/>
          <p:nvPr/>
        </p:nvSpPr>
        <p:spPr>
          <a:xfrm>
            <a:off x="1965960" y="2788920"/>
            <a:ext cx="3749040" cy="548640"/>
          </a:xfrm>
          <a:prstGeom prst="rect">
            <a:avLst/>
          </a:prstGeom>
          <a:noFill/>
          <a:ln/>
        </p:spPr>
        <p:txBody>
          <a:bodyPr wrap="square" lIns="0" tIns="0" rIns="0" bIns="0" rtlCol="0" anchor="t"/>
          <a:lstStyle/>
          <a:p>
            <a:pPr indent="0" marL="0">
              <a:buNone/>
            </a:pPr>
            <a:r>
              <a:rPr lang="en-US" sz="1400" b="1" dirty="0">
                <a:solidFill>
                  <a:srgbClr val="DC2626"/>
                </a:solidFill>
              </a:rPr>
              <a:t>Output: probability of malware, 0–100%</a:t>
            </a:r>
            <a:endParaRPr lang="en-US" sz="1400" dirty="0"/>
          </a:p>
        </p:txBody>
      </p:sp>
      <p:sp>
        <p:nvSpPr>
          <p:cNvPr id="10" name="detector 2"/>
          <p:cNvSpPr/>
          <p:nvPr/>
        </p:nvSpPr>
        <p:spPr>
          <a:xfrm>
            <a:off x="6217920" y="1325880"/>
            <a:ext cx="5349240" cy="2194560"/>
          </a:xfrm>
          <a:prstGeom prst="roundRect">
            <a:avLst>
              <a:gd name="adj" fmla="val 5000"/>
            </a:avLst>
          </a:prstGeom>
          <a:solidFill>
            <a:schemeClr val="bg2"/>
          </a:solidFill>
          <a:ln w="12700">
            <a:solidFill>
              <a:schemeClr val="bg2"/>
            </a:solidFill>
            <a:prstDash val="solid"/>
          </a:ln>
        </p:spPr>
      </p:sp>
      <p:sp>
        <p:nvSpPr>
          <p:cNvPr id="11" name="detector 2 circle"/>
          <p:cNvSpPr/>
          <p:nvPr/>
        </p:nvSpPr>
        <p:spPr>
          <a:xfrm>
            <a:off x="6492240" y="1600200"/>
            <a:ext cx="914400" cy="914400"/>
          </a:xfrm>
          <a:prstGeom prst="ellipse">
            <a:avLst/>
          </a:prstGeom>
          <a:solidFill>
            <a:srgbClr val="6D5BD0"/>
          </a:solidFill>
          <a:ln w="12700">
            <a:solidFill>
              <a:srgbClr val="6D5BD0"/>
            </a:solidFill>
            <a:prstDash val="solid"/>
          </a:ln>
        </p:spPr>
      </p:sp>
      <p:pic>
        <p:nvPicPr>
          <p:cNvPr id="12" name="detector 2 icon" descr="preencoded.png">    </p:cNvPr>
          <p:cNvPicPr>
            <a:picLocks noChangeAspect="1"/>
          </p:cNvPicPr>
          <p:nvPr/>
        </p:nvPicPr>
        <p:blipFill>
          <a:blip r:embed="rId2"/>
          <a:stretch>
            <a:fillRect/>
          </a:stretch>
        </p:blipFill>
        <p:spPr>
          <a:xfrm>
            <a:off x="6720840" y="1828800"/>
            <a:ext cx="457200" cy="457200"/>
          </a:xfrm>
          <a:prstGeom prst="rect">
            <a:avLst/>
          </a:prstGeom>
        </p:spPr>
      </p:pic>
      <p:sp>
        <p:nvSpPr>
          <p:cNvPr id="13" name="Text 9"/>
          <p:cNvSpPr txBox="1"/>
          <p:nvPr/>
        </p:nvSpPr>
        <p:spPr>
          <a:xfrm>
            <a:off x="7635240" y="1600200"/>
            <a:ext cx="3749040" cy="411480"/>
          </a:xfrm>
          <a:prstGeom prst="rect">
            <a:avLst/>
          </a:prstGeom>
          <a:noFill/>
          <a:ln/>
        </p:spPr>
        <p:txBody>
          <a:bodyPr wrap="square" lIns="0" tIns="0" rIns="0" bIns="0" rtlCol="0" anchor="t"/>
          <a:lstStyle/>
          <a:p>
            <a:pPr indent="0" marL="0">
              <a:buNone/>
            </a:pPr>
            <a:r>
              <a:rPr lang="en-US" sz="1600" b="1" dirty="0">
                <a:solidFill>
                  <a:schemeClr val="tx1"/>
                </a:solidFill>
              </a:rPr>
              <a:t>Isolation Forest (unsupervised)</a:t>
            </a:r>
            <a:endParaRPr lang="en-US" sz="1600" dirty="0"/>
          </a:p>
        </p:txBody>
      </p:sp>
      <p:sp>
        <p:nvSpPr>
          <p:cNvPr id="14" name="Text 10"/>
          <p:cNvSpPr txBox="1"/>
          <p:nvPr/>
        </p:nvSpPr>
        <p:spPr>
          <a:xfrm>
            <a:off x="7635240" y="2057400"/>
            <a:ext cx="3749040" cy="640080"/>
          </a:xfrm>
          <a:prstGeom prst="rect">
            <a:avLst/>
          </a:prstGeom>
          <a:noFill/>
          <a:ln/>
        </p:spPr>
        <p:txBody>
          <a:bodyPr wrap="square" lIns="0" tIns="0" rIns="0" bIns="0" rtlCol="0" anchor="t"/>
          <a:lstStyle/>
          <a:p>
            <a:pPr indent="0" marL="0">
              <a:buNone/>
            </a:pPr>
            <a:r>
              <a:rPr lang="en-US" sz="1400" dirty="0">
                <a:solidFill>
                  <a:schemeClr val="tx2"/>
                </a:solidFill>
              </a:rPr>
              <a:t>Asks “have I seen anything like this before?”</a:t>
            </a:r>
            <a:endParaRPr lang="en-US" sz="1400" dirty="0"/>
          </a:p>
        </p:txBody>
      </p:sp>
      <p:sp>
        <p:nvSpPr>
          <p:cNvPr id="15" name="Text 11"/>
          <p:cNvSpPr txBox="1"/>
          <p:nvPr/>
        </p:nvSpPr>
        <p:spPr>
          <a:xfrm>
            <a:off x="7635240" y="2788920"/>
            <a:ext cx="3749040" cy="548640"/>
          </a:xfrm>
          <a:prstGeom prst="rect">
            <a:avLst/>
          </a:prstGeom>
          <a:noFill/>
          <a:ln/>
        </p:spPr>
        <p:txBody>
          <a:bodyPr wrap="square" lIns="0" tIns="0" rIns="0" bIns="0" rtlCol="0" anchor="t"/>
          <a:lstStyle/>
          <a:p>
            <a:pPr indent="0" marL="0">
              <a:buNone/>
            </a:pPr>
            <a:r>
              <a:rPr lang="en-US" sz="1400" b="1" dirty="0">
                <a:solidFill>
                  <a:srgbClr val="6D5BD0"/>
                </a:solidFill>
              </a:rPr>
              <a:t>Output: outlier → possible zero-day alert</a:t>
            </a:r>
            <a:endParaRPr lang="en-US" sz="1400" dirty="0"/>
          </a:p>
        </p:txBody>
      </p:sp>
      <p:sp>
        <p:nvSpPr>
          <p:cNvPr id="16" name="Text 12"/>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600" b="1" dirty="0">
                <a:solidFill>
                  <a:schemeClr val="tx1"/>
                </a:solidFill>
              </a:rPr>
              <a:t>Malware probability → risk level</a:t>
            </a:r>
            <a:endParaRPr lang="en-US" sz="1600" dirty="0"/>
          </a:p>
        </p:txBody>
      </p:sp>
      <p:sp>
        <p:nvSpPr>
          <p:cNvPr id="17" name="tier NORMAL"/>
          <p:cNvSpPr txBox="1"/>
          <p:nvPr/>
        </p:nvSpPr>
        <p:spPr>
          <a:xfrm>
            <a:off x="548640" y="4297680"/>
            <a:ext cx="4343400" cy="914400"/>
          </a:xfrm>
          <a:prstGeom prst="rect">
            <a:avLst/>
          </a:prstGeom>
          <a:solidFill>
            <a:srgbClr val="16A34A"/>
          </a:solidFill>
          <a:ln/>
        </p:spPr>
        <p:txBody>
          <a:bodyPr wrap="square" rtlCol="0" anchor="ctr"/>
          <a:lstStyle/>
          <a:p>
            <a:pPr algn="ctr" indent="0" marL="0">
              <a:buNone/>
            </a:pPr>
            <a:r>
              <a:rPr lang="en-US" sz="1800" b="1" dirty="0">
                <a:solidFill>
                  <a:schemeClr val="bg1"/>
                </a:solidFill>
              </a:rPr>
              <a:t>NORMAL</a:t>
            </a:r>
            <a:endParaRPr lang="en-US" sz="1800" dirty="0"/>
          </a:p>
          <a:p>
            <a:pPr algn="ctr" indent="0" marL="0">
              <a:buNone/>
            </a:pPr>
            <a:r>
              <a:rPr lang="en-US" sz="1300" dirty="0">
                <a:solidFill>
                  <a:schemeClr val="bg1"/>
                </a:solidFill>
              </a:rPr>
              <a:t>below 40%</a:t>
            </a:r>
            <a:endParaRPr lang="en-US" sz="1800" dirty="0"/>
          </a:p>
        </p:txBody>
      </p:sp>
      <p:sp>
        <p:nvSpPr>
          <p:cNvPr id="18" name="Text 14"/>
          <p:cNvSpPr txBox="1"/>
          <p:nvPr/>
        </p:nvSpPr>
        <p:spPr>
          <a:xfrm>
            <a:off x="548640" y="5303520"/>
            <a:ext cx="4343400" cy="365760"/>
          </a:xfrm>
          <a:prstGeom prst="rect">
            <a:avLst/>
          </a:prstGeom>
          <a:noFill/>
          <a:ln/>
        </p:spPr>
        <p:txBody>
          <a:bodyPr wrap="square" lIns="0" tIns="0" rIns="0" bIns="0" rtlCol="0" anchor="t"/>
          <a:lstStyle/>
          <a:p>
            <a:pPr algn="ctr" indent="0" marL="0">
              <a:buNone/>
            </a:pPr>
            <a:r>
              <a:rPr lang="en-US" sz="1350" dirty="0">
                <a:solidFill>
                  <a:schemeClr val="tx2"/>
                </a:solidFill>
              </a:rPr>
              <a:t>Routine review</a:t>
            </a:r>
            <a:endParaRPr lang="en-US" sz="1350" dirty="0"/>
          </a:p>
        </p:txBody>
      </p:sp>
      <p:sp>
        <p:nvSpPr>
          <p:cNvPr id="19" name="tier SUSPICIOUS"/>
          <p:cNvSpPr txBox="1"/>
          <p:nvPr/>
        </p:nvSpPr>
        <p:spPr>
          <a:xfrm>
            <a:off x="4937760" y="4297680"/>
            <a:ext cx="3794760" cy="914400"/>
          </a:xfrm>
          <a:prstGeom prst="rect">
            <a:avLst/>
          </a:prstGeom>
          <a:solidFill>
            <a:srgbClr val="D97706"/>
          </a:solidFill>
          <a:ln/>
        </p:spPr>
        <p:txBody>
          <a:bodyPr wrap="square" rtlCol="0" anchor="ctr"/>
          <a:lstStyle/>
          <a:p>
            <a:pPr algn="ctr" indent="0" marL="0">
              <a:buNone/>
            </a:pPr>
            <a:r>
              <a:rPr lang="en-US" sz="1800" b="1" dirty="0">
                <a:solidFill>
                  <a:schemeClr val="bg1"/>
                </a:solidFill>
              </a:rPr>
              <a:t>SUSPICIOUS</a:t>
            </a:r>
            <a:endParaRPr lang="en-US" sz="1800" dirty="0"/>
          </a:p>
          <a:p>
            <a:pPr algn="ctr" indent="0" marL="0">
              <a:buNone/>
            </a:pPr>
            <a:r>
              <a:rPr lang="en-US" sz="1300" dirty="0">
                <a:solidFill>
                  <a:schemeClr val="bg1"/>
                </a:solidFill>
              </a:rPr>
              <a:t>40% to 75%</a:t>
            </a:r>
            <a:endParaRPr lang="en-US" sz="1800" dirty="0"/>
          </a:p>
        </p:txBody>
      </p:sp>
      <p:sp>
        <p:nvSpPr>
          <p:cNvPr id="20" name="Text 16"/>
          <p:cNvSpPr txBox="1"/>
          <p:nvPr/>
        </p:nvSpPr>
        <p:spPr>
          <a:xfrm>
            <a:off x="4937760" y="5303520"/>
            <a:ext cx="3794760" cy="365760"/>
          </a:xfrm>
          <a:prstGeom prst="rect">
            <a:avLst/>
          </a:prstGeom>
          <a:noFill/>
          <a:ln/>
        </p:spPr>
        <p:txBody>
          <a:bodyPr wrap="square" lIns="0" tIns="0" rIns="0" bIns="0" rtlCol="0" anchor="t"/>
          <a:lstStyle/>
          <a:p>
            <a:pPr algn="ctr" indent="0" marL="0">
              <a:buNone/>
            </a:pPr>
            <a:r>
              <a:rPr lang="en-US" sz="1350" dirty="0">
                <a:solidFill>
                  <a:schemeClr val="tx2"/>
                </a:solidFill>
              </a:rPr>
              <a:t>Analyst investigates</a:t>
            </a:r>
            <a:endParaRPr lang="en-US" sz="1350" dirty="0"/>
          </a:p>
        </p:txBody>
      </p:sp>
      <p:sp>
        <p:nvSpPr>
          <p:cNvPr id="21" name="tier HIGH RISK"/>
          <p:cNvSpPr txBox="1"/>
          <p:nvPr/>
        </p:nvSpPr>
        <p:spPr>
          <a:xfrm>
            <a:off x="8778240" y="4297680"/>
            <a:ext cx="2788920" cy="914400"/>
          </a:xfrm>
          <a:prstGeom prst="rect">
            <a:avLst/>
          </a:prstGeom>
          <a:solidFill>
            <a:srgbClr val="DC2626"/>
          </a:solidFill>
          <a:ln/>
        </p:spPr>
        <p:txBody>
          <a:bodyPr wrap="square" rtlCol="0" anchor="ctr"/>
          <a:lstStyle/>
          <a:p>
            <a:pPr algn="ctr" indent="0" marL="0">
              <a:buNone/>
            </a:pPr>
            <a:r>
              <a:rPr lang="en-US" sz="1800" b="1" dirty="0">
                <a:solidFill>
                  <a:schemeClr val="bg1"/>
                </a:solidFill>
              </a:rPr>
              <a:t>HIGH RISK</a:t>
            </a:r>
            <a:endParaRPr lang="en-US" sz="1800" dirty="0"/>
          </a:p>
          <a:p>
            <a:pPr algn="ctr" indent="0" marL="0">
              <a:buNone/>
            </a:pPr>
            <a:r>
              <a:rPr lang="en-US" sz="1300" dirty="0">
                <a:solidFill>
                  <a:schemeClr val="bg1"/>
                </a:solidFill>
              </a:rPr>
              <a:t>75% and above</a:t>
            </a:r>
            <a:endParaRPr lang="en-US" sz="1800" dirty="0"/>
          </a:p>
        </p:txBody>
      </p:sp>
      <p:sp>
        <p:nvSpPr>
          <p:cNvPr id="22" name="Text 18"/>
          <p:cNvSpPr txBox="1"/>
          <p:nvPr/>
        </p:nvSpPr>
        <p:spPr>
          <a:xfrm>
            <a:off x="8778240" y="5303520"/>
            <a:ext cx="2788920" cy="365760"/>
          </a:xfrm>
          <a:prstGeom prst="rect">
            <a:avLst/>
          </a:prstGeom>
          <a:noFill/>
          <a:ln/>
        </p:spPr>
        <p:txBody>
          <a:bodyPr wrap="square" lIns="0" tIns="0" rIns="0" bIns="0" rtlCol="0" anchor="t"/>
          <a:lstStyle/>
          <a:p>
            <a:pPr algn="ctr" indent="0" marL="0">
              <a:buNone/>
            </a:pPr>
            <a:r>
              <a:rPr lang="en-US" sz="1350" dirty="0">
                <a:solidFill>
                  <a:schemeClr val="tx2"/>
                </a:solidFill>
              </a:rPr>
              <a:t>Isolate host, escalate</a:t>
            </a:r>
            <a:endParaRPr lang="en-US" sz="1350" dirty="0"/>
          </a:p>
        </p:txBody>
      </p:sp>
      <p:sp>
        <p:nvSpPr>
          <p:cNvPr id="23" name="Text 19"/>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300" i="1" dirty="0">
                <a:solidFill>
                  <a:schemeClr val="tx2"/>
                </a:solidFill>
              </a:rPr>
              <a:t>The zero-day flag is shown next to the verdict, not merged into it, so “benign but unusual” cases stay visible.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5 — Explaining every verdict</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4"/>
          </a:solidFill>
          <a:ln/>
        </p:spPr>
        <p:txBody>
          <a:bodyPr wrap="square" rtlCol="0" anchor="ctr"/>
          <a:lstStyle/>
          <a:p>
            <a:pPr algn="ctr" indent="0" marL="0">
              <a:buNone/>
            </a:pPr>
            <a:r>
              <a:rPr lang="en-US" sz="1200" b="1" dirty="0">
                <a:solidFill>
                  <a:schemeClr val="bg1"/>
                </a:solidFill>
              </a:rPr>
              <a:t>PHASE 5</a:t>
            </a:r>
            <a:endParaRPr lang="en-US" sz="1200" dirty="0"/>
          </a:p>
        </p:txBody>
      </p:sp>
      <p:sp>
        <p:nvSpPr>
          <p:cNvPr id="4" name="xai card 1"/>
          <p:cNvSpPr/>
          <p:nvPr/>
        </p:nvSpPr>
        <p:spPr>
          <a:xfrm>
            <a:off x="548640" y="1325880"/>
            <a:ext cx="6675120" cy="2103120"/>
          </a:xfrm>
          <a:prstGeom prst="roundRect">
            <a:avLst>
              <a:gd name="adj" fmla="val 5217"/>
            </a:avLst>
          </a:prstGeom>
          <a:solidFill>
            <a:schemeClr val="bg2"/>
          </a:solidFill>
          <a:ln w="12700">
            <a:solidFill>
              <a:schemeClr val="bg2"/>
            </a:solidFill>
            <a:prstDash val="solid"/>
          </a:ln>
        </p:spPr>
      </p:sp>
      <p:sp>
        <p:nvSpPr>
          <p:cNvPr id="5" name="xai 1 circle"/>
          <p:cNvSpPr/>
          <p:nvPr/>
        </p:nvSpPr>
        <p:spPr>
          <a:xfrm>
            <a:off x="822960" y="1600200"/>
            <a:ext cx="868680" cy="868680"/>
          </a:xfrm>
          <a:prstGeom prst="ellipse">
            <a:avLst/>
          </a:prstGeom>
          <a:solidFill>
            <a:srgbClr val="D97706"/>
          </a:solidFill>
          <a:ln w="12700">
            <a:solidFill>
              <a:srgbClr val="D97706"/>
            </a:solidFill>
            <a:prstDash val="solid"/>
          </a:ln>
        </p:spPr>
      </p:sp>
      <p:pic>
        <p:nvPicPr>
          <p:cNvPr id="6" name="xai 1 icon" descr="preencoded.png">    </p:cNvPr>
          <p:cNvPicPr>
            <a:picLocks noChangeAspect="1"/>
          </p:cNvPicPr>
          <p:nvPr/>
        </p:nvPicPr>
        <p:blipFill>
          <a:blip r:embed="rId1"/>
          <a:stretch>
            <a:fillRect/>
          </a:stretch>
        </p:blipFill>
        <p:spPr>
          <a:xfrm>
            <a:off x="1040130" y="1817370"/>
            <a:ext cx="434340" cy="434340"/>
          </a:xfrm>
          <a:prstGeom prst="rect">
            <a:avLst/>
          </a:prstGeom>
        </p:spPr>
      </p:pic>
      <p:sp>
        <p:nvSpPr>
          <p:cNvPr id="7" name="Text 4"/>
          <p:cNvSpPr txBox="1"/>
          <p:nvPr/>
        </p:nvSpPr>
        <p:spPr>
          <a:xfrm>
            <a:off x="1920240" y="1600200"/>
            <a:ext cx="5029200" cy="411480"/>
          </a:xfrm>
          <a:prstGeom prst="rect">
            <a:avLst/>
          </a:prstGeom>
          <a:noFill/>
          <a:ln/>
        </p:spPr>
        <p:txBody>
          <a:bodyPr wrap="square" lIns="0" tIns="0" rIns="0" bIns="0" rtlCol="0" anchor="t"/>
          <a:lstStyle/>
          <a:p>
            <a:pPr indent="0" marL="0">
              <a:buNone/>
            </a:pPr>
            <a:r>
              <a:rPr lang="en-US" sz="2000" b="1" dirty="0">
                <a:solidFill>
                  <a:srgbClr val="D97706"/>
                </a:solidFill>
              </a:rPr>
              <a:t>SHAP</a:t>
            </a:r>
            <a:endParaRPr lang="en-US" sz="2000" dirty="0"/>
          </a:p>
        </p:txBody>
      </p:sp>
      <p:sp>
        <p:nvSpPr>
          <p:cNvPr id="8" name="Text 5"/>
          <p:cNvSpPr txBox="1"/>
          <p:nvPr/>
        </p:nvSpPr>
        <p:spPr>
          <a:xfrm>
            <a:off x="1920240" y="2103120"/>
            <a:ext cx="512064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Game theory: each feature’s fair share of the score</a:t>
            </a:r>
            <a:endParaRPr lang="en-US" sz="1400" dirty="0"/>
          </a:p>
          <a:p>
            <a:pPr marL="342900" indent="-342900">
              <a:spcAft>
                <a:spcPts val="400"/>
              </a:spcAft>
              <a:buSzPct val="100000"/>
              <a:buChar char="•"/>
            </a:pPr>
            <a:r>
              <a:rPr lang="en-US" sz="1400" dirty="0">
                <a:solidFill>
                  <a:schemeClr val="tx1"/>
                </a:solidFill>
              </a:rPr>
              <a:t>Top 10 features, toward malware (+) or benign (−)</a:t>
            </a:r>
            <a:endParaRPr lang="en-US" sz="1400" dirty="0"/>
          </a:p>
          <a:p>
            <a:pPr marL="342900" indent="-342900">
              <a:spcAft>
                <a:spcPts val="400"/>
              </a:spcAft>
              <a:buSzPct val="100000"/>
              <a:buChar char="•"/>
            </a:pPr>
            <a:r>
              <a:rPr lang="en-US" sz="1400" dirty="0">
                <a:solidFill>
                  <a:schemeClr val="tx1"/>
                </a:solidFill>
              </a:rPr>
              <a:t>Global view: what the model relies on overall</a:t>
            </a:r>
            <a:endParaRPr lang="en-US" sz="1400" dirty="0"/>
          </a:p>
        </p:txBody>
      </p:sp>
      <p:sp>
        <p:nvSpPr>
          <p:cNvPr id="9" name="xai card 2"/>
          <p:cNvSpPr/>
          <p:nvPr/>
        </p:nvSpPr>
        <p:spPr>
          <a:xfrm>
            <a:off x="548640" y="3657600"/>
            <a:ext cx="6675120" cy="2103120"/>
          </a:xfrm>
          <a:prstGeom prst="roundRect">
            <a:avLst>
              <a:gd name="adj" fmla="val 5217"/>
            </a:avLst>
          </a:prstGeom>
          <a:solidFill>
            <a:schemeClr val="bg2"/>
          </a:solidFill>
          <a:ln w="12700">
            <a:solidFill>
              <a:schemeClr val="bg2"/>
            </a:solidFill>
            <a:prstDash val="solid"/>
          </a:ln>
        </p:spPr>
      </p:sp>
      <p:sp>
        <p:nvSpPr>
          <p:cNvPr id="10" name="xai 2 circle"/>
          <p:cNvSpPr/>
          <p:nvPr/>
        </p:nvSpPr>
        <p:spPr>
          <a:xfrm>
            <a:off x="822960" y="3931920"/>
            <a:ext cx="868680" cy="868680"/>
          </a:xfrm>
          <a:prstGeom prst="ellipse">
            <a:avLst/>
          </a:prstGeom>
          <a:solidFill>
            <a:srgbClr val="16A34A"/>
          </a:solidFill>
          <a:ln w="12700">
            <a:solidFill>
              <a:srgbClr val="16A34A"/>
            </a:solidFill>
            <a:prstDash val="solid"/>
          </a:ln>
        </p:spPr>
      </p:sp>
      <p:pic>
        <p:nvPicPr>
          <p:cNvPr id="11" name="xai 2 icon" descr="preencoded.png">    </p:cNvPr>
          <p:cNvPicPr>
            <a:picLocks noChangeAspect="1"/>
          </p:cNvPicPr>
          <p:nvPr/>
        </p:nvPicPr>
        <p:blipFill>
          <a:blip r:embed="rId2"/>
          <a:stretch>
            <a:fillRect/>
          </a:stretch>
        </p:blipFill>
        <p:spPr>
          <a:xfrm>
            <a:off x="1040130" y="4149090"/>
            <a:ext cx="434340" cy="434340"/>
          </a:xfrm>
          <a:prstGeom prst="rect">
            <a:avLst/>
          </a:prstGeom>
        </p:spPr>
      </p:pic>
      <p:sp>
        <p:nvSpPr>
          <p:cNvPr id="12" name="Text 8"/>
          <p:cNvSpPr txBox="1"/>
          <p:nvPr/>
        </p:nvSpPr>
        <p:spPr>
          <a:xfrm>
            <a:off x="1920240" y="3931920"/>
            <a:ext cx="5029200" cy="411480"/>
          </a:xfrm>
          <a:prstGeom prst="rect">
            <a:avLst/>
          </a:prstGeom>
          <a:noFill/>
          <a:ln/>
        </p:spPr>
        <p:txBody>
          <a:bodyPr wrap="square" lIns="0" tIns="0" rIns="0" bIns="0" rtlCol="0" anchor="t"/>
          <a:lstStyle/>
          <a:p>
            <a:pPr indent="0" marL="0">
              <a:buNone/>
            </a:pPr>
            <a:r>
              <a:rPr lang="en-US" sz="2000" b="1" dirty="0">
                <a:solidFill>
                  <a:srgbClr val="16A34A"/>
                </a:solidFill>
              </a:rPr>
              <a:t>LIME</a:t>
            </a:r>
            <a:endParaRPr lang="en-US" sz="2000" dirty="0"/>
          </a:p>
        </p:txBody>
      </p:sp>
      <p:sp>
        <p:nvSpPr>
          <p:cNvPr id="13" name="Text 9"/>
          <p:cNvSpPr txBox="1"/>
          <p:nvPr/>
        </p:nvSpPr>
        <p:spPr>
          <a:xfrm>
            <a:off x="1920240" y="4434840"/>
            <a:ext cx="512064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Changes the sample slightly and fits a simple local model</a:t>
            </a:r>
            <a:endParaRPr lang="en-US" sz="1400" dirty="0"/>
          </a:p>
          <a:p>
            <a:pPr marL="342900" indent="-342900">
              <a:spcAft>
                <a:spcPts val="400"/>
              </a:spcAft>
              <a:buSzPct val="100000"/>
              <a:buChar char="•"/>
            </a:pPr>
            <a:r>
              <a:rPr lang="en-US" sz="1400" dirty="0">
                <a:solidFill>
                  <a:schemeClr val="tx1"/>
                </a:solidFill>
              </a:rPr>
              <a:t>Top 8 readable rules, e.g. “malfind.ninjections &gt; 2”</a:t>
            </a:r>
            <a:endParaRPr lang="en-US" sz="1400" dirty="0"/>
          </a:p>
          <a:p>
            <a:pPr marL="342900" indent="-342900">
              <a:spcAft>
                <a:spcPts val="400"/>
              </a:spcAft>
              <a:buSzPct val="100000"/>
              <a:buChar char="•"/>
            </a:pPr>
            <a:r>
              <a:rPr lang="en-US" sz="1400" dirty="0">
                <a:solidFill>
                  <a:schemeClr val="tx1"/>
                </a:solidFill>
              </a:rPr>
              <a:t>Independent check on SHAP</a:t>
            </a:r>
            <a:endParaRPr lang="en-US" sz="1400" dirty="0"/>
          </a:p>
        </p:txBody>
      </p:sp>
      <p:sp>
        <p:nvSpPr>
          <p:cNvPr id="14" name="Text 10"/>
          <p:cNvSpPr txBox="1"/>
          <p:nvPr/>
        </p:nvSpPr>
        <p:spPr>
          <a:xfrm>
            <a:off x="548640" y="5806440"/>
            <a:ext cx="6675120" cy="457200"/>
          </a:xfrm>
          <a:prstGeom prst="rect">
            <a:avLst/>
          </a:prstGeom>
          <a:noFill/>
          <a:ln/>
        </p:spPr>
        <p:txBody>
          <a:bodyPr wrap="square" lIns="0" tIns="0" rIns="0" bIns="0" rtlCol="0" anchor="t"/>
          <a:lstStyle/>
          <a:p>
            <a:pPr indent="0" marL="0">
              <a:buNone/>
            </a:pPr>
            <a:r>
              <a:rPr lang="en-US" sz="1250" i="1" dirty="0">
                <a:solidFill>
                  <a:schemeClr val="tx2"/>
                </a:solidFill>
              </a:rPr>
              <a:t>Feature names are translated to plain English, e.g. malfind.ninjections → “direct memory code injections”.</a:t>
            </a:r>
            <a:endParaRPr lang="en-US" sz="1250" dirty="0"/>
          </a:p>
        </p:txBody>
      </p:sp>
      <p:pic>
        <p:nvPicPr>
          <p:cNvPr id="15" name="shap summary" descr="/home/user/Memory-Forensic-Triage-AI/outputs/shap_summary.png">    </p:cNvPr>
          <p:cNvPicPr>
            <a:picLocks noChangeAspect="1"/>
          </p:cNvPicPr>
          <p:nvPr/>
        </p:nvPicPr>
        <p:blipFill>
          <a:blip r:embed="rId3"/>
          <a:srcRect l="0" r="0" t="0" b="0"/>
          <a:stretch/>
        </p:blipFill>
        <p:spPr>
          <a:xfrm>
            <a:off x="7635240" y="1188720"/>
            <a:ext cx="4023360" cy="4754880"/>
          </a:xfrm>
          <a:prstGeom prst="rect">
            <a:avLst/>
          </a:prstGeom>
        </p:spPr>
      </p:pic>
      <p:sp>
        <p:nvSpPr>
          <p:cNvPr id="16" name="Text 11"/>
          <p:cNvSpPr txBox="1"/>
          <p:nvPr/>
        </p:nvSpPr>
        <p:spPr>
          <a:xfrm>
            <a:off x="7635240" y="5943600"/>
            <a:ext cx="4023360" cy="320040"/>
          </a:xfrm>
          <a:prstGeom prst="rect">
            <a:avLst/>
          </a:prstGeom>
          <a:noFill/>
          <a:ln/>
        </p:spPr>
        <p:txBody>
          <a:bodyPr wrap="square" lIns="0" tIns="0" rIns="0" bIns="0" rtlCol="0" anchor="t"/>
          <a:lstStyle/>
          <a:p>
            <a:pPr algn="ctr" indent="0" marL="0">
              <a:buNone/>
            </a:pPr>
            <a:r>
              <a:rPr lang="en-US" sz="1100" dirty="0">
                <a:solidFill>
                  <a:schemeClr val="tx2"/>
                </a:solidFill>
              </a:rPr>
              <a:t>Global SHAP summary (100 samples)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6 — Proving the evidence never changed</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accent3"/>
          </a:solidFill>
          <a:ln/>
        </p:spPr>
        <p:txBody>
          <a:bodyPr wrap="square" rtlCol="0" anchor="ctr"/>
          <a:lstStyle/>
          <a:p>
            <a:pPr algn="ctr" indent="0" marL="0">
              <a:buNone/>
            </a:pPr>
            <a:r>
              <a:rPr lang="en-US" sz="1200" b="1" dirty="0">
                <a:solidFill>
                  <a:schemeClr val="bg1"/>
                </a:solidFill>
              </a:rPr>
              <a:t>PHASE 6</a:t>
            </a:r>
            <a:endParaRPr lang="en-US" sz="1200" dirty="0"/>
          </a:p>
        </p:txBody>
      </p:sp>
      <p:pic>
        <p:nvPicPr>
          <p:cNvPr id="4" name="custody diagram" descr="/home/user/Memory-Forensic-Triage-AI/docs/chain_of_custody.png">    </p:cNvPr>
          <p:cNvPicPr>
            <a:picLocks noChangeAspect="1"/>
          </p:cNvPicPr>
          <p:nvPr/>
        </p:nvPicPr>
        <p:blipFill>
          <a:blip r:embed="rId1"/>
          <a:stretch>
            <a:fillRect/>
          </a:stretch>
        </p:blipFill>
        <p:spPr>
          <a:xfrm>
            <a:off x="548640" y="1188720"/>
            <a:ext cx="11094415" cy="4622673"/>
          </a:xfrm>
          <a:prstGeom prst="rect">
            <a:avLst/>
          </a:prstGeom>
        </p:spPr>
      </p:pic>
      <p:sp>
        <p:nvSpPr>
          <p:cNvPr id="5" name="custody point 1 circle"/>
          <p:cNvSpPr/>
          <p:nvPr/>
        </p:nvSpPr>
        <p:spPr>
          <a:xfrm>
            <a:off x="548640" y="5623560"/>
            <a:ext cx="548640" cy="548640"/>
          </a:xfrm>
          <a:prstGeom prst="ellipse">
            <a:avLst/>
          </a:prstGeom>
          <a:solidFill>
            <a:srgbClr val="16A34A"/>
          </a:solidFill>
          <a:ln w="12700">
            <a:solidFill>
              <a:srgbClr val="16A34A"/>
            </a:solidFill>
            <a:prstDash val="solid"/>
          </a:ln>
        </p:spPr>
      </p:sp>
      <p:pic>
        <p:nvPicPr>
          <p:cNvPr id="6" name="custody point 1 icon" descr="preencoded.png">    </p:cNvPr>
          <p:cNvPicPr>
            <a:picLocks noChangeAspect="1"/>
          </p:cNvPicPr>
          <p:nvPr/>
        </p:nvPicPr>
        <p:blipFill>
          <a:blip r:embed="rId2"/>
          <a:stretch>
            <a:fillRect/>
          </a:stretch>
        </p:blipFill>
        <p:spPr>
          <a:xfrm>
            <a:off x="685800" y="5760720"/>
            <a:ext cx="274320" cy="274320"/>
          </a:xfrm>
          <a:prstGeom prst="rect">
            <a:avLst/>
          </a:prstGeom>
        </p:spPr>
      </p:pic>
      <p:sp>
        <p:nvSpPr>
          <p:cNvPr id="7" name="Text 3"/>
          <p:cNvSpPr txBox="1"/>
          <p:nvPr/>
        </p:nvSpPr>
        <p:spPr>
          <a:xfrm>
            <a:off x="1234440" y="5577840"/>
            <a:ext cx="2926080" cy="685800"/>
          </a:xfrm>
          <a:prstGeom prst="rect">
            <a:avLst/>
          </a:prstGeom>
          <a:noFill/>
          <a:ln/>
        </p:spPr>
        <p:txBody>
          <a:bodyPr wrap="square" lIns="0" tIns="0" rIns="0" bIns="0" rtlCol="0" anchor="ctr"/>
          <a:lstStyle/>
          <a:p>
            <a:pPr indent="0" marL="0">
              <a:buNone/>
            </a:pPr>
            <a:r>
              <a:rPr lang="en-US" sz="1300" dirty="0">
                <a:solidFill>
                  <a:schemeClr val="tx1"/>
                </a:solidFill>
              </a:rPr>
              <a:t>SHA-256 + MD5 at 9 stages, from acquisition to the sealed PDF</a:t>
            </a:r>
            <a:endParaRPr lang="en-US" sz="1300" dirty="0"/>
          </a:p>
        </p:txBody>
      </p:sp>
      <p:sp>
        <p:nvSpPr>
          <p:cNvPr id="8" name="custody point 2 circle"/>
          <p:cNvSpPr/>
          <p:nvPr/>
        </p:nvSpPr>
        <p:spPr>
          <a:xfrm>
            <a:off x="4297680" y="5623560"/>
            <a:ext cx="548640" cy="548640"/>
          </a:xfrm>
          <a:prstGeom prst="ellipse">
            <a:avLst/>
          </a:prstGeom>
          <a:solidFill>
            <a:srgbClr val="16A34A"/>
          </a:solidFill>
          <a:ln w="12700">
            <a:solidFill>
              <a:srgbClr val="16A34A"/>
            </a:solidFill>
            <a:prstDash val="solid"/>
          </a:ln>
        </p:spPr>
      </p:sp>
      <p:pic>
        <p:nvPicPr>
          <p:cNvPr id="9" name="custody point 2 icon" descr="preencoded.png">    </p:cNvPr>
          <p:cNvPicPr>
            <a:picLocks noChangeAspect="1"/>
          </p:cNvPicPr>
          <p:nvPr/>
        </p:nvPicPr>
        <p:blipFill>
          <a:blip r:embed="rId3"/>
          <a:stretch>
            <a:fillRect/>
          </a:stretch>
        </p:blipFill>
        <p:spPr>
          <a:xfrm>
            <a:off x="4434840" y="5760720"/>
            <a:ext cx="274320" cy="274320"/>
          </a:xfrm>
          <a:prstGeom prst="rect">
            <a:avLst/>
          </a:prstGeom>
        </p:spPr>
      </p:pic>
      <p:sp>
        <p:nvSpPr>
          <p:cNvPr id="10" name="Text 5"/>
          <p:cNvSpPr txBox="1"/>
          <p:nvPr/>
        </p:nvSpPr>
        <p:spPr>
          <a:xfrm>
            <a:off x="4983480" y="5577840"/>
            <a:ext cx="2926080" cy="685800"/>
          </a:xfrm>
          <a:prstGeom prst="rect">
            <a:avLst/>
          </a:prstGeom>
          <a:noFill/>
          <a:ln/>
        </p:spPr>
        <p:txBody>
          <a:bodyPr wrap="square" lIns="0" tIns="0" rIns="0" bIns="0" rtlCol="0" anchor="ctr"/>
          <a:lstStyle/>
          <a:p>
            <a:pPr indent="0" marL="0">
              <a:buNone/>
            </a:pPr>
            <a:r>
              <a:rPr lang="en-US" sz="1300" dirty="0">
                <a:solidFill>
                  <a:schemeClr val="tx1"/>
                </a:solidFill>
              </a:rPr>
              <a:t>Hash-linked ledger: each entry stores the previous entry’s hash</a:t>
            </a:r>
            <a:endParaRPr lang="en-US" sz="1300" dirty="0"/>
          </a:p>
        </p:txBody>
      </p:sp>
      <p:sp>
        <p:nvSpPr>
          <p:cNvPr id="11" name="custody point 3 circle"/>
          <p:cNvSpPr/>
          <p:nvPr/>
        </p:nvSpPr>
        <p:spPr>
          <a:xfrm>
            <a:off x="8046720" y="5623560"/>
            <a:ext cx="548640" cy="548640"/>
          </a:xfrm>
          <a:prstGeom prst="ellipse">
            <a:avLst/>
          </a:prstGeom>
          <a:solidFill>
            <a:srgbClr val="16A34A"/>
          </a:solidFill>
          <a:ln w="12700">
            <a:solidFill>
              <a:srgbClr val="16A34A"/>
            </a:solidFill>
            <a:prstDash val="solid"/>
          </a:ln>
        </p:spPr>
      </p:sp>
      <p:pic>
        <p:nvPicPr>
          <p:cNvPr id="12" name="custody point 3 icon" descr="preencoded.png">    </p:cNvPr>
          <p:cNvPicPr>
            <a:picLocks noChangeAspect="1"/>
          </p:cNvPicPr>
          <p:nvPr/>
        </p:nvPicPr>
        <p:blipFill>
          <a:blip r:embed="rId4"/>
          <a:stretch>
            <a:fillRect/>
          </a:stretch>
        </p:blipFill>
        <p:spPr>
          <a:xfrm>
            <a:off x="8183880" y="5760720"/>
            <a:ext cx="274320" cy="274320"/>
          </a:xfrm>
          <a:prstGeom prst="rect">
            <a:avLst/>
          </a:prstGeom>
        </p:spPr>
      </p:pic>
      <p:sp>
        <p:nvSpPr>
          <p:cNvPr id="13" name="Text 7"/>
          <p:cNvSpPr txBox="1"/>
          <p:nvPr/>
        </p:nvSpPr>
        <p:spPr>
          <a:xfrm>
            <a:off x="8732520" y="5577840"/>
            <a:ext cx="2926080" cy="685800"/>
          </a:xfrm>
          <a:prstGeom prst="rect">
            <a:avLst/>
          </a:prstGeom>
          <a:noFill/>
          <a:ln/>
        </p:spPr>
        <p:txBody>
          <a:bodyPr wrap="square" lIns="0" tIns="0" rIns="0" bIns="0" rtlCol="0" anchor="ctr"/>
          <a:lstStyle/>
          <a:p>
            <a:pPr indent="0" marL="0">
              <a:buNone/>
            </a:pPr>
            <a:r>
              <a:rPr lang="en-US" sz="1300" dirty="0">
                <a:solidFill>
                  <a:schemeClr val="tx1"/>
                </a:solidFill>
              </a:rPr>
              <a:t>Any mismatch blocks analysis and reporting, and is logged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Phase 7 — The working tool, end to end</a:t>
            </a:r>
            <a:endParaRPr lang="en-US" sz="2800" dirty="0"/>
          </a:p>
        </p:txBody>
      </p:sp>
      <p:sp>
        <p:nvSpPr>
          <p:cNvPr id="3" name="phase tag"/>
          <p:cNvSpPr txBox="1"/>
          <p:nvPr/>
        </p:nvSpPr>
        <p:spPr>
          <a:xfrm>
            <a:off x="9631375" y="457200"/>
            <a:ext cx="2011680" cy="365760"/>
          </a:xfrm>
          <a:prstGeom prst="roundRect">
            <a:avLst>
              <a:gd name="adj" fmla="val 50000"/>
            </a:avLst>
          </a:prstGeom>
          <a:solidFill>
            <a:schemeClr val="tx2"/>
          </a:solidFill>
          <a:ln/>
        </p:spPr>
        <p:txBody>
          <a:bodyPr wrap="square" rtlCol="0" anchor="ctr"/>
          <a:lstStyle/>
          <a:p>
            <a:pPr algn="ctr" indent="0" marL="0">
              <a:buNone/>
            </a:pPr>
            <a:r>
              <a:rPr lang="en-US" sz="1200" b="1" dirty="0">
                <a:solidFill>
                  <a:schemeClr val="bg1"/>
                </a:solidFill>
              </a:rPr>
              <a:t>PHASE 7</a:t>
            </a:r>
            <a:endParaRPr lang="en-US" sz="1200" dirty="0"/>
          </a:p>
        </p:txBody>
      </p:sp>
      <p:pic>
        <p:nvPicPr>
          <p:cNvPr id="4" name="workflow diagram" descr="/home/user/Memory-Forensic-Triage-AI/docs/how_it_works.png">    </p:cNvPr>
          <p:cNvPicPr>
            <a:picLocks noChangeAspect="1"/>
          </p:cNvPicPr>
          <p:nvPr/>
        </p:nvPicPr>
        <p:blipFill>
          <a:blip r:embed="rId1"/>
          <a:stretch>
            <a:fillRect/>
          </a:stretch>
        </p:blipFill>
        <p:spPr>
          <a:xfrm>
            <a:off x="1249528" y="1143000"/>
            <a:ext cx="9692640" cy="535114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Testing and validation</a:t>
            </a:r>
            <a:endParaRPr lang="en-US" sz="2800" dirty="0"/>
          </a:p>
        </p:txBody>
      </p:sp>
      <p:graphicFrame>
        <p:nvGraphicFramePr>
          <p:cNvPr id="12" name="test table"/>
          <p:cNvGraphicFramePr>
            <a:graphicFrameLocks noGrp="1"/>
          </p:cNvGraphicFramePr>
          <p:nvPr>
            <p:extLst>
              <p:ext uri="{D42A27DB-BD31-4B8C-83A1-F6EECF244321}">
                <p14:modId xmlns:p14="http://schemas.microsoft.com/office/powerpoint/2010/main" val="1579011935"/>
              </p:ext>
            </p:extLst>
          </p:nvPr>
        </p:nvGraphicFramePr>
        <p:xfrm>
          <a:off x="548640" y="1234440"/>
          <a:ext cx="7406640" cy="914400"/>
        </p:xfrm>
        <a:graphic>
          <a:graphicData uri="http://schemas.openxmlformats.org/drawingml/2006/table">
            <a:tbl>
              <a:tblPr/>
              <a:tblGrid>
                <a:gridCol w="2926080"/>
                <a:gridCol w="1051560"/>
                <a:gridCol w="1234440"/>
                <a:gridCol w="1234440"/>
                <a:gridCol w="960120"/>
              </a:tblGrid>
              <a:tr h="393192">
                <a:tc>
                  <a:txBody>
                    <a:bodyPr/>
                    <a:lstStyle/>
                    <a:p>
                      <a:pPr algn="l" indent="0" marL="0">
                        <a:buNone/>
                      </a:pPr>
                      <a:r>
                        <a:rPr lang="en-US" sz="1250" b="1" dirty="0">
                          <a:solidFill>
                            <a:srgbClr val="FFFFFF"/>
                          </a:solidFill>
                        </a:rPr>
                        <a:t>Test profile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250" b="1" dirty="0">
                          <a:solidFill>
                            <a:srgbClr val="FFFFFF"/>
                          </a:solidFill>
                        </a:rPr>
                        <a:t>Expected</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250" b="1" dirty="0">
                          <a:solidFill>
                            <a:srgbClr val="FFFFFF"/>
                          </a:solidFill>
                        </a:rPr>
                        <a:t>Malware score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250" b="1" dirty="0">
                          <a:solidFill>
                            <a:srgbClr val="FFFFFF"/>
                          </a:solidFill>
                        </a:rPr>
                        <a:t>Risk level</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algn="ctr" indent="0" marL="0">
                        <a:buNone/>
                      </a:pPr>
                      <a:r>
                        <a:rPr lang="en-US" sz="1250" b="1" dirty="0">
                          <a:solidFill>
                            <a:srgbClr val="FFFFFF"/>
                          </a:solidFill>
                        </a:rPr>
                        <a:t>Correct?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r>
              <a:tr h="393192">
                <a:tc>
                  <a:txBody>
                    <a:bodyPr/>
                    <a:lstStyle/>
                    <a:p>
                      <a:pPr indent="0" marL="0">
                        <a:buNone/>
                      </a:pPr>
                      <a:r>
                        <a:rPr lang="en-US" sz="1250" dirty="0">
                          <a:solidFill>
                            <a:srgbClr val="000000"/>
                          </a:solidFill>
                        </a:rPr>
                        <a:t>Benchmark malware (dataset)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100%</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16A34A"/>
                          </a:solidFill>
                        </a:rPr>
                        <a:t>Yes</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Benchmark benign (dataset)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Benign</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0%</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NORMAL</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16A34A"/>
                          </a:solidFill>
                        </a:rPr>
                        <a:t>Yes</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Simulated APT zero-day</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100%</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D97706"/>
                          </a:solidFill>
                        </a:rPr>
                        <a:t>Partly</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Stealth rootkit (hand-built)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75.7%</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16A34A"/>
                          </a:solidFill>
                        </a:rPr>
                        <a:t>Yes</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Fileless miner (hand-built)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78.0%</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16A34A"/>
                          </a:solidFill>
                        </a:rPr>
                        <a:t>Yes</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Aggressive ransomware (hand-built)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74.4%</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SUSPICIOUS</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D97706"/>
                          </a:solidFill>
                        </a:rPr>
                        <a:t>Partly</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Clean baseline (hand-built)</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Benign</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79.6%</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DC2626"/>
                          </a:solidFill>
                        </a:rPr>
                        <a:t>No</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Real benign sample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Benign</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82.2%</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HIGH RISK</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DC2626"/>
                          </a:solidFill>
                        </a:rPr>
                        <a:t>No</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393192">
                <a:tc>
                  <a:txBody>
                    <a:bodyPr/>
                    <a:lstStyle/>
                    <a:p>
                      <a:pPr indent="0" marL="0">
                        <a:buNone/>
                      </a:pPr>
                      <a:r>
                        <a:rPr lang="en-US" sz="1250" dirty="0">
                          <a:solidFill>
                            <a:srgbClr val="000000"/>
                          </a:solidFill>
                        </a:rPr>
                        <a:t>Simulated Cobalt Strike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Malware</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2.4%</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dirty="0">
                          <a:solidFill>
                            <a:srgbClr val="000000"/>
                          </a:solidFill>
                        </a:rPr>
                        <a:t>NORMAL</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250" b="1" dirty="0">
                          <a:solidFill>
                            <a:srgbClr val="DC2626"/>
                          </a:solidFill>
                        </a:rPr>
                        <a:t>No</a:t>
                      </a:r>
                      <a:endParaRPr lang="en-US" sz="125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bl>
          </a:graphicData>
        </a:graphic>
      </p:graphicFrame>
      <p:sp>
        <p:nvSpPr>
          <p:cNvPr id="4" name="findings card"/>
          <p:cNvSpPr/>
          <p:nvPr/>
        </p:nvSpPr>
        <p:spPr>
          <a:xfrm>
            <a:off x="8321040" y="1234440"/>
            <a:ext cx="3322015" cy="3931920"/>
          </a:xfrm>
          <a:prstGeom prst="roundRect">
            <a:avLst>
              <a:gd name="adj" fmla="val 3303"/>
            </a:avLst>
          </a:prstGeom>
          <a:solidFill>
            <a:schemeClr val="bg2"/>
          </a:solidFill>
          <a:ln w="12700">
            <a:solidFill>
              <a:schemeClr val="bg2"/>
            </a:solidFill>
            <a:prstDash val="solid"/>
          </a:ln>
        </p:spPr>
      </p:sp>
      <p:sp>
        <p:nvSpPr>
          <p:cNvPr id="5" name="Text 2"/>
          <p:cNvSpPr txBox="1"/>
          <p:nvPr/>
        </p:nvSpPr>
        <p:spPr>
          <a:xfrm>
            <a:off x="8549640" y="1417320"/>
            <a:ext cx="2926080" cy="365760"/>
          </a:xfrm>
          <a:prstGeom prst="rect">
            <a:avLst/>
          </a:prstGeom>
          <a:noFill/>
          <a:ln/>
        </p:spPr>
        <p:txBody>
          <a:bodyPr wrap="square" lIns="0" tIns="0" rIns="0" bIns="0" rtlCol="0" anchor="t"/>
          <a:lstStyle/>
          <a:p>
            <a:pPr indent="0" marL="0">
              <a:buNone/>
            </a:pPr>
            <a:r>
              <a:rPr lang="en-US" sz="1600" b="1" dirty="0">
                <a:solidFill>
                  <a:schemeClr val="tx1"/>
                </a:solidFill>
              </a:rPr>
              <a:t>What the tests show</a:t>
            </a:r>
            <a:endParaRPr lang="en-US" sz="1600" dirty="0"/>
          </a:p>
        </p:txBody>
      </p:sp>
      <p:sp>
        <p:nvSpPr>
          <p:cNvPr id="6" name="Text 3"/>
          <p:cNvSpPr txBox="1"/>
          <p:nvPr/>
        </p:nvSpPr>
        <p:spPr>
          <a:xfrm>
            <a:off x="8549640" y="187452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Real dataset rows are classified correctly</a:t>
            </a:r>
            <a:endParaRPr lang="en-US" sz="1400" dirty="0"/>
          </a:p>
          <a:p>
            <a:pPr marL="342900" indent="-342900">
              <a:spcAft>
                <a:spcPts val="800"/>
              </a:spcAft>
              <a:buSzPct val="100000"/>
              <a:buChar char="•"/>
            </a:pPr>
            <a:r>
              <a:rPr lang="en-US" sz="1400" dirty="0">
                <a:solidFill>
                  <a:schemeClr val="tx1"/>
                </a:solidFill>
              </a:rPr>
              <a:t>Profiles that differ from the training machines are often misjudged</a:t>
            </a:r>
            <a:endParaRPr lang="en-US" sz="1400" dirty="0"/>
          </a:p>
          <a:p>
            <a:pPr marL="342900" indent="-342900">
              <a:spcAft>
                <a:spcPts val="800"/>
              </a:spcAft>
              <a:buSzPct val="100000"/>
              <a:buChar char="•"/>
            </a:pPr>
            <a:r>
              <a:rPr lang="en-US" sz="1400" dirty="0">
                <a:solidFill>
                  <a:schemeClr val="tx1"/>
                </a:solidFill>
              </a:rPr>
              <a:t>So the model does not yet generalise to new environments</a:t>
            </a:r>
            <a:endParaRPr lang="en-US" sz="1400" dirty="0"/>
          </a:p>
        </p:txBody>
      </p:sp>
      <p:sp>
        <p:nvSpPr>
          <p:cNvPr id="7" name="Text 4"/>
          <p:cNvSpPr txBox="1"/>
          <p:nvPr/>
        </p:nvSpPr>
        <p:spPr>
          <a:xfrm>
            <a:off x="548640" y="5349240"/>
            <a:ext cx="11094415" cy="457200"/>
          </a:xfrm>
          <a:prstGeom prst="rect">
            <a:avLst/>
          </a:prstGeom>
          <a:noFill/>
          <a:ln/>
        </p:spPr>
        <p:txBody>
          <a:bodyPr wrap="square" lIns="0" tIns="0" rIns="0" bIns="0" rtlCol="0" anchor="t"/>
          <a:lstStyle/>
          <a:p>
            <a:pPr indent="0" marL="0">
              <a:buNone/>
            </a:pPr>
            <a:r>
              <a:rPr lang="en-US" sz="1300" i="1" dirty="0">
                <a:solidFill>
                  <a:schemeClr val="tx2"/>
                </a:solidFill>
              </a:rPr>
              <a:t>Also validated: input CSV checks, label-leakage check, hash re-verification at every stage.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Limitations and future work</a:t>
            </a:r>
            <a:endParaRPr lang="en-US" sz="2800" dirty="0"/>
          </a:p>
        </p:txBody>
      </p:sp>
      <p:sp>
        <p:nvSpPr>
          <p:cNvPr id="3" name="column 1"/>
          <p:cNvSpPr/>
          <p:nvPr/>
        </p:nvSpPr>
        <p:spPr>
          <a:xfrm>
            <a:off x="548640" y="1280160"/>
            <a:ext cx="5349240" cy="4846320"/>
          </a:xfrm>
          <a:prstGeom prst="roundRect">
            <a:avLst>
              <a:gd name="adj" fmla="val 2264"/>
            </a:avLst>
          </a:prstGeom>
          <a:solidFill>
            <a:schemeClr val="bg2"/>
          </a:solidFill>
          <a:ln w="12700">
            <a:solidFill>
              <a:schemeClr val="bg2"/>
            </a:solidFill>
            <a:prstDash val="solid"/>
          </a:ln>
        </p:spPr>
      </p:sp>
      <p:sp>
        <p:nvSpPr>
          <p:cNvPr id="4" name="column 1 circle"/>
          <p:cNvSpPr/>
          <p:nvPr/>
        </p:nvSpPr>
        <p:spPr>
          <a:xfrm>
            <a:off x="822960" y="1508760"/>
            <a:ext cx="731520" cy="731520"/>
          </a:xfrm>
          <a:prstGeom prst="ellipse">
            <a:avLst/>
          </a:prstGeom>
          <a:solidFill>
            <a:srgbClr val="D97706"/>
          </a:solidFill>
          <a:ln w="12700">
            <a:solidFill>
              <a:srgbClr val="D97706"/>
            </a:solidFill>
            <a:prstDash val="solid"/>
          </a:ln>
        </p:spPr>
      </p:sp>
      <p:pic>
        <p:nvPicPr>
          <p:cNvPr id="5" name="column 1 icon" descr="preencoded.png">    </p:cNvPr>
          <p:cNvPicPr>
            <a:picLocks noChangeAspect="1"/>
          </p:cNvPicPr>
          <p:nvPr/>
        </p:nvPicPr>
        <p:blipFill>
          <a:blip r:embed="rId1"/>
          <a:stretch>
            <a:fillRect/>
          </a:stretch>
        </p:blipFill>
        <p:spPr>
          <a:xfrm>
            <a:off x="1005840" y="1691640"/>
            <a:ext cx="365760" cy="365760"/>
          </a:xfrm>
          <a:prstGeom prst="rect">
            <a:avLst/>
          </a:prstGeom>
        </p:spPr>
      </p:pic>
      <p:sp>
        <p:nvSpPr>
          <p:cNvPr id="6" name="Text 3"/>
          <p:cNvSpPr txBox="1"/>
          <p:nvPr/>
        </p:nvSpPr>
        <p:spPr>
          <a:xfrm>
            <a:off x="1737360" y="1600200"/>
            <a:ext cx="3931920" cy="548640"/>
          </a:xfrm>
          <a:prstGeom prst="rect">
            <a:avLst/>
          </a:prstGeom>
          <a:noFill/>
          <a:ln/>
        </p:spPr>
        <p:txBody>
          <a:bodyPr wrap="square" lIns="0" tIns="0" rIns="0" bIns="0" rtlCol="0" anchor="ctr"/>
          <a:lstStyle/>
          <a:p>
            <a:pPr indent="0" marL="0">
              <a:buNone/>
            </a:pPr>
            <a:r>
              <a:rPr lang="en-US" sz="2000" b="1" dirty="0">
                <a:solidFill>
                  <a:srgbClr val="D97706"/>
                </a:solidFill>
              </a:rPr>
              <a:t>Limitations</a:t>
            </a:r>
            <a:endParaRPr lang="en-US" sz="2000" dirty="0"/>
          </a:p>
        </p:txBody>
      </p:sp>
      <p:sp>
        <p:nvSpPr>
          <p:cNvPr id="7" name="Text 4"/>
          <p:cNvSpPr txBox="1"/>
          <p:nvPr/>
        </p:nvSpPr>
        <p:spPr>
          <a:xfrm>
            <a:off x="868680" y="246888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Accuracy is optimistic: near-identical snapshots of the same sample (and 534 duplicates) appear in both train and test</a:t>
            </a:r>
            <a:endParaRPr lang="en-US" sz="1450" dirty="0"/>
          </a:p>
          <a:p>
            <a:pPr marL="342900" indent="-342900">
              <a:spcAft>
                <a:spcPts val="1000"/>
              </a:spcAft>
              <a:buSzPct val="100000"/>
              <a:buChar char="•"/>
            </a:pPr>
            <a:r>
              <a:rPr lang="en-US" sz="1450" dirty="0">
                <a:solidFill>
                  <a:schemeClr val="tx1"/>
                </a:solidFill>
              </a:rPr>
              <a:t>Benign data comes from essentially one machine, so the model partly learns “differs from that machine”</a:t>
            </a:r>
            <a:endParaRPr lang="en-US" sz="1450" dirty="0"/>
          </a:p>
          <a:p>
            <a:pPr marL="342900" indent="-342900">
              <a:spcAft>
                <a:spcPts val="1000"/>
              </a:spcAft>
              <a:buSzPct val="100000"/>
              <a:buChar char="•"/>
            </a:pPr>
            <a:r>
              <a:rPr lang="en-US" sz="1450" dirty="0">
                <a:solidFill>
                  <a:schemeClr val="tx1"/>
                </a:solidFill>
              </a:rPr>
              <a:t>Explanations describe the model, not ground truth</a:t>
            </a:r>
            <a:endParaRPr lang="en-US" sz="1450" dirty="0"/>
          </a:p>
          <a:p>
            <a:pPr marL="342900" indent="-342900">
              <a:spcAft>
                <a:spcPts val="1000"/>
              </a:spcAft>
              <a:buSzPct val="100000"/>
              <a:buChar char="•"/>
            </a:pPr>
            <a:r>
              <a:rPr lang="en-US" sz="1450" dirty="0">
                <a:solidFill>
                  <a:schemeClr val="tx1"/>
                </a:solidFill>
              </a:rPr>
              <a:t>Custody ledger is tamper-evident, not tamper-proof; no login yet</a:t>
            </a:r>
            <a:endParaRPr lang="en-US" sz="1450" dirty="0"/>
          </a:p>
        </p:txBody>
      </p:sp>
      <p:sp>
        <p:nvSpPr>
          <p:cNvPr id="8" name="column 2"/>
          <p:cNvSpPr/>
          <p:nvPr/>
        </p:nvSpPr>
        <p:spPr>
          <a:xfrm>
            <a:off x="6217920" y="1280160"/>
            <a:ext cx="5349240" cy="4846320"/>
          </a:xfrm>
          <a:prstGeom prst="roundRect">
            <a:avLst>
              <a:gd name="adj" fmla="val 2264"/>
            </a:avLst>
          </a:prstGeom>
          <a:solidFill>
            <a:schemeClr val="bg2"/>
          </a:solidFill>
          <a:ln w="12700">
            <a:solidFill>
              <a:schemeClr val="bg2"/>
            </a:solidFill>
            <a:prstDash val="solid"/>
          </a:ln>
        </p:spPr>
      </p:sp>
      <p:sp>
        <p:nvSpPr>
          <p:cNvPr id="9" name="column 2 circle"/>
          <p:cNvSpPr/>
          <p:nvPr/>
        </p:nvSpPr>
        <p:spPr>
          <a:xfrm>
            <a:off x="6492240" y="1508760"/>
            <a:ext cx="731520" cy="731520"/>
          </a:xfrm>
          <a:prstGeom prst="ellipse">
            <a:avLst/>
          </a:prstGeom>
          <a:solidFill>
            <a:srgbClr val="0891B2"/>
          </a:solidFill>
          <a:ln w="12700">
            <a:solidFill>
              <a:srgbClr val="0891B2"/>
            </a:solidFill>
            <a:prstDash val="solid"/>
          </a:ln>
        </p:spPr>
      </p:sp>
      <p:pic>
        <p:nvPicPr>
          <p:cNvPr id="10" name="column 2 icon" descr="preencoded.png">    </p:cNvPr>
          <p:cNvPicPr>
            <a:picLocks noChangeAspect="1"/>
          </p:cNvPicPr>
          <p:nvPr/>
        </p:nvPicPr>
        <p:blipFill>
          <a:blip r:embed="rId2"/>
          <a:stretch>
            <a:fillRect/>
          </a:stretch>
        </p:blipFill>
        <p:spPr>
          <a:xfrm>
            <a:off x="6675120" y="1691640"/>
            <a:ext cx="365760" cy="365760"/>
          </a:xfrm>
          <a:prstGeom prst="rect">
            <a:avLst/>
          </a:prstGeom>
        </p:spPr>
      </p:pic>
      <p:sp>
        <p:nvSpPr>
          <p:cNvPr id="11" name="Text 7"/>
          <p:cNvSpPr txBox="1"/>
          <p:nvPr/>
        </p:nvSpPr>
        <p:spPr>
          <a:xfrm>
            <a:off x="7406640" y="1600200"/>
            <a:ext cx="3931920" cy="548640"/>
          </a:xfrm>
          <a:prstGeom prst="rect">
            <a:avLst/>
          </a:prstGeom>
          <a:noFill/>
          <a:ln/>
        </p:spPr>
        <p:txBody>
          <a:bodyPr wrap="square" lIns="0" tIns="0" rIns="0" bIns="0" rtlCol="0" anchor="ctr"/>
          <a:lstStyle/>
          <a:p>
            <a:pPr indent="0" marL="0">
              <a:buNone/>
            </a:pPr>
            <a:r>
              <a:rPr lang="en-US" sz="2000" b="1" dirty="0">
                <a:solidFill>
                  <a:srgbClr val="0891B2"/>
                </a:solidFill>
              </a:rPr>
              <a:t>Future work</a:t>
            </a:r>
            <a:endParaRPr lang="en-US" sz="2000" dirty="0"/>
          </a:p>
        </p:txBody>
      </p:sp>
      <p:sp>
        <p:nvSpPr>
          <p:cNvPr id="12" name="Text 8"/>
          <p:cNvSpPr txBox="1"/>
          <p:nvPr/>
        </p:nvSpPr>
        <p:spPr>
          <a:xfrm>
            <a:off x="6537960" y="246888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Remove duplicates and split by sample; add benign dumps from many machines and Windows versions</a:t>
            </a:r>
            <a:endParaRPr lang="en-US" sz="1450" dirty="0"/>
          </a:p>
          <a:p>
            <a:pPr marL="342900" indent="-342900">
              <a:spcAft>
                <a:spcPts val="1000"/>
              </a:spcAft>
              <a:buSzPct val="100000"/>
              <a:buChar char="•"/>
            </a:pPr>
            <a:r>
              <a:rPr lang="en-US" sz="1450" dirty="0">
                <a:solidFill>
                  <a:schemeClr val="tx1"/>
                </a:solidFill>
              </a:rPr>
              <a:t>Build my own lab dataset: Windows VM, simulated fileless attacks, RAM capture</a:t>
            </a:r>
            <a:endParaRPr lang="en-US" sz="1450" dirty="0"/>
          </a:p>
          <a:p>
            <a:pPr marL="342900" indent="-342900">
              <a:spcAft>
                <a:spcPts val="1000"/>
              </a:spcAft>
              <a:buSzPct val="100000"/>
              <a:buChar char="•"/>
            </a:pPr>
            <a:r>
              <a:rPr lang="en-US" sz="1450" dirty="0">
                <a:solidFill>
                  <a:schemeClr val="tx1"/>
                </a:solidFill>
              </a:rPr>
              <a:t>Show per-process evidence (PIDs, injected regions) beside the verdict</a:t>
            </a:r>
            <a:endParaRPr lang="en-US" sz="1450" dirty="0"/>
          </a:p>
          <a:p>
            <a:pPr marL="342900" indent="-342900">
              <a:spcAft>
                <a:spcPts val="1000"/>
              </a:spcAft>
              <a:buSzPct val="100000"/>
              <a:buChar char="•"/>
            </a:pPr>
            <a:r>
              <a:rPr lang="en-US" sz="1450" dirty="0">
                <a:solidFill>
                  <a:schemeClr val="tx1"/>
                </a:solidFill>
              </a:rPr>
              <a:t>Sign custody manifests, add authentication, use the malware-family model</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Tools and technologies</a:t>
            </a:r>
            <a:endParaRPr lang="en-US" sz="2800" dirty="0"/>
          </a:p>
        </p:txBody>
      </p:sp>
      <p:sp>
        <p:nvSpPr>
          <p:cNvPr id="3" name="tool Python"/>
          <p:cNvSpPr/>
          <p:nvPr/>
        </p:nvSpPr>
        <p:spPr>
          <a:xfrm>
            <a:off x="548640" y="1463040"/>
            <a:ext cx="2606040" cy="2057400"/>
          </a:xfrm>
          <a:prstGeom prst="roundRect">
            <a:avLst>
              <a:gd name="adj" fmla="val 5333"/>
            </a:avLst>
          </a:prstGeom>
          <a:solidFill>
            <a:schemeClr val="bg2"/>
          </a:solidFill>
          <a:ln w="12700">
            <a:solidFill>
              <a:schemeClr val="bg2"/>
            </a:solidFill>
            <a:prstDash val="solid"/>
          </a:ln>
        </p:spPr>
      </p:sp>
      <p:pic>
        <p:nvPicPr>
          <p:cNvPr id="4" name="Python logo" descr="preencoded.png">    </p:cNvPr>
          <p:cNvPicPr>
            <a:picLocks noChangeAspect="1"/>
          </p:cNvPicPr>
          <p:nvPr/>
        </p:nvPicPr>
        <p:blipFill>
          <a:blip r:embed="rId1"/>
          <a:stretch>
            <a:fillRect/>
          </a:stretch>
        </p:blipFill>
        <p:spPr>
          <a:xfrm>
            <a:off x="1485900" y="1737360"/>
            <a:ext cx="731520" cy="731520"/>
          </a:xfrm>
          <a:prstGeom prst="rect">
            <a:avLst/>
          </a:prstGeom>
        </p:spPr>
      </p:pic>
      <p:sp>
        <p:nvSpPr>
          <p:cNvPr id="5" name="Text 2"/>
          <p:cNvSpPr txBox="1"/>
          <p:nvPr/>
        </p:nvSpPr>
        <p:spPr>
          <a:xfrm>
            <a:off x="640080" y="260604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Python</a:t>
            </a:r>
            <a:endParaRPr lang="en-US" sz="1700" dirty="0"/>
          </a:p>
        </p:txBody>
      </p:sp>
      <p:sp>
        <p:nvSpPr>
          <p:cNvPr id="6" name="Text 3"/>
          <p:cNvSpPr txBox="1"/>
          <p:nvPr/>
        </p:nvSpPr>
        <p:spPr>
          <a:xfrm>
            <a:off x="640080" y="301752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Programming language</a:t>
            </a:r>
            <a:endParaRPr lang="en-US" sz="1250" dirty="0"/>
          </a:p>
        </p:txBody>
      </p:sp>
      <p:sp>
        <p:nvSpPr>
          <p:cNvPr id="7" name="tool Streamlit"/>
          <p:cNvSpPr/>
          <p:nvPr/>
        </p:nvSpPr>
        <p:spPr>
          <a:xfrm>
            <a:off x="3364992" y="1463040"/>
            <a:ext cx="2606040" cy="2057400"/>
          </a:xfrm>
          <a:prstGeom prst="roundRect">
            <a:avLst>
              <a:gd name="adj" fmla="val 5333"/>
            </a:avLst>
          </a:prstGeom>
          <a:solidFill>
            <a:schemeClr val="bg2"/>
          </a:solidFill>
          <a:ln w="12700">
            <a:solidFill>
              <a:schemeClr val="bg2"/>
            </a:solidFill>
            <a:prstDash val="solid"/>
          </a:ln>
        </p:spPr>
      </p:sp>
      <p:pic>
        <p:nvPicPr>
          <p:cNvPr id="8" name="Streamlit logo" descr="preencoded.png">    </p:cNvPr>
          <p:cNvPicPr>
            <a:picLocks noChangeAspect="1"/>
          </p:cNvPicPr>
          <p:nvPr/>
        </p:nvPicPr>
        <p:blipFill>
          <a:blip r:embed="rId2"/>
          <a:stretch>
            <a:fillRect/>
          </a:stretch>
        </p:blipFill>
        <p:spPr>
          <a:xfrm>
            <a:off x="4302252" y="1737360"/>
            <a:ext cx="731520" cy="731520"/>
          </a:xfrm>
          <a:prstGeom prst="rect">
            <a:avLst/>
          </a:prstGeom>
        </p:spPr>
      </p:pic>
      <p:sp>
        <p:nvSpPr>
          <p:cNvPr id="9" name="Text 5"/>
          <p:cNvSpPr txBox="1"/>
          <p:nvPr/>
        </p:nvSpPr>
        <p:spPr>
          <a:xfrm>
            <a:off x="3456432" y="260604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Streamlit</a:t>
            </a:r>
            <a:endParaRPr lang="en-US" sz="1700" dirty="0"/>
          </a:p>
        </p:txBody>
      </p:sp>
      <p:sp>
        <p:nvSpPr>
          <p:cNvPr id="10" name="Text 6"/>
          <p:cNvSpPr txBox="1"/>
          <p:nvPr/>
        </p:nvSpPr>
        <p:spPr>
          <a:xfrm>
            <a:off x="3456432" y="301752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Web dashboard</a:t>
            </a:r>
            <a:endParaRPr lang="en-US" sz="1250" dirty="0"/>
          </a:p>
        </p:txBody>
      </p:sp>
      <p:sp>
        <p:nvSpPr>
          <p:cNvPr id="11" name="tool Volatility 3"/>
          <p:cNvSpPr/>
          <p:nvPr/>
        </p:nvSpPr>
        <p:spPr>
          <a:xfrm>
            <a:off x="6181344" y="1463040"/>
            <a:ext cx="2606040" cy="2057400"/>
          </a:xfrm>
          <a:prstGeom prst="roundRect">
            <a:avLst>
              <a:gd name="adj" fmla="val 5333"/>
            </a:avLst>
          </a:prstGeom>
          <a:solidFill>
            <a:schemeClr val="bg2"/>
          </a:solidFill>
          <a:ln w="12700">
            <a:solidFill>
              <a:schemeClr val="bg2"/>
            </a:solidFill>
            <a:prstDash val="solid"/>
          </a:ln>
        </p:spPr>
      </p:sp>
      <p:pic>
        <p:nvPicPr>
          <p:cNvPr id="12" name="Volatility 3 logo" descr="preencoded.png">    </p:cNvPr>
          <p:cNvPicPr>
            <a:picLocks noChangeAspect="1"/>
          </p:cNvPicPr>
          <p:nvPr/>
        </p:nvPicPr>
        <p:blipFill>
          <a:blip r:embed="rId3"/>
          <a:stretch>
            <a:fillRect/>
          </a:stretch>
        </p:blipFill>
        <p:spPr>
          <a:xfrm>
            <a:off x="7118604" y="1737360"/>
            <a:ext cx="731520" cy="731520"/>
          </a:xfrm>
          <a:prstGeom prst="rect">
            <a:avLst/>
          </a:prstGeom>
        </p:spPr>
      </p:pic>
      <p:sp>
        <p:nvSpPr>
          <p:cNvPr id="13" name="Text 8"/>
          <p:cNvSpPr txBox="1"/>
          <p:nvPr/>
        </p:nvSpPr>
        <p:spPr>
          <a:xfrm>
            <a:off x="6272784" y="260604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Volatility 3</a:t>
            </a:r>
            <a:endParaRPr lang="en-US" sz="1700" dirty="0"/>
          </a:p>
        </p:txBody>
      </p:sp>
      <p:sp>
        <p:nvSpPr>
          <p:cNvPr id="14" name="Text 9"/>
          <p:cNvSpPr txBox="1"/>
          <p:nvPr/>
        </p:nvSpPr>
        <p:spPr>
          <a:xfrm>
            <a:off x="6272784" y="301752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Memory analysis</a:t>
            </a:r>
            <a:endParaRPr lang="en-US" sz="1250" dirty="0"/>
          </a:p>
        </p:txBody>
      </p:sp>
      <p:sp>
        <p:nvSpPr>
          <p:cNvPr id="15" name="tool scikit-learn"/>
          <p:cNvSpPr/>
          <p:nvPr/>
        </p:nvSpPr>
        <p:spPr>
          <a:xfrm>
            <a:off x="8997696" y="1463040"/>
            <a:ext cx="2606040" cy="2057400"/>
          </a:xfrm>
          <a:prstGeom prst="roundRect">
            <a:avLst>
              <a:gd name="adj" fmla="val 5333"/>
            </a:avLst>
          </a:prstGeom>
          <a:solidFill>
            <a:schemeClr val="bg2"/>
          </a:solidFill>
          <a:ln w="12700">
            <a:solidFill>
              <a:schemeClr val="bg2"/>
            </a:solidFill>
            <a:prstDash val="solid"/>
          </a:ln>
        </p:spPr>
      </p:sp>
      <p:pic>
        <p:nvPicPr>
          <p:cNvPr id="16" name="scikit-learn logo" descr="preencoded.png">    </p:cNvPr>
          <p:cNvPicPr>
            <a:picLocks noChangeAspect="1"/>
          </p:cNvPicPr>
          <p:nvPr/>
        </p:nvPicPr>
        <p:blipFill>
          <a:blip r:embed="rId4"/>
          <a:stretch>
            <a:fillRect/>
          </a:stretch>
        </p:blipFill>
        <p:spPr>
          <a:xfrm>
            <a:off x="9934956" y="1737360"/>
            <a:ext cx="731520" cy="731520"/>
          </a:xfrm>
          <a:prstGeom prst="rect">
            <a:avLst/>
          </a:prstGeom>
        </p:spPr>
      </p:pic>
      <p:sp>
        <p:nvSpPr>
          <p:cNvPr id="17" name="Text 11"/>
          <p:cNvSpPr txBox="1"/>
          <p:nvPr/>
        </p:nvSpPr>
        <p:spPr>
          <a:xfrm>
            <a:off x="9089136" y="260604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scikit-learn</a:t>
            </a:r>
            <a:endParaRPr lang="en-US" sz="1700" dirty="0"/>
          </a:p>
        </p:txBody>
      </p:sp>
      <p:sp>
        <p:nvSpPr>
          <p:cNvPr id="18" name="Text 12"/>
          <p:cNvSpPr txBox="1"/>
          <p:nvPr/>
        </p:nvSpPr>
        <p:spPr>
          <a:xfrm>
            <a:off x="9089136" y="301752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Random Forest, Isolation Forest</a:t>
            </a:r>
            <a:endParaRPr lang="en-US" sz="1250" dirty="0"/>
          </a:p>
        </p:txBody>
      </p:sp>
      <p:sp>
        <p:nvSpPr>
          <p:cNvPr id="19" name="tool SHAP · LIME"/>
          <p:cNvSpPr/>
          <p:nvPr/>
        </p:nvSpPr>
        <p:spPr>
          <a:xfrm>
            <a:off x="548640" y="3794760"/>
            <a:ext cx="2606040" cy="2057400"/>
          </a:xfrm>
          <a:prstGeom prst="roundRect">
            <a:avLst>
              <a:gd name="adj" fmla="val 5333"/>
            </a:avLst>
          </a:prstGeom>
          <a:solidFill>
            <a:schemeClr val="bg2"/>
          </a:solidFill>
          <a:ln w="12700">
            <a:solidFill>
              <a:schemeClr val="bg2"/>
            </a:solidFill>
            <a:prstDash val="solid"/>
          </a:ln>
        </p:spPr>
      </p:sp>
      <p:pic>
        <p:nvPicPr>
          <p:cNvPr id="20" name="SHAP · LIME logo" descr="preencoded.png">    </p:cNvPr>
          <p:cNvPicPr>
            <a:picLocks noChangeAspect="1"/>
          </p:cNvPicPr>
          <p:nvPr/>
        </p:nvPicPr>
        <p:blipFill>
          <a:blip r:embed="rId5"/>
          <a:stretch>
            <a:fillRect/>
          </a:stretch>
        </p:blipFill>
        <p:spPr>
          <a:xfrm>
            <a:off x="1485900" y="4069080"/>
            <a:ext cx="731520" cy="731520"/>
          </a:xfrm>
          <a:prstGeom prst="rect">
            <a:avLst/>
          </a:prstGeom>
        </p:spPr>
      </p:pic>
      <p:sp>
        <p:nvSpPr>
          <p:cNvPr id="21" name="Text 14"/>
          <p:cNvSpPr txBox="1"/>
          <p:nvPr/>
        </p:nvSpPr>
        <p:spPr>
          <a:xfrm>
            <a:off x="640080" y="493776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SHAP · LIME</a:t>
            </a:r>
            <a:endParaRPr lang="en-US" sz="1700" dirty="0"/>
          </a:p>
        </p:txBody>
      </p:sp>
      <p:sp>
        <p:nvSpPr>
          <p:cNvPr id="22" name="Text 15"/>
          <p:cNvSpPr txBox="1"/>
          <p:nvPr/>
        </p:nvSpPr>
        <p:spPr>
          <a:xfrm>
            <a:off x="640080" y="534924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Explainable AI</a:t>
            </a:r>
            <a:endParaRPr lang="en-US" sz="1250" dirty="0"/>
          </a:p>
        </p:txBody>
      </p:sp>
      <p:sp>
        <p:nvSpPr>
          <p:cNvPr id="23" name="tool pandas · NumPy"/>
          <p:cNvSpPr/>
          <p:nvPr/>
        </p:nvSpPr>
        <p:spPr>
          <a:xfrm>
            <a:off x="3364992" y="3794760"/>
            <a:ext cx="2606040" cy="2057400"/>
          </a:xfrm>
          <a:prstGeom prst="roundRect">
            <a:avLst>
              <a:gd name="adj" fmla="val 5333"/>
            </a:avLst>
          </a:prstGeom>
          <a:solidFill>
            <a:schemeClr val="bg2"/>
          </a:solidFill>
          <a:ln w="12700">
            <a:solidFill>
              <a:schemeClr val="bg2"/>
            </a:solidFill>
            <a:prstDash val="solid"/>
          </a:ln>
        </p:spPr>
      </p:sp>
      <p:pic>
        <p:nvPicPr>
          <p:cNvPr id="24" name="pandas · NumPy logo" descr="preencoded.png">    </p:cNvPr>
          <p:cNvPicPr>
            <a:picLocks noChangeAspect="1"/>
          </p:cNvPicPr>
          <p:nvPr/>
        </p:nvPicPr>
        <p:blipFill>
          <a:blip r:embed="rId6"/>
          <a:stretch>
            <a:fillRect/>
          </a:stretch>
        </p:blipFill>
        <p:spPr>
          <a:xfrm>
            <a:off x="4302252" y="4069080"/>
            <a:ext cx="731520" cy="731520"/>
          </a:xfrm>
          <a:prstGeom prst="rect">
            <a:avLst/>
          </a:prstGeom>
        </p:spPr>
      </p:pic>
      <p:sp>
        <p:nvSpPr>
          <p:cNvPr id="25" name="Text 17"/>
          <p:cNvSpPr txBox="1"/>
          <p:nvPr/>
        </p:nvSpPr>
        <p:spPr>
          <a:xfrm>
            <a:off x="3456432" y="493776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pandas · NumPy</a:t>
            </a:r>
            <a:endParaRPr lang="en-US" sz="1700" dirty="0"/>
          </a:p>
        </p:txBody>
      </p:sp>
      <p:sp>
        <p:nvSpPr>
          <p:cNvPr id="26" name="Text 18"/>
          <p:cNvSpPr txBox="1"/>
          <p:nvPr/>
        </p:nvSpPr>
        <p:spPr>
          <a:xfrm>
            <a:off x="3456432" y="534924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Data handling</a:t>
            </a:r>
            <a:endParaRPr lang="en-US" sz="1250" dirty="0"/>
          </a:p>
        </p:txBody>
      </p:sp>
      <p:sp>
        <p:nvSpPr>
          <p:cNvPr id="27" name="tool ReportLab"/>
          <p:cNvSpPr/>
          <p:nvPr/>
        </p:nvSpPr>
        <p:spPr>
          <a:xfrm>
            <a:off x="6181344" y="3794760"/>
            <a:ext cx="2606040" cy="2057400"/>
          </a:xfrm>
          <a:prstGeom prst="roundRect">
            <a:avLst>
              <a:gd name="adj" fmla="val 5333"/>
            </a:avLst>
          </a:prstGeom>
          <a:solidFill>
            <a:schemeClr val="bg2"/>
          </a:solidFill>
          <a:ln w="12700">
            <a:solidFill>
              <a:schemeClr val="bg2"/>
            </a:solidFill>
            <a:prstDash val="solid"/>
          </a:ln>
        </p:spPr>
      </p:sp>
      <p:pic>
        <p:nvPicPr>
          <p:cNvPr id="28" name="ReportLab logo" descr="preencoded.png">    </p:cNvPr>
          <p:cNvPicPr>
            <a:picLocks noChangeAspect="1"/>
          </p:cNvPicPr>
          <p:nvPr/>
        </p:nvPicPr>
        <p:blipFill>
          <a:blip r:embed="rId7"/>
          <a:stretch>
            <a:fillRect/>
          </a:stretch>
        </p:blipFill>
        <p:spPr>
          <a:xfrm>
            <a:off x="7118604" y="4069080"/>
            <a:ext cx="731520" cy="731520"/>
          </a:xfrm>
          <a:prstGeom prst="rect">
            <a:avLst/>
          </a:prstGeom>
        </p:spPr>
      </p:pic>
      <p:sp>
        <p:nvSpPr>
          <p:cNvPr id="29" name="Text 20"/>
          <p:cNvSpPr txBox="1"/>
          <p:nvPr/>
        </p:nvSpPr>
        <p:spPr>
          <a:xfrm>
            <a:off x="6272784" y="493776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ReportLab</a:t>
            </a:r>
            <a:endParaRPr lang="en-US" sz="1700" dirty="0"/>
          </a:p>
        </p:txBody>
      </p:sp>
      <p:sp>
        <p:nvSpPr>
          <p:cNvPr id="30" name="Text 21"/>
          <p:cNvSpPr txBox="1"/>
          <p:nvPr/>
        </p:nvSpPr>
        <p:spPr>
          <a:xfrm>
            <a:off x="6272784" y="534924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PDF incident reports</a:t>
            </a:r>
            <a:endParaRPr lang="en-US" sz="1250" dirty="0"/>
          </a:p>
        </p:txBody>
      </p:sp>
      <p:sp>
        <p:nvSpPr>
          <p:cNvPr id="31" name="tool hashlib"/>
          <p:cNvSpPr/>
          <p:nvPr/>
        </p:nvSpPr>
        <p:spPr>
          <a:xfrm>
            <a:off x="8997696" y="3794760"/>
            <a:ext cx="2606040" cy="2057400"/>
          </a:xfrm>
          <a:prstGeom prst="roundRect">
            <a:avLst>
              <a:gd name="adj" fmla="val 5333"/>
            </a:avLst>
          </a:prstGeom>
          <a:solidFill>
            <a:schemeClr val="bg2"/>
          </a:solidFill>
          <a:ln w="12700">
            <a:solidFill>
              <a:schemeClr val="bg2"/>
            </a:solidFill>
            <a:prstDash val="solid"/>
          </a:ln>
        </p:spPr>
      </p:sp>
      <p:pic>
        <p:nvPicPr>
          <p:cNvPr id="32" name="hashlib logo" descr="preencoded.png">    </p:cNvPr>
          <p:cNvPicPr>
            <a:picLocks noChangeAspect="1"/>
          </p:cNvPicPr>
          <p:nvPr/>
        </p:nvPicPr>
        <p:blipFill>
          <a:blip r:embed="rId8"/>
          <a:stretch>
            <a:fillRect/>
          </a:stretch>
        </p:blipFill>
        <p:spPr>
          <a:xfrm>
            <a:off x="9934956" y="4069080"/>
            <a:ext cx="731520" cy="731520"/>
          </a:xfrm>
          <a:prstGeom prst="rect">
            <a:avLst/>
          </a:prstGeom>
        </p:spPr>
      </p:pic>
      <p:sp>
        <p:nvSpPr>
          <p:cNvPr id="33" name="Text 23"/>
          <p:cNvSpPr txBox="1"/>
          <p:nvPr/>
        </p:nvSpPr>
        <p:spPr>
          <a:xfrm>
            <a:off x="9089136" y="4937760"/>
            <a:ext cx="2423160" cy="411480"/>
          </a:xfrm>
          <a:prstGeom prst="rect">
            <a:avLst/>
          </a:prstGeom>
          <a:noFill/>
          <a:ln/>
        </p:spPr>
        <p:txBody>
          <a:bodyPr wrap="square" lIns="0" tIns="0" rIns="0" bIns="0" rtlCol="0" anchor="t"/>
          <a:lstStyle/>
          <a:p>
            <a:pPr algn="ctr" indent="0" marL="0">
              <a:buNone/>
            </a:pPr>
            <a:r>
              <a:rPr lang="en-US" sz="1700" b="1" dirty="0">
                <a:solidFill>
                  <a:schemeClr val="tx1"/>
                </a:solidFill>
              </a:rPr>
              <a:t>hashlib</a:t>
            </a:r>
            <a:endParaRPr lang="en-US" sz="1700" dirty="0"/>
          </a:p>
        </p:txBody>
      </p:sp>
      <p:sp>
        <p:nvSpPr>
          <p:cNvPr id="34" name="Text 24"/>
          <p:cNvSpPr txBox="1"/>
          <p:nvPr/>
        </p:nvSpPr>
        <p:spPr>
          <a:xfrm>
            <a:off x="9089136" y="5349240"/>
            <a:ext cx="2423160" cy="365760"/>
          </a:xfrm>
          <a:prstGeom prst="rect">
            <a:avLst/>
          </a:prstGeom>
          <a:noFill/>
          <a:ln/>
        </p:spPr>
        <p:txBody>
          <a:bodyPr wrap="square" lIns="0" tIns="0" rIns="0" bIns="0" rtlCol="0" anchor="t"/>
          <a:lstStyle/>
          <a:p>
            <a:pPr algn="ctr" indent="0" marL="0">
              <a:buNone/>
            </a:pPr>
            <a:r>
              <a:rPr lang="en-US" sz="1250" dirty="0">
                <a:solidFill>
                  <a:schemeClr val="tx2"/>
                </a:solidFill>
              </a:rPr>
              <a:t>SHA-256 · MD5 hashing</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Thank you — questions?</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Detect  ·  Explain  ·  Preserve the evidence</a:t>
            </a:r>
            <a:endParaRPr lang="en-US" sz="1800" dirty="0"/>
          </a:p>
        </p:txBody>
      </p:sp>
      <p:sp>
        <p:nvSpPr>
          <p:cNvPr id="4" name="Text 2"/>
          <p:cNvSpPr txBox="1"/>
          <p:nvPr/>
        </p:nvSpPr>
        <p:spPr>
          <a:xfrm>
            <a:off x="548640" y="5120640"/>
            <a:ext cx="8686800" cy="914400"/>
          </a:xfrm>
          <a:prstGeom prst="rect">
            <a:avLst/>
          </a:prstGeom>
          <a:noFill/>
          <a:ln/>
        </p:spPr>
        <p:txBody>
          <a:bodyPr wrap="square" lIns="0" tIns="0" rIns="0" bIns="0" rtlCol="0" anchor="t"/>
          <a:lstStyle/>
          <a:p>
            <a:pPr indent="0" marL="0">
              <a:buNone/>
            </a:pPr>
            <a:r>
              <a:rPr lang="en-US" sz="1500" dirty="0">
                <a:solidFill>
                  <a:schemeClr val="bg1"/>
                </a:solidFill>
              </a:rPr>
              <a:t>Raw memory dump → 55 features → two models → SHAP + LIME → sealed report</a:t>
            </a:r>
            <a:endParaRPr lang="en-US" sz="1500" dirty="0"/>
          </a:p>
          <a:p>
            <a:pPr indent="0" marL="0">
              <a:buNone/>
            </a:pPr>
            <a:r>
              <a:rPr lang="en-US" sz="1500" dirty="0">
                <a:solidFill>
                  <a:schemeClr val="bg1"/>
                </a:solidFill>
              </a:rPr>
              <a:t>Every step hash-verified; limitations measured and documented</a:t>
            </a:r>
            <a:endParaRPr lang="en-US" sz="1500" dirty="0"/>
          </a:p>
        </p:txBody>
      </p:sp>
      <p:sp>
        <p:nvSpPr>
          <p:cNvPr id="5" name="questions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2026-10-05T08:35:01Z</dcterms:created>
  <dcterms:modified xsi:type="dcterms:W3CDTF">2026-10-05T08:35:01Z</dcterms:modified>
</cp:coreProperties>
</file>