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shows the whole tool. Give it a copy of a computer's memory, and it finds signs of malware, explains why, and proves the evidence was never changed. It works in six steps, left to right. The green band underneath shows that the evidence is checked at every step. I will go through the steps on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prepare the evidence. First the investigator opens a case, so we know who did the work and when. Then they load the memory file, and the tool takes its digital fingerprint immediately. Then Volatility 3, a standard forensic tool, reads the memory and counts 55 clues, such as hidden programs and injected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4 to 6 give the answer. The AI, a Random Forest, works like many small decision trees voting, and gives a malware score. A second model warns about anything it has never seen before. Then SHAP and LIME explain which clues caused the result. Finally, the tool writes a PDF report and seals it with its own fingerprint.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forensics we must prove the evidence was not changed. Every file gets a digital fingerprint called a hash. If even one tiny part of the file changes, the fingerprint changes completely. The tool re-checks the fingerprint at nine points, from the moment the file arrives to the final report. Each record also stores the fingerprint of the record before it, so nobody can quietly edit the history. If anything does not match, the tool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behind the system, in simple terms. Python is the language. Streamlit makes the web page. Volatility 3 reads the memory file. scikit-learn builds the AI. SHAP and LIME explain the AI's decision. pandas and NumPy handle the numbers. ReportLab creates the PDF. And hashlib makes the digital fingerprints. All of them are free and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lstStyle>
            <a:lvl1pPr indent="0" marL="0">
              <a:buNone/>
              <a:defRPr lang="en-US" sz="1800" dirty="0">
                <a:solidFill>
                  <a:srgbClr val="A5F3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478"/>
                </a:solidFill>
              </a:rPr>
              <a:t>Explainable AI Memory Forensic Triage  ·  Abdullah Azwar  ·  COBSCEHNS24.2P-017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How the tool works — the big picture</a:t>
            </a:r>
            <a:endParaRPr lang="en-US" sz="2800" dirty="0"/>
          </a:p>
        </p:txBody>
      </p:sp>
      <p:pic>
        <p:nvPicPr>
          <p:cNvPr id="3" name="how it works diagram" descr="/tmp/claude-0/-home-user-Memory-Forensic-Triage-AI/bb56e43b-70be-5e3d-95a8-8c26ecd592c6/images/2.png">    </p:cNvPr>
          <p:cNvPicPr>
            <a:picLocks noChangeAspect="1"/>
          </p:cNvPicPr>
          <p:nvPr/>
        </p:nvPicPr>
        <p:blipFill>
          <a:blip r:embed="rId1"/>
          <a:stretch>
            <a:fillRect/>
          </a:stretch>
        </p:blipFill>
        <p:spPr>
          <a:xfrm>
            <a:off x="1523848" y="1097280"/>
            <a:ext cx="9144000" cy="504825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Steps 1–3: getting the evidence ready</a:t>
            </a:r>
            <a:endParaRPr lang="en-US" sz="2800" dirty="0"/>
          </a:p>
        </p:txBody>
      </p:sp>
      <p:sp>
        <p:nvSpPr>
          <p:cNvPr id="3" name="1. Open a case"/>
          <p:cNvSpPr/>
          <p:nvPr/>
        </p:nvSpPr>
        <p:spPr>
          <a:xfrm>
            <a:off x="548640" y="1280160"/>
            <a:ext cx="3454298" cy="4754880"/>
          </a:xfrm>
          <a:prstGeom prst="roundRect">
            <a:avLst>
              <a:gd name="adj" fmla="val 3177"/>
            </a:avLst>
          </a:prstGeom>
          <a:solidFill>
            <a:schemeClr val="bg2"/>
          </a:solidFill>
          <a:ln w="12700">
            <a:solidFill>
              <a:schemeClr val="bg2"/>
            </a:solidFill>
            <a:prstDash val="solid"/>
          </a:ln>
        </p:spPr>
      </p:sp>
      <p:sp>
        <p:nvSpPr>
          <p:cNvPr id="4" name="1. Open a case circle"/>
          <p:cNvSpPr/>
          <p:nvPr/>
        </p:nvSpPr>
        <p:spPr>
          <a:xfrm>
            <a:off x="1635709" y="1600200"/>
            <a:ext cx="1280160" cy="1280160"/>
          </a:xfrm>
          <a:prstGeom prst="ellipse">
            <a:avLst/>
          </a:prstGeom>
          <a:solidFill>
            <a:srgbClr val="6D5BD0"/>
          </a:solidFill>
          <a:ln w="12700">
            <a:solidFill>
              <a:srgbClr val="6D5BD0"/>
            </a:solidFill>
            <a:prstDash val="solid"/>
          </a:ln>
        </p:spPr>
      </p:sp>
      <p:pic>
        <p:nvPicPr>
          <p:cNvPr id="5" name="1. Open a case icon" descr="preencoded.png">    </p:cNvPr>
          <p:cNvPicPr>
            <a:picLocks noChangeAspect="1"/>
          </p:cNvPicPr>
          <p:nvPr/>
        </p:nvPicPr>
        <p:blipFill>
          <a:blip r:embed="rId1"/>
          <a:stretch>
            <a:fillRect/>
          </a:stretch>
        </p:blipFill>
        <p:spPr>
          <a:xfrm>
            <a:off x="1955749" y="1920240"/>
            <a:ext cx="640080" cy="640080"/>
          </a:xfrm>
          <a:prstGeom prst="rect">
            <a:avLst/>
          </a:prstGeom>
        </p:spPr>
      </p:pic>
      <p:sp>
        <p:nvSpPr>
          <p:cNvPr id="6" name="Text 3"/>
          <p:cNvSpPr txBox="1"/>
          <p:nvPr/>
        </p:nvSpPr>
        <p:spPr>
          <a:xfrm>
            <a:off x="822960" y="3063240"/>
            <a:ext cx="2905658" cy="548640"/>
          </a:xfrm>
          <a:prstGeom prst="rect">
            <a:avLst/>
          </a:prstGeom>
          <a:noFill/>
          <a:ln/>
        </p:spPr>
        <p:txBody>
          <a:bodyPr wrap="square" lIns="0" tIns="0" rIns="0" bIns="0" rtlCol="0" anchor="t"/>
          <a:lstStyle/>
          <a:p>
            <a:pPr algn="ctr" indent="0" marL="0">
              <a:buNone/>
            </a:pPr>
            <a:r>
              <a:rPr lang="en-US" sz="2200" b="1" dirty="0">
                <a:solidFill>
                  <a:srgbClr val="6D5BD0"/>
                </a:solidFill>
              </a:rPr>
              <a:t>1. Open a case</a:t>
            </a:r>
            <a:endParaRPr lang="en-US" sz="2200" dirty="0"/>
          </a:p>
        </p:txBody>
      </p:sp>
      <p:sp>
        <p:nvSpPr>
          <p:cNvPr id="7" name="Text 4"/>
          <p:cNvSpPr txBox="1"/>
          <p:nvPr/>
        </p:nvSpPr>
        <p:spPr>
          <a:xfrm>
            <a:off x="868680" y="3657600"/>
            <a:ext cx="2814218" cy="1371600"/>
          </a:xfrm>
          <a:prstGeom prst="rect">
            <a:avLst/>
          </a:prstGeom>
          <a:noFill/>
          <a:ln/>
        </p:spPr>
        <p:txBody>
          <a:bodyPr wrap="square" lIns="0" tIns="0" rIns="0" bIns="0" rtlCol="0" anchor="t"/>
          <a:lstStyle/>
          <a:p>
            <a:pPr algn="ctr" indent="0" marL="0">
              <a:buNone/>
            </a:pPr>
            <a:r>
              <a:rPr lang="en-US" sz="1600" dirty="0">
                <a:solidFill>
                  <a:schemeClr val="tx2"/>
                </a:solidFill>
              </a:rPr>
              <a:t>Record who is investigating, which case, and when. Nothing works until a case is open.</a:t>
            </a:r>
            <a:endParaRPr lang="en-US" sz="1600" dirty="0"/>
          </a:p>
        </p:txBody>
      </p:sp>
      <p:sp>
        <p:nvSpPr>
          <p:cNvPr id="8" name="Text 5"/>
          <p:cNvSpPr txBox="1"/>
          <p:nvPr/>
        </p:nvSpPr>
        <p:spPr>
          <a:xfrm>
            <a:off x="868680" y="5074920"/>
            <a:ext cx="914400" cy="274320"/>
          </a:xfrm>
          <a:prstGeom prst="rect">
            <a:avLst/>
          </a:prstGeom>
          <a:noFill/>
          <a:ln/>
        </p:spPr>
        <p:txBody>
          <a:bodyPr wrap="square" lIns="0" tIns="0" rIns="0" bIns="0" rtlCol="0" anchor="t"/>
          <a:lstStyle/>
          <a:p>
            <a:pPr indent="0" marL="0">
              <a:buNone/>
            </a:pPr>
            <a:r>
              <a:rPr lang="en-US" sz="1000" b="1" spc="200" kern="0" dirty="0">
                <a:solidFill>
                  <a:srgbClr val="5B6478"/>
                </a:solidFill>
              </a:rPr>
              <a:t>TOOL</a:t>
            </a:r>
            <a:endParaRPr lang="en-US" sz="1000" dirty="0"/>
          </a:p>
        </p:txBody>
      </p:sp>
      <p:sp>
        <p:nvSpPr>
          <p:cNvPr id="9" name="1. Open a case Streamlit chip"/>
          <p:cNvSpPr/>
          <p:nvPr/>
        </p:nvSpPr>
        <p:spPr>
          <a:xfrm>
            <a:off x="777240" y="5349240"/>
            <a:ext cx="2997098" cy="457200"/>
          </a:xfrm>
          <a:prstGeom prst="roundRect">
            <a:avLst>
              <a:gd name="adj" fmla="val 20000"/>
            </a:avLst>
          </a:prstGeom>
          <a:solidFill>
            <a:schemeClr val="bg1"/>
          </a:solidFill>
          <a:ln w="12700">
            <a:solidFill>
              <a:srgbClr val="D6DCE6"/>
            </a:solidFill>
            <a:prstDash val="solid"/>
          </a:ln>
        </p:spPr>
      </p:sp>
      <p:pic>
        <p:nvPicPr>
          <p:cNvPr id="10" name="1. Open a case Streamlit chip icon" descr="preencoded.png">    </p:cNvPr>
          <p:cNvPicPr>
            <a:picLocks noChangeAspect="1"/>
          </p:cNvPicPr>
          <p:nvPr/>
        </p:nvPicPr>
        <p:blipFill>
          <a:blip r:embed="rId2"/>
          <a:stretch>
            <a:fillRect/>
          </a:stretch>
        </p:blipFill>
        <p:spPr>
          <a:xfrm>
            <a:off x="886968" y="5440680"/>
            <a:ext cx="274320" cy="274320"/>
          </a:xfrm>
          <a:prstGeom prst="rect">
            <a:avLst/>
          </a:prstGeom>
        </p:spPr>
      </p:pic>
      <p:sp>
        <p:nvSpPr>
          <p:cNvPr id="11" name="Text 7"/>
          <p:cNvSpPr txBox="1"/>
          <p:nvPr/>
        </p:nvSpPr>
        <p:spPr>
          <a:xfrm>
            <a:off x="1216152" y="5349240"/>
            <a:ext cx="2539898" cy="457200"/>
          </a:xfrm>
          <a:prstGeom prst="rect">
            <a:avLst/>
          </a:prstGeom>
          <a:noFill/>
          <a:ln/>
        </p:spPr>
        <p:txBody>
          <a:bodyPr wrap="square" lIns="0" tIns="0" rIns="0" bIns="0" rtlCol="0" anchor="ctr"/>
          <a:lstStyle/>
          <a:p>
            <a:pPr indent="0" marL="0">
              <a:buNone/>
            </a:pPr>
            <a:r>
              <a:rPr lang="en-US" sz="1200" b="1" dirty="0">
                <a:solidFill>
                  <a:schemeClr val="tx1"/>
                </a:solidFill>
              </a:rPr>
              <a:t>Streamlit</a:t>
            </a:r>
            <a:endParaRPr lang="en-US" sz="1200" dirty="0"/>
          </a:p>
        </p:txBody>
      </p:sp>
      <p:sp>
        <p:nvSpPr>
          <p:cNvPr id="12" name="2. Load evidence"/>
          <p:cNvSpPr/>
          <p:nvPr/>
        </p:nvSpPr>
        <p:spPr>
          <a:xfrm>
            <a:off x="4368698" y="1280160"/>
            <a:ext cx="3454298" cy="4754880"/>
          </a:xfrm>
          <a:prstGeom prst="roundRect">
            <a:avLst>
              <a:gd name="adj" fmla="val 3177"/>
            </a:avLst>
          </a:prstGeom>
          <a:solidFill>
            <a:schemeClr val="bg2"/>
          </a:solidFill>
          <a:ln w="12700">
            <a:solidFill>
              <a:schemeClr val="bg2"/>
            </a:solidFill>
            <a:prstDash val="solid"/>
          </a:ln>
        </p:spPr>
      </p:sp>
      <p:sp>
        <p:nvSpPr>
          <p:cNvPr id="13" name="2. Load evidence circle"/>
          <p:cNvSpPr/>
          <p:nvPr/>
        </p:nvSpPr>
        <p:spPr>
          <a:xfrm>
            <a:off x="5455768" y="1600200"/>
            <a:ext cx="1280160" cy="1280160"/>
          </a:xfrm>
          <a:prstGeom prst="ellipse">
            <a:avLst/>
          </a:prstGeom>
          <a:solidFill>
            <a:srgbClr val="2563EB"/>
          </a:solidFill>
          <a:ln w="12700">
            <a:solidFill>
              <a:srgbClr val="2563EB"/>
            </a:solidFill>
            <a:prstDash val="solid"/>
          </a:ln>
        </p:spPr>
      </p:sp>
      <p:pic>
        <p:nvPicPr>
          <p:cNvPr id="14" name="2. Load evidence icon" descr="preencoded.png">    </p:cNvPr>
          <p:cNvPicPr>
            <a:picLocks noChangeAspect="1"/>
          </p:cNvPicPr>
          <p:nvPr/>
        </p:nvPicPr>
        <p:blipFill>
          <a:blip r:embed="rId3"/>
          <a:stretch>
            <a:fillRect/>
          </a:stretch>
        </p:blipFill>
        <p:spPr>
          <a:xfrm>
            <a:off x="5775808" y="1920240"/>
            <a:ext cx="640080" cy="640080"/>
          </a:xfrm>
          <a:prstGeom prst="rect">
            <a:avLst/>
          </a:prstGeom>
        </p:spPr>
      </p:pic>
      <p:sp>
        <p:nvSpPr>
          <p:cNvPr id="15" name="Text 10"/>
          <p:cNvSpPr txBox="1"/>
          <p:nvPr/>
        </p:nvSpPr>
        <p:spPr>
          <a:xfrm>
            <a:off x="4643018" y="3063240"/>
            <a:ext cx="2905658" cy="548640"/>
          </a:xfrm>
          <a:prstGeom prst="rect">
            <a:avLst/>
          </a:prstGeom>
          <a:noFill/>
          <a:ln/>
        </p:spPr>
        <p:txBody>
          <a:bodyPr wrap="square" lIns="0" tIns="0" rIns="0" bIns="0" rtlCol="0" anchor="t"/>
          <a:lstStyle/>
          <a:p>
            <a:pPr algn="ctr" indent="0" marL="0">
              <a:buNone/>
            </a:pPr>
            <a:r>
              <a:rPr lang="en-US" sz="2200" b="1" dirty="0">
                <a:solidFill>
                  <a:srgbClr val="2563EB"/>
                </a:solidFill>
              </a:rPr>
              <a:t>2. Load evidence</a:t>
            </a:r>
            <a:endParaRPr lang="en-US" sz="2200" dirty="0"/>
          </a:p>
        </p:txBody>
      </p:sp>
      <p:sp>
        <p:nvSpPr>
          <p:cNvPr id="16" name="Text 11"/>
          <p:cNvSpPr txBox="1"/>
          <p:nvPr/>
        </p:nvSpPr>
        <p:spPr>
          <a:xfrm>
            <a:off x="4688738" y="3657600"/>
            <a:ext cx="2814218" cy="1371600"/>
          </a:xfrm>
          <a:prstGeom prst="rect">
            <a:avLst/>
          </a:prstGeom>
          <a:noFill/>
          <a:ln/>
        </p:spPr>
        <p:txBody>
          <a:bodyPr wrap="square" lIns="0" tIns="0" rIns="0" bIns="0" rtlCol="0" anchor="t"/>
          <a:lstStyle/>
          <a:p>
            <a:pPr algn="ctr" indent="0" marL="0">
              <a:buNone/>
            </a:pPr>
            <a:r>
              <a:rPr lang="en-US" sz="1600" dirty="0">
                <a:solidFill>
                  <a:schemeClr val="tx2"/>
                </a:solidFill>
              </a:rPr>
              <a:t>Give a memory file (or a ready-made CSV). It gets a digital fingerprint the moment it arrives.</a:t>
            </a:r>
            <a:endParaRPr lang="en-US" sz="1600" dirty="0"/>
          </a:p>
        </p:txBody>
      </p:sp>
      <p:sp>
        <p:nvSpPr>
          <p:cNvPr id="17" name="Text 12"/>
          <p:cNvSpPr txBox="1"/>
          <p:nvPr/>
        </p:nvSpPr>
        <p:spPr>
          <a:xfrm>
            <a:off x="4688738" y="5074920"/>
            <a:ext cx="914400" cy="274320"/>
          </a:xfrm>
          <a:prstGeom prst="rect">
            <a:avLst/>
          </a:prstGeom>
          <a:noFill/>
          <a:ln/>
        </p:spPr>
        <p:txBody>
          <a:bodyPr wrap="square" lIns="0" tIns="0" rIns="0" bIns="0" rtlCol="0" anchor="t"/>
          <a:lstStyle/>
          <a:p>
            <a:pPr indent="0" marL="0">
              <a:buNone/>
            </a:pPr>
            <a:r>
              <a:rPr lang="en-US" sz="1000" b="1" spc="200" kern="0" dirty="0">
                <a:solidFill>
                  <a:srgbClr val="5B6478"/>
                </a:solidFill>
              </a:rPr>
              <a:t>TOOL</a:t>
            </a:r>
            <a:endParaRPr lang="en-US" sz="1000" dirty="0"/>
          </a:p>
        </p:txBody>
      </p:sp>
      <p:sp>
        <p:nvSpPr>
          <p:cNvPr id="18" name="2. Load evidence hashlib chip"/>
          <p:cNvSpPr/>
          <p:nvPr/>
        </p:nvSpPr>
        <p:spPr>
          <a:xfrm>
            <a:off x="4597298" y="5349240"/>
            <a:ext cx="2997098" cy="457200"/>
          </a:xfrm>
          <a:prstGeom prst="roundRect">
            <a:avLst>
              <a:gd name="adj" fmla="val 20000"/>
            </a:avLst>
          </a:prstGeom>
          <a:solidFill>
            <a:schemeClr val="bg1"/>
          </a:solidFill>
          <a:ln w="12700">
            <a:solidFill>
              <a:srgbClr val="D6DCE6"/>
            </a:solidFill>
            <a:prstDash val="solid"/>
          </a:ln>
        </p:spPr>
      </p:sp>
      <p:pic>
        <p:nvPicPr>
          <p:cNvPr id="19" name="2. Load evidence hashlib chip icon" descr="preencoded.png">    </p:cNvPr>
          <p:cNvPicPr>
            <a:picLocks noChangeAspect="1"/>
          </p:cNvPicPr>
          <p:nvPr/>
        </p:nvPicPr>
        <p:blipFill>
          <a:blip r:embed="rId4"/>
          <a:stretch>
            <a:fillRect/>
          </a:stretch>
        </p:blipFill>
        <p:spPr>
          <a:xfrm>
            <a:off x="4707026" y="5440680"/>
            <a:ext cx="274320" cy="274320"/>
          </a:xfrm>
          <a:prstGeom prst="rect">
            <a:avLst/>
          </a:prstGeom>
        </p:spPr>
      </p:pic>
      <p:sp>
        <p:nvSpPr>
          <p:cNvPr id="20" name="Text 14"/>
          <p:cNvSpPr txBox="1"/>
          <p:nvPr/>
        </p:nvSpPr>
        <p:spPr>
          <a:xfrm>
            <a:off x="5036210" y="5349240"/>
            <a:ext cx="2539898" cy="457200"/>
          </a:xfrm>
          <a:prstGeom prst="rect">
            <a:avLst/>
          </a:prstGeom>
          <a:noFill/>
          <a:ln/>
        </p:spPr>
        <p:txBody>
          <a:bodyPr wrap="square" lIns="0" tIns="0" rIns="0" bIns="0" rtlCol="0" anchor="ctr"/>
          <a:lstStyle/>
          <a:p>
            <a:pPr indent="0" marL="0">
              <a:buNone/>
            </a:pPr>
            <a:r>
              <a:rPr lang="en-US" sz="1200" b="1" dirty="0">
                <a:solidFill>
                  <a:schemeClr val="tx1"/>
                </a:solidFill>
              </a:rPr>
              <a:t>hashlib</a:t>
            </a:r>
            <a:endParaRPr lang="en-US" sz="1200" dirty="0"/>
          </a:p>
        </p:txBody>
      </p:sp>
      <p:sp>
        <p:nvSpPr>
          <p:cNvPr id="21" name="3. Extract clues"/>
          <p:cNvSpPr/>
          <p:nvPr/>
        </p:nvSpPr>
        <p:spPr>
          <a:xfrm>
            <a:off x="8188757" y="1280160"/>
            <a:ext cx="3454298" cy="4754880"/>
          </a:xfrm>
          <a:prstGeom prst="roundRect">
            <a:avLst>
              <a:gd name="adj" fmla="val 3177"/>
            </a:avLst>
          </a:prstGeom>
          <a:solidFill>
            <a:schemeClr val="bg2"/>
          </a:solidFill>
          <a:ln w="12700">
            <a:solidFill>
              <a:schemeClr val="bg2"/>
            </a:solidFill>
            <a:prstDash val="solid"/>
          </a:ln>
        </p:spPr>
      </p:sp>
      <p:sp>
        <p:nvSpPr>
          <p:cNvPr id="22" name="3. Extract clues circle"/>
          <p:cNvSpPr/>
          <p:nvPr/>
        </p:nvSpPr>
        <p:spPr>
          <a:xfrm>
            <a:off x="9275826" y="1600200"/>
            <a:ext cx="1280160" cy="1280160"/>
          </a:xfrm>
          <a:prstGeom prst="ellipse">
            <a:avLst/>
          </a:prstGeom>
          <a:solidFill>
            <a:srgbClr val="0891B2"/>
          </a:solidFill>
          <a:ln w="12700">
            <a:solidFill>
              <a:srgbClr val="0891B2"/>
            </a:solidFill>
            <a:prstDash val="solid"/>
          </a:ln>
        </p:spPr>
      </p:sp>
      <p:pic>
        <p:nvPicPr>
          <p:cNvPr id="23" name="3. Extract clues icon" descr="preencoded.png">    </p:cNvPr>
          <p:cNvPicPr>
            <a:picLocks noChangeAspect="1"/>
          </p:cNvPicPr>
          <p:nvPr/>
        </p:nvPicPr>
        <p:blipFill>
          <a:blip r:embed="rId5"/>
          <a:stretch>
            <a:fillRect/>
          </a:stretch>
        </p:blipFill>
        <p:spPr>
          <a:xfrm>
            <a:off x="9595866" y="1920240"/>
            <a:ext cx="640080" cy="640080"/>
          </a:xfrm>
          <a:prstGeom prst="rect">
            <a:avLst/>
          </a:prstGeom>
        </p:spPr>
      </p:pic>
      <p:sp>
        <p:nvSpPr>
          <p:cNvPr id="24" name="Text 17"/>
          <p:cNvSpPr txBox="1"/>
          <p:nvPr/>
        </p:nvSpPr>
        <p:spPr>
          <a:xfrm>
            <a:off x="8463077" y="3063240"/>
            <a:ext cx="2905658" cy="548640"/>
          </a:xfrm>
          <a:prstGeom prst="rect">
            <a:avLst/>
          </a:prstGeom>
          <a:noFill/>
          <a:ln/>
        </p:spPr>
        <p:txBody>
          <a:bodyPr wrap="square" lIns="0" tIns="0" rIns="0" bIns="0" rtlCol="0" anchor="t"/>
          <a:lstStyle/>
          <a:p>
            <a:pPr algn="ctr" indent="0" marL="0">
              <a:buNone/>
            </a:pPr>
            <a:r>
              <a:rPr lang="en-US" sz="2200" b="1" dirty="0">
                <a:solidFill>
                  <a:srgbClr val="0891B2"/>
                </a:solidFill>
              </a:rPr>
              <a:t>3. Extract clues</a:t>
            </a:r>
            <a:endParaRPr lang="en-US" sz="2200" dirty="0"/>
          </a:p>
        </p:txBody>
      </p:sp>
      <p:sp>
        <p:nvSpPr>
          <p:cNvPr id="25" name="Text 18"/>
          <p:cNvSpPr txBox="1"/>
          <p:nvPr/>
        </p:nvSpPr>
        <p:spPr>
          <a:xfrm>
            <a:off x="8508797" y="3657600"/>
            <a:ext cx="2814218" cy="1371600"/>
          </a:xfrm>
          <a:prstGeom prst="rect">
            <a:avLst/>
          </a:prstGeom>
          <a:noFill/>
          <a:ln/>
        </p:spPr>
        <p:txBody>
          <a:bodyPr wrap="square" lIns="0" tIns="0" rIns="0" bIns="0" rtlCol="0" anchor="t"/>
          <a:lstStyle/>
          <a:p>
            <a:pPr algn="ctr" indent="0" marL="0">
              <a:buNone/>
            </a:pPr>
            <a:r>
              <a:rPr lang="en-US" sz="1600" dirty="0">
                <a:solidFill>
                  <a:schemeClr val="tx2"/>
                </a:solidFill>
              </a:rPr>
              <a:t>Turn gigabytes of memory into 55 simple numbers, e.g. hidden programs or injected code.</a:t>
            </a:r>
            <a:endParaRPr lang="en-US" sz="1600" dirty="0"/>
          </a:p>
        </p:txBody>
      </p:sp>
      <p:sp>
        <p:nvSpPr>
          <p:cNvPr id="26" name="Text 19"/>
          <p:cNvSpPr txBox="1"/>
          <p:nvPr/>
        </p:nvSpPr>
        <p:spPr>
          <a:xfrm>
            <a:off x="8508797" y="5074920"/>
            <a:ext cx="914400" cy="274320"/>
          </a:xfrm>
          <a:prstGeom prst="rect">
            <a:avLst/>
          </a:prstGeom>
          <a:noFill/>
          <a:ln/>
        </p:spPr>
        <p:txBody>
          <a:bodyPr wrap="square" lIns="0" tIns="0" rIns="0" bIns="0" rtlCol="0" anchor="t"/>
          <a:lstStyle/>
          <a:p>
            <a:pPr indent="0" marL="0">
              <a:buNone/>
            </a:pPr>
            <a:r>
              <a:rPr lang="en-US" sz="1000" b="1" spc="200" kern="0" dirty="0">
                <a:solidFill>
                  <a:srgbClr val="5B6478"/>
                </a:solidFill>
              </a:rPr>
              <a:t>TOOL</a:t>
            </a:r>
            <a:endParaRPr lang="en-US" sz="1000" dirty="0"/>
          </a:p>
        </p:txBody>
      </p:sp>
      <p:sp>
        <p:nvSpPr>
          <p:cNvPr id="27" name="3. Extract clues Volatility 3 chip"/>
          <p:cNvSpPr/>
          <p:nvPr/>
        </p:nvSpPr>
        <p:spPr>
          <a:xfrm>
            <a:off x="8417357" y="5349240"/>
            <a:ext cx="1429969" cy="457200"/>
          </a:xfrm>
          <a:prstGeom prst="roundRect">
            <a:avLst>
              <a:gd name="adj" fmla="val 20000"/>
            </a:avLst>
          </a:prstGeom>
          <a:solidFill>
            <a:schemeClr val="bg1"/>
          </a:solidFill>
          <a:ln w="12700">
            <a:solidFill>
              <a:srgbClr val="D6DCE6"/>
            </a:solidFill>
            <a:prstDash val="solid"/>
          </a:ln>
        </p:spPr>
      </p:sp>
      <p:pic>
        <p:nvPicPr>
          <p:cNvPr id="28" name="3. Extract clues Volatility 3 chip icon" descr="preencoded.png">    </p:cNvPr>
          <p:cNvPicPr>
            <a:picLocks noChangeAspect="1"/>
          </p:cNvPicPr>
          <p:nvPr/>
        </p:nvPicPr>
        <p:blipFill>
          <a:blip r:embed="rId6"/>
          <a:stretch>
            <a:fillRect/>
          </a:stretch>
        </p:blipFill>
        <p:spPr>
          <a:xfrm>
            <a:off x="8527085" y="5440680"/>
            <a:ext cx="274320" cy="274320"/>
          </a:xfrm>
          <a:prstGeom prst="rect">
            <a:avLst/>
          </a:prstGeom>
        </p:spPr>
      </p:pic>
      <p:sp>
        <p:nvSpPr>
          <p:cNvPr id="29" name="Text 21"/>
          <p:cNvSpPr txBox="1"/>
          <p:nvPr/>
        </p:nvSpPr>
        <p:spPr>
          <a:xfrm>
            <a:off x="8856269" y="5349240"/>
            <a:ext cx="972769" cy="457200"/>
          </a:xfrm>
          <a:prstGeom prst="rect">
            <a:avLst/>
          </a:prstGeom>
          <a:noFill/>
          <a:ln/>
        </p:spPr>
        <p:txBody>
          <a:bodyPr wrap="square" lIns="0" tIns="0" rIns="0" bIns="0" rtlCol="0" anchor="ctr"/>
          <a:lstStyle/>
          <a:p>
            <a:pPr indent="0" marL="0">
              <a:buNone/>
            </a:pPr>
            <a:r>
              <a:rPr lang="en-US" sz="1200" b="1" dirty="0">
                <a:solidFill>
                  <a:schemeClr val="tx1"/>
                </a:solidFill>
              </a:rPr>
              <a:t>Volatility 3</a:t>
            </a:r>
            <a:endParaRPr lang="en-US" sz="1200" dirty="0"/>
          </a:p>
        </p:txBody>
      </p:sp>
      <p:sp>
        <p:nvSpPr>
          <p:cNvPr id="30" name="3. Extract clues pandas chip"/>
          <p:cNvSpPr/>
          <p:nvPr/>
        </p:nvSpPr>
        <p:spPr>
          <a:xfrm>
            <a:off x="9984486" y="5349240"/>
            <a:ext cx="1429969" cy="457200"/>
          </a:xfrm>
          <a:prstGeom prst="roundRect">
            <a:avLst>
              <a:gd name="adj" fmla="val 20000"/>
            </a:avLst>
          </a:prstGeom>
          <a:solidFill>
            <a:schemeClr val="bg1"/>
          </a:solidFill>
          <a:ln w="12700">
            <a:solidFill>
              <a:srgbClr val="D6DCE6"/>
            </a:solidFill>
            <a:prstDash val="solid"/>
          </a:ln>
        </p:spPr>
      </p:sp>
      <p:pic>
        <p:nvPicPr>
          <p:cNvPr id="31" name="3. Extract clues pandas chip icon" descr="preencoded.png">    </p:cNvPr>
          <p:cNvPicPr>
            <a:picLocks noChangeAspect="1"/>
          </p:cNvPicPr>
          <p:nvPr/>
        </p:nvPicPr>
        <p:blipFill>
          <a:blip r:embed="rId7"/>
          <a:stretch>
            <a:fillRect/>
          </a:stretch>
        </p:blipFill>
        <p:spPr>
          <a:xfrm>
            <a:off x="10094214" y="5440680"/>
            <a:ext cx="274320" cy="274320"/>
          </a:xfrm>
          <a:prstGeom prst="rect">
            <a:avLst/>
          </a:prstGeom>
        </p:spPr>
      </p:pic>
      <p:sp>
        <p:nvSpPr>
          <p:cNvPr id="32" name="Text 23"/>
          <p:cNvSpPr txBox="1"/>
          <p:nvPr/>
        </p:nvSpPr>
        <p:spPr>
          <a:xfrm>
            <a:off x="10423398" y="5349240"/>
            <a:ext cx="972769" cy="457200"/>
          </a:xfrm>
          <a:prstGeom prst="rect">
            <a:avLst/>
          </a:prstGeom>
          <a:noFill/>
          <a:ln/>
        </p:spPr>
        <p:txBody>
          <a:bodyPr wrap="square" lIns="0" tIns="0" rIns="0" bIns="0" rtlCol="0" anchor="ctr"/>
          <a:lstStyle/>
          <a:p>
            <a:pPr indent="0" marL="0">
              <a:buNone/>
            </a:pPr>
            <a:r>
              <a:rPr lang="en-US" sz="1200" b="1" dirty="0">
                <a:solidFill>
                  <a:schemeClr val="tx1"/>
                </a:solidFill>
              </a:rPr>
              <a:t>pandas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Steps 4–6: deciding, explaining, reporting</a:t>
            </a:r>
            <a:endParaRPr lang="en-US" sz="2800" dirty="0"/>
          </a:p>
        </p:txBody>
      </p:sp>
      <p:sp>
        <p:nvSpPr>
          <p:cNvPr id="3" name="4. AI detection"/>
          <p:cNvSpPr/>
          <p:nvPr/>
        </p:nvSpPr>
        <p:spPr>
          <a:xfrm>
            <a:off x="548640" y="1280160"/>
            <a:ext cx="3454298" cy="4754880"/>
          </a:xfrm>
          <a:prstGeom prst="roundRect">
            <a:avLst>
              <a:gd name="adj" fmla="val 3177"/>
            </a:avLst>
          </a:prstGeom>
          <a:solidFill>
            <a:schemeClr val="bg2"/>
          </a:solidFill>
          <a:ln w="12700">
            <a:solidFill>
              <a:schemeClr val="bg2"/>
            </a:solidFill>
            <a:prstDash val="solid"/>
          </a:ln>
        </p:spPr>
      </p:sp>
      <p:sp>
        <p:nvSpPr>
          <p:cNvPr id="4" name="4. AI detection circle"/>
          <p:cNvSpPr/>
          <p:nvPr/>
        </p:nvSpPr>
        <p:spPr>
          <a:xfrm>
            <a:off x="1635709" y="1600200"/>
            <a:ext cx="1280160" cy="1280160"/>
          </a:xfrm>
          <a:prstGeom prst="ellipse">
            <a:avLst/>
          </a:prstGeom>
          <a:solidFill>
            <a:srgbClr val="DC2626"/>
          </a:solidFill>
          <a:ln w="12700">
            <a:solidFill>
              <a:srgbClr val="DC2626"/>
            </a:solidFill>
            <a:prstDash val="solid"/>
          </a:ln>
        </p:spPr>
      </p:sp>
      <p:pic>
        <p:nvPicPr>
          <p:cNvPr id="5" name="4. AI detection icon" descr="preencoded.png">    </p:cNvPr>
          <p:cNvPicPr>
            <a:picLocks noChangeAspect="1"/>
          </p:cNvPicPr>
          <p:nvPr/>
        </p:nvPicPr>
        <p:blipFill>
          <a:blip r:embed="rId1"/>
          <a:stretch>
            <a:fillRect/>
          </a:stretch>
        </p:blipFill>
        <p:spPr>
          <a:xfrm>
            <a:off x="1955749" y="1920240"/>
            <a:ext cx="640080" cy="640080"/>
          </a:xfrm>
          <a:prstGeom prst="rect">
            <a:avLst/>
          </a:prstGeom>
        </p:spPr>
      </p:pic>
      <p:sp>
        <p:nvSpPr>
          <p:cNvPr id="6" name="Text 3"/>
          <p:cNvSpPr txBox="1"/>
          <p:nvPr/>
        </p:nvSpPr>
        <p:spPr>
          <a:xfrm>
            <a:off x="822960" y="3063240"/>
            <a:ext cx="2905658" cy="548640"/>
          </a:xfrm>
          <a:prstGeom prst="rect">
            <a:avLst/>
          </a:prstGeom>
          <a:noFill/>
          <a:ln/>
        </p:spPr>
        <p:txBody>
          <a:bodyPr wrap="square" lIns="0" tIns="0" rIns="0" bIns="0" rtlCol="0" anchor="t"/>
          <a:lstStyle/>
          <a:p>
            <a:pPr algn="ctr" indent="0" marL="0">
              <a:buNone/>
            </a:pPr>
            <a:r>
              <a:rPr lang="en-US" sz="2200" b="1" dirty="0">
                <a:solidFill>
                  <a:srgbClr val="DC2626"/>
                </a:solidFill>
              </a:rPr>
              <a:t>4. AI detection</a:t>
            </a:r>
            <a:endParaRPr lang="en-US" sz="2200" dirty="0"/>
          </a:p>
        </p:txBody>
      </p:sp>
      <p:sp>
        <p:nvSpPr>
          <p:cNvPr id="7" name="Text 4"/>
          <p:cNvSpPr txBox="1"/>
          <p:nvPr/>
        </p:nvSpPr>
        <p:spPr>
          <a:xfrm>
            <a:off x="868680" y="3657600"/>
            <a:ext cx="2814218" cy="1371600"/>
          </a:xfrm>
          <a:prstGeom prst="rect">
            <a:avLst/>
          </a:prstGeom>
          <a:noFill/>
          <a:ln/>
        </p:spPr>
        <p:txBody>
          <a:bodyPr wrap="square" lIns="0" tIns="0" rIns="0" bIns="0" rtlCol="0" anchor="t"/>
          <a:lstStyle/>
          <a:p>
            <a:pPr algn="ctr" indent="0" marL="0">
              <a:buNone/>
            </a:pPr>
            <a:r>
              <a:rPr lang="en-US" sz="1600" dirty="0">
                <a:solidFill>
                  <a:schemeClr val="tx2"/>
                </a:solidFill>
              </a:rPr>
              <a:t>Many small decision trees vote: malware score 0–100%. A second model flags things never seen before.</a:t>
            </a:r>
            <a:endParaRPr lang="en-US" sz="1600" dirty="0"/>
          </a:p>
        </p:txBody>
      </p:sp>
      <p:sp>
        <p:nvSpPr>
          <p:cNvPr id="8" name="Text 5"/>
          <p:cNvSpPr txBox="1"/>
          <p:nvPr/>
        </p:nvSpPr>
        <p:spPr>
          <a:xfrm>
            <a:off x="868680" y="5074920"/>
            <a:ext cx="914400" cy="274320"/>
          </a:xfrm>
          <a:prstGeom prst="rect">
            <a:avLst/>
          </a:prstGeom>
          <a:noFill/>
          <a:ln/>
        </p:spPr>
        <p:txBody>
          <a:bodyPr wrap="square" lIns="0" tIns="0" rIns="0" bIns="0" rtlCol="0" anchor="t"/>
          <a:lstStyle/>
          <a:p>
            <a:pPr indent="0" marL="0">
              <a:buNone/>
            </a:pPr>
            <a:r>
              <a:rPr lang="en-US" sz="1000" b="1" spc="200" kern="0" dirty="0">
                <a:solidFill>
                  <a:srgbClr val="5B6478"/>
                </a:solidFill>
              </a:rPr>
              <a:t>TOOL</a:t>
            </a:r>
            <a:endParaRPr lang="en-US" sz="1000" dirty="0"/>
          </a:p>
        </p:txBody>
      </p:sp>
      <p:sp>
        <p:nvSpPr>
          <p:cNvPr id="9" name="4. AI detection scikit-learn chip"/>
          <p:cNvSpPr/>
          <p:nvPr/>
        </p:nvSpPr>
        <p:spPr>
          <a:xfrm>
            <a:off x="777240" y="5349240"/>
            <a:ext cx="2997098" cy="457200"/>
          </a:xfrm>
          <a:prstGeom prst="roundRect">
            <a:avLst>
              <a:gd name="adj" fmla="val 20000"/>
            </a:avLst>
          </a:prstGeom>
          <a:solidFill>
            <a:schemeClr val="bg1"/>
          </a:solidFill>
          <a:ln w="12700">
            <a:solidFill>
              <a:srgbClr val="D6DCE6"/>
            </a:solidFill>
            <a:prstDash val="solid"/>
          </a:ln>
        </p:spPr>
      </p:sp>
      <p:pic>
        <p:nvPicPr>
          <p:cNvPr id="10" name="4. AI detection scikit-learn chip icon" descr="preencoded.png">    </p:cNvPr>
          <p:cNvPicPr>
            <a:picLocks noChangeAspect="1"/>
          </p:cNvPicPr>
          <p:nvPr/>
        </p:nvPicPr>
        <p:blipFill>
          <a:blip r:embed="rId2"/>
          <a:stretch>
            <a:fillRect/>
          </a:stretch>
        </p:blipFill>
        <p:spPr>
          <a:xfrm>
            <a:off x="886968" y="5440680"/>
            <a:ext cx="274320" cy="274320"/>
          </a:xfrm>
          <a:prstGeom prst="rect">
            <a:avLst/>
          </a:prstGeom>
        </p:spPr>
      </p:pic>
      <p:sp>
        <p:nvSpPr>
          <p:cNvPr id="11" name="Text 7"/>
          <p:cNvSpPr txBox="1"/>
          <p:nvPr/>
        </p:nvSpPr>
        <p:spPr>
          <a:xfrm>
            <a:off x="1216152" y="5349240"/>
            <a:ext cx="2539898" cy="457200"/>
          </a:xfrm>
          <a:prstGeom prst="rect">
            <a:avLst/>
          </a:prstGeom>
          <a:noFill/>
          <a:ln/>
        </p:spPr>
        <p:txBody>
          <a:bodyPr wrap="square" lIns="0" tIns="0" rIns="0" bIns="0" rtlCol="0" anchor="ctr"/>
          <a:lstStyle/>
          <a:p>
            <a:pPr indent="0" marL="0">
              <a:buNone/>
            </a:pPr>
            <a:r>
              <a:rPr lang="en-US" sz="1200" b="1" dirty="0">
                <a:solidFill>
                  <a:schemeClr val="tx1"/>
                </a:solidFill>
              </a:rPr>
              <a:t>scikit-learn</a:t>
            </a:r>
            <a:endParaRPr lang="en-US" sz="1200" dirty="0"/>
          </a:p>
        </p:txBody>
      </p:sp>
      <p:sp>
        <p:nvSpPr>
          <p:cNvPr id="12" name="5. Explain why"/>
          <p:cNvSpPr/>
          <p:nvPr/>
        </p:nvSpPr>
        <p:spPr>
          <a:xfrm>
            <a:off x="4368698" y="1280160"/>
            <a:ext cx="3454298" cy="4754880"/>
          </a:xfrm>
          <a:prstGeom prst="roundRect">
            <a:avLst>
              <a:gd name="adj" fmla="val 3177"/>
            </a:avLst>
          </a:prstGeom>
          <a:solidFill>
            <a:schemeClr val="bg2"/>
          </a:solidFill>
          <a:ln w="12700">
            <a:solidFill>
              <a:schemeClr val="bg2"/>
            </a:solidFill>
            <a:prstDash val="solid"/>
          </a:ln>
        </p:spPr>
      </p:sp>
      <p:sp>
        <p:nvSpPr>
          <p:cNvPr id="13" name="5. Explain why circle"/>
          <p:cNvSpPr/>
          <p:nvPr/>
        </p:nvSpPr>
        <p:spPr>
          <a:xfrm>
            <a:off x="5455768" y="1600200"/>
            <a:ext cx="1280160" cy="1280160"/>
          </a:xfrm>
          <a:prstGeom prst="ellipse">
            <a:avLst/>
          </a:prstGeom>
          <a:solidFill>
            <a:srgbClr val="D97706"/>
          </a:solidFill>
          <a:ln w="12700">
            <a:solidFill>
              <a:srgbClr val="D97706"/>
            </a:solidFill>
            <a:prstDash val="solid"/>
          </a:ln>
        </p:spPr>
      </p:sp>
      <p:pic>
        <p:nvPicPr>
          <p:cNvPr id="14" name="5. Explain why icon" descr="preencoded.png">    </p:cNvPr>
          <p:cNvPicPr>
            <a:picLocks noChangeAspect="1"/>
          </p:cNvPicPr>
          <p:nvPr/>
        </p:nvPicPr>
        <p:blipFill>
          <a:blip r:embed="rId3"/>
          <a:stretch>
            <a:fillRect/>
          </a:stretch>
        </p:blipFill>
        <p:spPr>
          <a:xfrm>
            <a:off x="5775808" y="1920240"/>
            <a:ext cx="640080" cy="640080"/>
          </a:xfrm>
          <a:prstGeom prst="rect">
            <a:avLst/>
          </a:prstGeom>
        </p:spPr>
      </p:pic>
      <p:sp>
        <p:nvSpPr>
          <p:cNvPr id="15" name="Text 10"/>
          <p:cNvSpPr txBox="1"/>
          <p:nvPr/>
        </p:nvSpPr>
        <p:spPr>
          <a:xfrm>
            <a:off x="4643018" y="3063240"/>
            <a:ext cx="2905658" cy="548640"/>
          </a:xfrm>
          <a:prstGeom prst="rect">
            <a:avLst/>
          </a:prstGeom>
          <a:noFill/>
          <a:ln/>
        </p:spPr>
        <p:txBody>
          <a:bodyPr wrap="square" lIns="0" tIns="0" rIns="0" bIns="0" rtlCol="0" anchor="t"/>
          <a:lstStyle/>
          <a:p>
            <a:pPr algn="ctr" indent="0" marL="0">
              <a:buNone/>
            </a:pPr>
            <a:r>
              <a:rPr lang="en-US" sz="2200" b="1" dirty="0">
                <a:solidFill>
                  <a:srgbClr val="D97706"/>
                </a:solidFill>
              </a:rPr>
              <a:t>5. Explain why</a:t>
            </a:r>
            <a:endParaRPr lang="en-US" sz="2200" dirty="0"/>
          </a:p>
        </p:txBody>
      </p:sp>
      <p:sp>
        <p:nvSpPr>
          <p:cNvPr id="16" name="Text 11"/>
          <p:cNvSpPr txBox="1"/>
          <p:nvPr/>
        </p:nvSpPr>
        <p:spPr>
          <a:xfrm>
            <a:off x="4688738" y="3657600"/>
            <a:ext cx="2814218" cy="1371600"/>
          </a:xfrm>
          <a:prstGeom prst="rect">
            <a:avLst/>
          </a:prstGeom>
          <a:noFill/>
          <a:ln/>
        </p:spPr>
        <p:txBody>
          <a:bodyPr wrap="square" lIns="0" tIns="0" rIns="0" bIns="0" rtlCol="0" anchor="t"/>
          <a:lstStyle/>
          <a:p>
            <a:pPr algn="ctr" indent="0" marL="0">
              <a:buNone/>
            </a:pPr>
            <a:r>
              <a:rPr lang="en-US" sz="1600" dirty="0">
                <a:solidFill>
                  <a:schemeClr val="tx2"/>
                </a:solidFill>
              </a:rPr>
              <a:t>Show which clues pushed the score up or down, in plain English. Red = towards malware.</a:t>
            </a:r>
            <a:endParaRPr lang="en-US" sz="1600" dirty="0"/>
          </a:p>
        </p:txBody>
      </p:sp>
      <p:sp>
        <p:nvSpPr>
          <p:cNvPr id="17" name="Text 12"/>
          <p:cNvSpPr txBox="1"/>
          <p:nvPr/>
        </p:nvSpPr>
        <p:spPr>
          <a:xfrm>
            <a:off x="4688738" y="5074920"/>
            <a:ext cx="914400" cy="274320"/>
          </a:xfrm>
          <a:prstGeom prst="rect">
            <a:avLst/>
          </a:prstGeom>
          <a:noFill/>
          <a:ln/>
        </p:spPr>
        <p:txBody>
          <a:bodyPr wrap="square" lIns="0" tIns="0" rIns="0" bIns="0" rtlCol="0" anchor="t"/>
          <a:lstStyle/>
          <a:p>
            <a:pPr indent="0" marL="0">
              <a:buNone/>
            </a:pPr>
            <a:r>
              <a:rPr lang="en-US" sz="1000" b="1" spc="200" kern="0" dirty="0">
                <a:solidFill>
                  <a:srgbClr val="5B6478"/>
                </a:solidFill>
              </a:rPr>
              <a:t>TOOL</a:t>
            </a:r>
            <a:endParaRPr lang="en-US" sz="1000" dirty="0"/>
          </a:p>
        </p:txBody>
      </p:sp>
      <p:sp>
        <p:nvSpPr>
          <p:cNvPr id="18" name="5. Explain why SHAP chip"/>
          <p:cNvSpPr/>
          <p:nvPr/>
        </p:nvSpPr>
        <p:spPr>
          <a:xfrm>
            <a:off x="4597298" y="5349240"/>
            <a:ext cx="1429969" cy="457200"/>
          </a:xfrm>
          <a:prstGeom prst="roundRect">
            <a:avLst>
              <a:gd name="adj" fmla="val 20000"/>
            </a:avLst>
          </a:prstGeom>
          <a:solidFill>
            <a:schemeClr val="bg1"/>
          </a:solidFill>
          <a:ln w="12700">
            <a:solidFill>
              <a:srgbClr val="D6DCE6"/>
            </a:solidFill>
            <a:prstDash val="solid"/>
          </a:ln>
        </p:spPr>
      </p:sp>
      <p:pic>
        <p:nvPicPr>
          <p:cNvPr id="19" name="5. Explain why SHAP chip icon" descr="preencoded.png">    </p:cNvPr>
          <p:cNvPicPr>
            <a:picLocks noChangeAspect="1"/>
          </p:cNvPicPr>
          <p:nvPr/>
        </p:nvPicPr>
        <p:blipFill>
          <a:blip r:embed="rId4"/>
          <a:stretch>
            <a:fillRect/>
          </a:stretch>
        </p:blipFill>
        <p:spPr>
          <a:xfrm>
            <a:off x="4707026" y="5440680"/>
            <a:ext cx="274320" cy="274320"/>
          </a:xfrm>
          <a:prstGeom prst="rect">
            <a:avLst/>
          </a:prstGeom>
        </p:spPr>
      </p:pic>
      <p:sp>
        <p:nvSpPr>
          <p:cNvPr id="20" name="Text 14"/>
          <p:cNvSpPr txBox="1"/>
          <p:nvPr/>
        </p:nvSpPr>
        <p:spPr>
          <a:xfrm>
            <a:off x="5036210" y="5349240"/>
            <a:ext cx="972769" cy="457200"/>
          </a:xfrm>
          <a:prstGeom prst="rect">
            <a:avLst/>
          </a:prstGeom>
          <a:noFill/>
          <a:ln/>
        </p:spPr>
        <p:txBody>
          <a:bodyPr wrap="square" lIns="0" tIns="0" rIns="0" bIns="0" rtlCol="0" anchor="ctr"/>
          <a:lstStyle/>
          <a:p>
            <a:pPr indent="0" marL="0">
              <a:buNone/>
            </a:pPr>
            <a:r>
              <a:rPr lang="en-US" sz="1200" b="1" dirty="0">
                <a:solidFill>
                  <a:schemeClr val="tx1"/>
                </a:solidFill>
              </a:rPr>
              <a:t>SHAP</a:t>
            </a:r>
            <a:endParaRPr lang="en-US" sz="1200" dirty="0"/>
          </a:p>
        </p:txBody>
      </p:sp>
      <p:sp>
        <p:nvSpPr>
          <p:cNvPr id="21" name="5. Explain why LIME chip"/>
          <p:cNvSpPr/>
          <p:nvPr/>
        </p:nvSpPr>
        <p:spPr>
          <a:xfrm>
            <a:off x="6164428" y="5349240"/>
            <a:ext cx="1429969" cy="457200"/>
          </a:xfrm>
          <a:prstGeom prst="roundRect">
            <a:avLst>
              <a:gd name="adj" fmla="val 20000"/>
            </a:avLst>
          </a:prstGeom>
          <a:solidFill>
            <a:schemeClr val="bg1"/>
          </a:solidFill>
          <a:ln w="12700">
            <a:solidFill>
              <a:srgbClr val="D6DCE6"/>
            </a:solidFill>
            <a:prstDash val="solid"/>
          </a:ln>
        </p:spPr>
      </p:sp>
      <p:pic>
        <p:nvPicPr>
          <p:cNvPr id="22" name="5. Explain why LIME chip icon" descr="preencoded.png">    </p:cNvPr>
          <p:cNvPicPr>
            <a:picLocks noChangeAspect="1"/>
          </p:cNvPicPr>
          <p:nvPr/>
        </p:nvPicPr>
        <p:blipFill>
          <a:blip r:embed="rId5"/>
          <a:stretch>
            <a:fillRect/>
          </a:stretch>
        </p:blipFill>
        <p:spPr>
          <a:xfrm>
            <a:off x="6274156" y="5440680"/>
            <a:ext cx="274320" cy="274320"/>
          </a:xfrm>
          <a:prstGeom prst="rect">
            <a:avLst/>
          </a:prstGeom>
        </p:spPr>
      </p:pic>
      <p:sp>
        <p:nvSpPr>
          <p:cNvPr id="23" name="Text 16"/>
          <p:cNvSpPr txBox="1"/>
          <p:nvPr/>
        </p:nvSpPr>
        <p:spPr>
          <a:xfrm>
            <a:off x="6603340" y="5349240"/>
            <a:ext cx="972769" cy="457200"/>
          </a:xfrm>
          <a:prstGeom prst="rect">
            <a:avLst/>
          </a:prstGeom>
          <a:noFill/>
          <a:ln/>
        </p:spPr>
        <p:txBody>
          <a:bodyPr wrap="square" lIns="0" tIns="0" rIns="0" bIns="0" rtlCol="0" anchor="ctr"/>
          <a:lstStyle/>
          <a:p>
            <a:pPr indent="0" marL="0">
              <a:buNone/>
            </a:pPr>
            <a:r>
              <a:rPr lang="en-US" sz="1200" b="1" dirty="0">
                <a:solidFill>
                  <a:schemeClr val="tx1"/>
                </a:solidFill>
              </a:rPr>
              <a:t>LIME</a:t>
            </a:r>
            <a:endParaRPr lang="en-US" sz="1200" dirty="0"/>
          </a:p>
        </p:txBody>
      </p:sp>
      <p:sp>
        <p:nvSpPr>
          <p:cNvPr id="24" name="6. Report &amp; seal"/>
          <p:cNvSpPr/>
          <p:nvPr/>
        </p:nvSpPr>
        <p:spPr>
          <a:xfrm>
            <a:off x="8188757" y="1280160"/>
            <a:ext cx="3454298" cy="4754880"/>
          </a:xfrm>
          <a:prstGeom prst="roundRect">
            <a:avLst>
              <a:gd name="adj" fmla="val 3177"/>
            </a:avLst>
          </a:prstGeom>
          <a:solidFill>
            <a:schemeClr val="bg2"/>
          </a:solidFill>
          <a:ln w="12700">
            <a:solidFill>
              <a:schemeClr val="bg2"/>
            </a:solidFill>
            <a:prstDash val="solid"/>
          </a:ln>
        </p:spPr>
      </p:sp>
      <p:sp>
        <p:nvSpPr>
          <p:cNvPr id="25" name="6. Report &amp; seal circle"/>
          <p:cNvSpPr/>
          <p:nvPr/>
        </p:nvSpPr>
        <p:spPr>
          <a:xfrm>
            <a:off x="9275826" y="1600200"/>
            <a:ext cx="1280160" cy="1280160"/>
          </a:xfrm>
          <a:prstGeom prst="ellipse">
            <a:avLst/>
          </a:prstGeom>
          <a:solidFill>
            <a:srgbClr val="16A34A"/>
          </a:solidFill>
          <a:ln w="12700">
            <a:solidFill>
              <a:srgbClr val="16A34A"/>
            </a:solidFill>
            <a:prstDash val="solid"/>
          </a:ln>
        </p:spPr>
      </p:sp>
      <p:pic>
        <p:nvPicPr>
          <p:cNvPr id="26" name="6. Report &amp; seal icon" descr="preencoded.png">    </p:cNvPr>
          <p:cNvPicPr>
            <a:picLocks noChangeAspect="1"/>
          </p:cNvPicPr>
          <p:nvPr/>
        </p:nvPicPr>
        <p:blipFill>
          <a:blip r:embed="rId6"/>
          <a:stretch>
            <a:fillRect/>
          </a:stretch>
        </p:blipFill>
        <p:spPr>
          <a:xfrm>
            <a:off x="9595866" y="1920240"/>
            <a:ext cx="640080" cy="640080"/>
          </a:xfrm>
          <a:prstGeom prst="rect">
            <a:avLst/>
          </a:prstGeom>
        </p:spPr>
      </p:pic>
      <p:sp>
        <p:nvSpPr>
          <p:cNvPr id="27" name="Text 19"/>
          <p:cNvSpPr txBox="1"/>
          <p:nvPr/>
        </p:nvSpPr>
        <p:spPr>
          <a:xfrm>
            <a:off x="8463077" y="3063240"/>
            <a:ext cx="2905658" cy="548640"/>
          </a:xfrm>
          <a:prstGeom prst="rect">
            <a:avLst/>
          </a:prstGeom>
          <a:noFill/>
          <a:ln/>
        </p:spPr>
        <p:txBody>
          <a:bodyPr wrap="square" lIns="0" tIns="0" rIns="0" bIns="0" rtlCol="0" anchor="t"/>
          <a:lstStyle/>
          <a:p>
            <a:pPr algn="ctr" indent="0" marL="0">
              <a:buNone/>
            </a:pPr>
            <a:r>
              <a:rPr lang="en-US" sz="2200" b="1" dirty="0">
                <a:solidFill>
                  <a:srgbClr val="16A34A"/>
                </a:solidFill>
              </a:rPr>
              <a:t>6. Report &amp; seal</a:t>
            </a:r>
            <a:endParaRPr lang="en-US" sz="2200" dirty="0"/>
          </a:p>
        </p:txBody>
      </p:sp>
      <p:sp>
        <p:nvSpPr>
          <p:cNvPr id="28" name="Text 20"/>
          <p:cNvSpPr txBox="1"/>
          <p:nvPr/>
        </p:nvSpPr>
        <p:spPr>
          <a:xfrm>
            <a:off x="8508797" y="3657600"/>
            <a:ext cx="2814218" cy="1371600"/>
          </a:xfrm>
          <a:prstGeom prst="rect">
            <a:avLst/>
          </a:prstGeom>
          <a:noFill/>
          <a:ln/>
        </p:spPr>
        <p:txBody>
          <a:bodyPr wrap="square" lIns="0" tIns="0" rIns="0" bIns="0" rtlCol="0" anchor="t"/>
          <a:lstStyle/>
          <a:p>
            <a:pPr algn="ctr" indent="0" marL="0">
              <a:buNone/>
            </a:pPr>
            <a:r>
              <a:rPr lang="en-US" sz="1600" dirty="0">
                <a:solidFill>
                  <a:schemeClr val="tx2"/>
                </a:solidFill>
              </a:rPr>
              <a:t>A PDF report with the result, the reasons and all fingerprints, sealed with its own fingerprint.</a:t>
            </a:r>
            <a:endParaRPr lang="en-US" sz="1600" dirty="0"/>
          </a:p>
        </p:txBody>
      </p:sp>
      <p:sp>
        <p:nvSpPr>
          <p:cNvPr id="29" name="Text 21"/>
          <p:cNvSpPr txBox="1"/>
          <p:nvPr/>
        </p:nvSpPr>
        <p:spPr>
          <a:xfrm>
            <a:off x="8508797" y="5074920"/>
            <a:ext cx="914400" cy="274320"/>
          </a:xfrm>
          <a:prstGeom prst="rect">
            <a:avLst/>
          </a:prstGeom>
          <a:noFill/>
          <a:ln/>
        </p:spPr>
        <p:txBody>
          <a:bodyPr wrap="square" lIns="0" tIns="0" rIns="0" bIns="0" rtlCol="0" anchor="t"/>
          <a:lstStyle/>
          <a:p>
            <a:pPr indent="0" marL="0">
              <a:buNone/>
            </a:pPr>
            <a:r>
              <a:rPr lang="en-US" sz="1000" b="1" spc="200" kern="0" dirty="0">
                <a:solidFill>
                  <a:srgbClr val="5B6478"/>
                </a:solidFill>
              </a:rPr>
              <a:t>TOOL</a:t>
            </a:r>
            <a:endParaRPr lang="en-US" sz="1000" dirty="0"/>
          </a:p>
        </p:txBody>
      </p:sp>
      <p:sp>
        <p:nvSpPr>
          <p:cNvPr id="30" name="6. Report &amp; seal ReportLab chip"/>
          <p:cNvSpPr/>
          <p:nvPr/>
        </p:nvSpPr>
        <p:spPr>
          <a:xfrm>
            <a:off x="8417357" y="5349240"/>
            <a:ext cx="2997098" cy="457200"/>
          </a:xfrm>
          <a:prstGeom prst="roundRect">
            <a:avLst>
              <a:gd name="adj" fmla="val 20000"/>
            </a:avLst>
          </a:prstGeom>
          <a:solidFill>
            <a:schemeClr val="bg1"/>
          </a:solidFill>
          <a:ln w="12700">
            <a:solidFill>
              <a:srgbClr val="D6DCE6"/>
            </a:solidFill>
            <a:prstDash val="solid"/>
          </a:ln>
        </p:spPr>
      </p:sp>
      <p:pic>
        <p:nvPicPr>
          <p:cNvPr id="31" name="6. Report &amp; seal ReportLab chip icon" descr="preencoded.png">    </p:cNvPr>
          <p:cNvPicPr>
            <a:picLocks noChangeAspect="1"/>
          </p:cNvPicPr>
          <p:nvPr/>
        </p:nvPicPr>
        <p:blipFill>
          <a:blip r:embed="rId7"/>
          <a:stretch>
            <a:fillRect/>
          </a:stretch>
        </p:blipFill>
        <p:spPr>
          <a:xfrm>
            <a:off x="8527085" y="5440680"/>
            <a:ext cx="274320" cy="274320"/>
          </a:xfrm>
          <a:prstGeom prst="rect">
            <a:avLst/>
          </a:prstGeom>
        </p:spPr>
      </p:pic>
      <p:sp>
        <p:nvSpPr>
          <p:cNvPr id="32" name="Text 23"/>
          <p:cNvSpPr txBox="1"/>
          <p:nvPr/>
        </p:nvSpPr>
        <p:spPr>
          <a:xfrm>
            <a:off x="8856269" y="5349240"/>
            <a:ext cx="2539898" cy="457200"/>
          </a:xfrm>
          <a:prstGeom prst="rect">
            <a:avLst/>
          </a:prstGeom>
          <a:noFill/>
          <a:ln/>
        </p:spPr>
        <p:txBody>
          <a:bodyPr wrap="square" lIns="0" tIns="0" rIns="0" bIns="0" rtlCol="0" anchor="ctr"/>
          <a:lstStyle/>
          <a:p>
            <a:pPr indent="0" marL="0">
              <a:buNone/>
            </a:pPr>
            <a:r>
              <a:rPr lang="en-US" sz="1200" b="1" dirty="0">
                <a:solidFill>
                  <a:schemeClr val="tx1"/>
                </a:solidFill>
              </a:rPr>
              <a:t>ReportLab</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Proving the evidence never changed</a:t>
            </a:r>
            <a:endParaRPr lang="en-US" sz="2800" dirty="0"/>
          </a:p>
        </p:txBody>
      </p:sp>
      <p:pic>
        <p:nvPicPr>
          <p:cNvPr id="3" name="chain of custody diagram" descr="/tmp/claude-0/-home-user-Memory-Forensic-Triage-AI/bb56e43b-70be-5e3d-95a8-8c26ecd592c6/images/1.png">    </p:cNvPr>
          <p:cNvPicPr>
            <a:picLocks noChangeAspect="1"/>
          </p:cNvPicPr>
          <p:nvPr/>
        </p:nvPicPr>
        <p:blipFill>
          <a:blip r:embed="rId1"/>
          <a:stretch>
            <a:fillRect/>
          </a:stretch>
        </p:blipFill>
        <p:spPr>
          <a:xfrm>
            <a:off x="929488" y="1097280"/>
            <a:ext cx="10332720" cy="4305300"/>
          </a:xfrm>
          <a:prstGeom prst="rect">
            <a:avLst/>
          </a:prstGeom>
        </p:spPr>
      </p:pic>
      <p:sp>
        <p:nvSpPr>
          <p:cNvPr id="4" name="takeaway 1 circle"/>
          <p:cNvSpPr/>
          <p:nvPr/>
        </p:nvSpPr>
        <p:spPr>
          <a:xfrm>
            <a:off x="548640" y="5623560"/>
            <a:ext cx="548640" cy="548640"/>
          </a:xfrm>
          <a:prstGeom prst="ellipse">
            <a:avLst/>
          </a:prstGeom>
          <a:solidFill>
            <a:srgbClr val="16A34A"/>
          </a:solidFill>
          <a:ln w="12700">
            <a:solidFill>
              <a:srgbClr val="16A34A"/>
            </a:solidFill>
            <a:prstDash val="solid"/>
          </a:ln>
        </p:spPr>
      </p:sp>
      <p:pic>
        <p:nvPicPr>
          <p:cNvPr id="5" name="takeaway 1 icon" descr="preencoded.png">    </p:cNvPr>
          <p:cNvPicPr>
            <a:picLocks noChangeAspect="1"/>
          </p:cNvPicPr>
          <p:nvPr/>
        </p:nvPicPr>
        <p:blipFill>
          <a:blip r:embed="rId2"/>
          <a:stretch>
            <a:fillRect/>
          </a:stretch>
        </p:blipFill>
        <p:spPr>
          <a:xfrm>
            <a:off x="685800" y="5760720"/>
            <a:ext cx="274320" cy="274320"/>
          </a:xfrm>
          <a:prstGeom prst="rect">
            <a:avLst/>
          </a:prstGeom>
        </p:spPr>
      </p:pic>
      <p:sp>
        <p:nvSpPr>
          <p:cNvPr id="6" name="Text 2"/>
          <p:cNvSpPr txBox="1"/>
          <p:nvPr/>
        </p:nvSpPr>
        <p:spPr>
          <a:xfrm>
            <a:off x="1234440" y="5577840"/>
            <a:ext cx="2971800" cy="640080"/>
          </a:xfrm>
          <a:prstGeom prst="rect">
            <a:avLst/>
          </a:prstGeom>
          <a:noFill/>
          <a:ln/>
        </p:spPr>
        <p:txBody>
          <a:bodyPr wrap="square" lIns="0" tIns="0" rIns="0" bIns="0" rtlCol="0" anchor="ctr"/>
          <a:lstStyle/>
          <a:p>
            <a:pPr indent="0" marL="0">
              <a:buNone/>
            </a:pPr>
            <a:r>
              <a:rPr lang="en-US" sz="1400" b="1" dirty="0">
                <a:solidFill>
                  <a:schemeClr val="tx1"/>
                </a:solidFill>
              </a:rPr>
              <a:t>Every file gets a digital fingerprint (hash)</a:t>
            </a:r>
            <a:endParaRPr lang="en-US" sz="1400" dirty="0"/>
          </a:p>
        </p:txBody>
      </p:sp>
      <p:sp>
        <p:nvSpPr>
          <p:cNvPr id="7" name="takeaway 2 circle"/>
          <p:cNvSpPr/>
          <p:nvPr/>
        </p:nvSpPr>
        <p:spPr>
          <a:xfrm>
            <a:off x="4297680" y="5623560"/>
            <a:ext cx="548640" cy="548640"/>
          </a:xfrm>
          <a:prstGeom prst="ellipse">
            <a:avLst/>
          </a:prstGeom>
          <a:solidFill>
            <a:srgbClr val="2563EB"/>
          </a:solidFill>
          <a:ln w="12700">
            <a:solidFill>
              <a:srgbClr val="2563EB"/>
            </a:solidFill>
            <a:prstDash val="solid"/>
          </a:ln>
        </p:spPr>
      </p:sp>
      <p:pic>
        <p:nvPicPr>
          <p:cNvPr id="8" name="takeaway 2 icon" descr="preencoded.png">    </p:cNvPr>
          <p:cNvPicPr>
            <a:picLocks noChangeAspect="1"/>
          </p:cNvPicPr>
          <p:nvPr/>
        </p:nvPicPr>
        <p:blipFill>
          <a:blip r:embed="rId3"/>
          <a:stretch>
            <a:fillRect/>
          </a:stretch>
        </p:blipFill>
        <p:spPr>
          <a:xfrm>
            <a:off x="4434840" y="5760720"/>
            <a:ext cx="274320" cy="274320"/>
          </a:xfrm>
          <a:prstGeom prst="rect">
            <a:avLst/>
          </a:prstGeom>
        </p:spPr>
      </p:pic>
      <p:sp>
        <p:nvSpPr>
          <p:cNvPr id="9" name="Text 4"/>
          <p:cNvSpPr txBox="1"/>
          <p:nvPr/>
        </p:nvSpPr>
        <p:spPr>
          <a:xfrm>
            <a:off x="4983480" y="5577840"/>
            <a:ext cx="2971800" cy="640080"/>
          </a:xfrm>
          <a:prstGeom prst="rect">
            <a:avLst/>
          </a:prstGeom>
          <a:noFill/>
          <a:ln/>
        </p:spPr>
        <p:txBody>
          <a:bodyPr wrap="square" lIns="0" tIns="0" rIns="0" bIns="0" rtlCol="0" anchor="ctr"/>
          <a:lstStyle/>
          <a:p>
            <a:pPr indent="0" marL="0">
              <a:buNone/>
            </a:pPr>
            <a:r>
              <a:rPr lang="en-US" sz="1400" b="1" dirty="0">
                <a:solidFill>
                  <a:schemeClr val="tx1"/>
                </a:solidFill>
              </a:rPr>
              <a:t>It is re-checked at 9 points along the way</a:t>
            </a:r>
            <a:endParaRPr lang="en-US" sz="1400" dirty="0"/>
          </a:p>
        </p:txBody>
      </p:sp>
      <p:sp>
        <p:nvSpPr>
          <p:cNvPr id="10" name="takeaway 3 circle"/>
          <p:cNvSpPr/>
          <p:nvPr/>
        </p:nvSpPr>
        <p:spPr>
          <a:xfrm>
            <a:off x="8046720" y="5623560"/>
            <a:ext cx="548640" cy="548640"/>
          </a:xfrm>
          <a:prstGeom prst="ellipse">
            <a:avLst/>
          </a:prstGeom>
          <a:solidFill>
            <a:srgbClr val="DC2626"/>
          </a:solidFill>
          <a:ln w="12700">
            <a:solidFill>
              <a:srgbClr val="DC2626"/>
            </a:solidFill>
            <a:prstDash val="solid"/>
          </a:ln>
        </p:spPr>
      </p:sp>
      <p:pic>
        <p:nvPicPr>
          <p:cNvPr id="11" name="takeaway 3 icon" descr="preencoded.png">    </p:cNvPr>
          <p:cNvPicPr>
            <a:picLocks noChangeAspect="1"/>
          </p:cNvPicPr>
          <p:nvPr/>
        </p:nvPicPr>
        <p:blipFill>
          <a:blip r:embed="rId4"/>
          <a:stretch>
            <a:fillRect/>
          </a:stretch>
        </p:blipFill>
        <p:spPr>
          <a:xfrm>
            <a:off x="8183880" y="5760720"/>
            <a:ext cx="274320" cy="274320"/>
          </a:xfrm>
          <a:prstGeom prst="rect">
            <a:avLst/>
          </a:prstGeom>
        </p:spPr>
      </p:pic>
      <p:sp>
        <p:nvSpPr>
          <p:cNvPr id="12" name="Text 6"/>
          <p:cNvSpPr txBox="1"/>
          <p:nvPr/>
        </p:nvSpPr>
        <p:spPr>
          <a:xfrm>
            <a:off x="8732520" y="5577840"/>
            <a:ext cx="2971800" cy="640080"/>
          </a:xfrm>
          <a:prstGeom prst="rect">
            <a:avLst/>
          </a:prstGeom>
          <a:noFill/>
          <a:ln/>
        </p:spPr>
        <p:txBody>
          <a:bodyPr wrap="square" lIns="0" tIns="0" rIns="0" bIns="0" rtlCol="0" anchor="ctr"/>
          <a:lstStyle/>
          <a:p>
            <a:pPr indent="0" marL="0">
              <a:buNone/>
            </a:pPr>
            <a:r>
              <a:rPr lang="en-US" sz="1400" b="1" dirty="0">
                <a:solidFill>
                  <a:schemeClr val="tx1"/>
                </a:solidFill>
              </a:rPr>
              <a:t>If it ever changes, the tool stops and logs it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Tools used — in simple terms</a:t>
            </a:r>
            <a:endParaRPr lang="en-US" sz="2800" dirty="0"/>
          </a:p>
        </p:txBody>
      </p:sp>
      <p:sp>
        <p:nvSpPr>
          <p:cNvPr id="3" name="tool card Python"/>
          <p:cNvSpPr/>
          <p:nvPr/>
        </p:nvSpPr>
        <p:spPr>
          <a:xfrm>
            <a:off x="548640" y="1325880"/>
            <a:ext cx="2606040" cy="2286000"/>
          </a:xfrm>
          <a:prstGeom prst="roundRect">
            <a:avLst>
              <a:gd name="adj" fmla="val 4800"/>
            </a:avLst>
          </a:prstGeom>
          <a:solidFill>
            <a:schemeClr val="bg2"/>
          </a:solidFill>
          <a:ln w="12700">
            <a:solidFill>
              <a:schemeClr val="bg2"/>
            </a:solidFill>
            <a:prstDash val="solid"/>
          </a:ln>
        </p:spPr>
      </p:sp>
      <p:pic>
        <p:nvPicPr>
          <p:cNvPr id="4" name="Python logo" descr="preencoded.png">    </p:cNvPr>
          <p:cNvPicPr>
            <a:picLocks noChangeAspect="1"/>
          </p:cNvPicPr>
          <p:nvPr/>
        </p:nvPicPr>
        <p:blipFill>
          <a:blip r:embed="rId1"/>
          <a:stretch>
            <a:fillRect/>
          </a:stretch>
        </p:blipFill>
        <p:spPr>
          <a:xfrm>
            <a:off x="1463040" y="1600200"/>
            <a:ext cx="777240" cy="777240"/>
          </a:xfrm>
          <a:prstGeom prst="rect">
            <a:avLst/>
          </a:prstGeom>
        </p:spPr>
      </p:pic>
      <p:sp>
        <p:nvSpPr>
          <p:cNvPr id="5" name="Text 2"/>
          <p:cNvSpPr txBox="1"/>
          <p:nvPr/>
        </p:nvSpPr>
        <p:spPr>
          <a:xfrm>
            <a:off x="640080" y="251460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Python</a:t>
            </a:r>
            <a:endParaRPr lang="en-US" sz="1900" dirty="0"/>
          </a:p>
        </p:txBody>
      </p:sp>
      <p:sp>
        <p:nvSpPr>
          <p:cNvPr id="6" name="Text 3"/>
          <p:cNvSpPr txBox="1"/>
          <p:nvPr/>
        </p:nvSpPr>
        <p:spPr>
          <a:xfrm>
            <a:off x="731520" y="2953512"/>
            <a:ext cx="2240280" cy="566928"/>
          </a:xfrm>
          <a:prstGeom prst="rect">
            <a:avLst/>
          </a:prstGeom>
          <a:noFill/>
          <a:ln/>
        </p:spPr>
        <p:txBody>
          <a:bodyPr wrap="square" lIns="0" tIns="0" rIns="0" bIns="0" rtlCol="0" anchor="t"/>
          <a:lstStyle/>
          <a:p>
            <a:pPr algn="ctr" indent="0" marL="0">
              <a:buNone/>
            </a:pPr>
            <a:r>
              <a:rPr lang="en-US" sz="1350" dirty="0">
                <a:solidFill>
                  <a:schemeClr val="tx2"/>
                </a:solidFill>
              </a:rPr>
              <a:t>The programming language the tool is written in</a:t>
            </a:r>
            <a:endParaRPr lang="en-US" sz="1350" dirty="0"/>
          </a:p>
        </p:txBody>
      </p:sp>
      <p:sp>
        <p:nvSpPr>
          <p:cNvPr id="7" name="tool card Streamlit"/>
          <p:cNvSpPr/>
          <p:nvPr/>
        </p:nvSpPr>
        <p:spPr>
          <a:xfrm>
            <a:off x="3364992" y="1325880"/>
            <a:ext cx="2606040" cy="2286000"/>
          </a:xfrm>
          <a:prstGeom prst="roundRect">
            <a:avLst>
              <a:gd name="adj" fmla="val 4800"/>
            </a:avLst>
          </a:prstGeom>
          <a:solidFill>
            <a:schemeClr val="bg2"/>
          </a:solidFill>
          <a:ln w="12700">
            <a:solidFill>
              <a:schemeClr val="bg2"/>
            </a:solidFill>
            <a:prstDash val="solid"/>
          </a:ln>
        </p:spPr>
      </p:sp>
      <p:pic>
        <p:nvPicPr>
          <p:cNvPr id="8" name="Streamlit logo" descr="preencoded.png">    </p:cNvPr>
          <p:cNvPicPr>
            <a:picLocks noChangeAspect="1"/>
          </p:cNvPicPr>
          <p:nvPr/>
        </p:nvPicPr>
        <p:blipFill>
          <a:blip r:embed="rId2"/>
          <a:stretch>
            <a:fillRect/>
          </a:stretch>
        </p:blipFill>
        <p:spPr>
          <a:xfrm>
            <a:off x="4279392" y="1600200"/>
            <a:ext cx="777240" cy="777240"/>
          </a:xfrm>
          <a:prstGeom prst="rect">
            <a:avLst/>
          </a:prstGeom>
        </p:spPr>
      </p:pic>
      <p:sp>
        <p:nvSpPr>
          <p:cNvPr id="9" name="Text 5"/>
          <p:cNvSpPr txBox="1"/>
          <p:nvPr/>
        </p:nvSpPr>
        <p:spPr>
          <a:xfrm>
            <a:off x="3456432" y="251460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Streamlit</a:t>
            </a:r>
            <a:endParaRPr lang="en-US" sz="1900" dirty="0"/>
          </a:p>
        </p:txBody>
      </p:sp>
      <p:sp>
        <p:nvSpPr>
          <p:cNvPr id="10" name="Text 6"/>
          <p:cNvSpPr txBox="1"/>
          <p:nvPr/>
        </p:nvSpPr>
        <p:spPr>
          <a:xfrm>
            <a:off x="3547872" y="2953512"/>
            <a:ext cx="2240280" cy="566928"/>
          </a:xfrm>
          <a:prstGeom prst="rect">
            <a:avLst/>
          </a:prstGeom>
          <a:noFill/>
          <a:ln/>
        </p:spPr>
        <p:txBody>
          <a:bodyPr wrap="square" lIns="0" tIns="0" rIns="0" bIns="0" rtlCol="0" anchor="t"/>
          <a:lstStyle/>
          <a:p>
            <a:pPr algn="ctr" indent="0" marL="0">
              <a:buNone/>
            </a:pPr>
            <a:r>
              <a:rPr lang="en-US" sz="1350" dirty="0">
                <a:solidFill>
                  <a:schemeClr val="tx2"/>
                </a:solidFill>
              </a:rPr>
              <a:t>Makes the web page the investigator uses</a:t>
            </a:r>
            <a:endParaRPr lang="en-US" sz="1350" dirty="0"/>
          </a:p>
        </p:txBody>
      </p:sp>
      <p:sp>
        <p:nvSpPr>
          <p:cNvPr id="11" name="tool card Volatility 3"/>
          <p:cNvSpPr/>
          <p:nvPr/>
        </p:nvSpPr>
        <p:spPr>
          <a:xfrm>
            <a:off x="6181344" y="1325880"/>
            <a:ext cx="2606040" cy="2286000"/>
          </a:xfrm>
          <a:prstGeom prst="roundRect">
            <a:avLst>
              <a:gd name="adj" fmla="val 4800"/>
            </a:avLst>
          </a:prstGeom>
          <a:solidFill>
            <a:schemeClr val="bg2"/>
          </a:solidFill>
          <a:ln w="12700">
            <a:solidFill>
              <a:schemeClr val="bg2"/>
            </a:solidFill>
            <a:prstDash val="solid"/>
          </a:ln>
        </p:spPr>
      </p:sp>
      <p:pic>
        <p:nvPicPr>
          <p:cNvPr id="12" name="Volatility 3 logo" descr="preencoded.png">    </p:cNvPr>
          <p:cNvPicPr>
            <a:picLocks noChangeAspect="1"/>
          </p:cNvPicPr>
          <p:nvPr/>
        </p:nvPicPr>
        <p:blipFill>
          <a:blip r:embed="rId3"/>
          <a:stretch>
            <a:fillRect/>
          </a:stretch>
        </p:blipFill>
        <p:spPr>
          <a:xfrm>
            <a:off x="7095744" y="1600200"/>
            <a:ext cx="777240" cy="777240"/>
          </a:xfrm>
          <a:prstGeom prst="rect">
            <a:avLst/>
          </a:prstGeom>
        </p:spPr>
      </p:pic>
      <p:sp>
        <p:nvSpPr>
          <p:cNvPr id="13" name="Text 8"/>
          <p:cNvSpPr txBox="1"/>
          <p:nvPr/>
        </p:nvSpPr>
        <p:spPr>
          <a:xfrm>
            <a:off x="6272784" y="251460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Volatility 3</a:t>
            </a:r>
            <a:endParaRPr lang="en-US" sz="1900" dirty="0"/>
          </a:p>
        </p:txBody>
      </p:sp>
      <p:sp>
        <p:nvSpPr>
          <p:cNvPr id="14" name="Text 9"/>
          <p:cNvSpPr txBox="1"/>
          <p:nvPr/>
        </p:nvSpPr>
        <p:spPr>
          <a:xfrm>
            <a:off x="6364224" y="2953512"/>
            <a:ext cx="2240280" cy="566928"/>
          </a:xfrm>
          <a:prstGeom prst="rect">
            <a:avLst/>
          </a:prstGeom>
          <a:noFill/>
          <a:ln/>
        </p:spPr>
        <p:txBody>
          <a:bodyPr wrap="square" lIns="0" tIns="0" rIns="0" bIns="0" rtlCol="0" anchor="t"/>
          <a:lstStyle/>
          <a:p>
            <a:pPr algn="ctr" indent="0" marL="0">
              <a:buNone/>
            </a:pPr>
            <a:r>
              <a:rPr lang="en-US" sz="1350" dirty="0">
                <a:solidFill>
                  <a:schemeClr val="tx2"/>
                </a:solidFill>
              </a:rPr>
              <a:t>Reads the memory file and counts the clues</a:t>
            </a:r>
            <a:endParaRPr lang="en-US" sz="1350" dirty="0"/>
          </a:p>
        </p:txBody>
      </p:sp>
      <p:sp>
        <p:nvSpPr>
          <p:cNvPr id="15" name="tool card scikit-learn"/>
          <p:cNvSpPr/>
          <p:nvPr/>
        </p:nvSpPr>
        <p:spPr>
          <a:xfrm>
            <a:off x="8997696" y="1325880"/>
            <a:ext cx="2606040" cy="2286000"/>
          </a:xfrm>
          <a:prstGeom prst="roundRect">
            <a:avLst>
              <a:gd name="adj" fmla="val 4800"/>
            </a:avLst>
          </a:prstGeom>
          <a:solidFill>
            <a:schemeClr val="bg2"/>
          </a:solidFill>
          <a:ln w="12700">
            <a:solidFill>
              <a:schemeClr val="bg2"/>
            </a:solidFill>
            <a:prstDash val="solid"/>
          </a:ln>
        </p:spPr>
      </p:sp>
      <p:pic>
        <p:nvPicPr>
          <p:cNvPr id="16" name="scikit-learn logo" descr="preencoded.png">    </p:cNvPr>
          <p:cNvPicPr>
            <a:picLocks noChangeAspect="1"/>
          </p:cNvPicPr>
          <p:nvPr/>
        </p:nvPicPr>
        <p:blipFill>
          <a:blip r:embed="rId4"/>
          <a:stretch>
            <a:fillRect/>
          </a:stretch>
        </p:blipFill>
        <p:spPr>
          <a:xfrm>
            <a:off x="9912096" y="1600200"/>
            <a:ext cx="777240" cy="777240"/>
          </a:xfrm>
          <a:prstGeom prst="rect">
            <a:avLst/>
          </a:prstGeom>
        </p:spPr>
      </p:pic>
      <p:sp>
        <p:nvSpPr>
          <p:cNvPr id="17" name="Text 11"/>
          <p:cNvSpPr txBox="1"/>
          <p:nvPr/>
        </p:nvSpPr>
        <p:spPr>
          <a:xfrm>
            <a:off x="9089136" y="251460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scikit-learn</a:t>
            </a:r>
            <a:endParaRPr lang="en-US" sz="1900" dirty="0"/>
          </a:p>
        </p:txBody>
      </p:sp>
      <p:sp>
        <p:nvSpPr>
          <p:cNvPr id="18" name="Text 12"/>
          <p:cNvSpPr txBox="1"/>
          <p:nvPr/>
        </p:nvSpPr>
        <p:spPr>
          <a:xfrm>
            <a:off x="9180576" y="2953512"/>
            <a:ext cx="2240280" cy="566928"/>
          </a:xfrm>
          <a:prstGeom prst="rect">
            <a:avLst/>
          </a:prstGeom>
          <a:noFill/>
          <a:ln/>
        </p:spPr>
        <p:txBody>
          <a:bodyPr wrap="square" lIns="0" tIns="0" rIns="0" bIns="0" rtlCol="0" anchor="t"/>
          <a:lstStyle/>
          <a:p>
            <a:pPr algn="ctr" indent="0" marL="0">
              <a:buNone/>
            </a:pPr>
            <a:r>
              <a:rPr lang="en-US" sz="1350" dirty="0">
                <a:solidFill>
                  <a:schemeClr val="tx2"/>
                </a:solidFill>
              </a:rPr>
              <a:t>Builds the AI that decides clean or infected</a:t>
            </a:r>
            <a:endParaRPr lang="en-US" sz="1350" dirty="0"/>
          </a:p>
        </p:txBody>
      </p:sp>
      <p:sp>
        <p:nvSpPr>
          <p:cNvPr id="19" name="tool card SHAP · LIME"/>
          <p:cNvSpPr/>
          <p:nvPr/>
        </p:nvSpPr>
        <p:spPr>
          <a:xfrm>
            <a:off x="548640" y="3840480"/>
            <a:ext cx="2606040" cy="2286000"/>
          </a:xfrm>
          <a:prstGeom prst="roundRect">
            <a:avLst>
              <a:gd name="adj" fmla="val 4800"/>
            </a:avLst>
          </a:prstGeom>
          <a:solidFill>
            <a:schemeClr val="bg2"/>
          </a:solidFill>
          <a:ln w="12700">
            <a:solidFill>
              <a:schemeClr val="bg2"/>
            </a:solidFill>
            <a:prstDash val="solid"/>
          </a:ln>
        </p:spPr>
      </p:sp>
      <p:pic>
        <p:nvPicPr>
          <p:cNvPr id="20" name="SHAP · LIME logo" descr="preencoded.png">    </p:cNvPr>
          <p:cNvPicPr>
            <a:picLocks noChangeAspect="1"/>
          </p:cNvPicPr>
          <p:nvPr/>
        </p:nvPicPr>
        <p:blipFill>
          <a:blip r:embed="rId5"/>
          <a:stretch>
            <a:fillRect/>
          </a:stretch>
        </p:blipFill>
        <p:spPr>
          <a:xfrm>
            <a:off x="1463040" y="4114800"/>
            <a:ext cx="777240" cy="777240"/>
          </a:xfrm>
          <a:prstGeom prst="rect">
            <a:avLst/>
          </a:prstGeom>
        </p:spPr>
      </p:pic>
      <p:sp>
        <p:nvSpPr>
          <p:cNvPr id="21" name="Text 14"/>
          <p:cNvSpPr txBox="1"/>
          <p:nvPr/>
        </p:nvSpPr>
        <p:spPr>
          <a:xfrm>
            <a:off x="640080" y="502920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SHAP · LIME</a:t>
            </a:r>
            <a:endParaRPr lang="en-US" sz="1900" dirty="0"/>
          </a:p>
        </p:txBody>
      </p:sp>
      <p:sp>
        <p:nvSpPr>
          <p:cNvPr id="22" name="Text 15"/>
          <p:cNvSpPr txBox="1"/>
          <p:nvPr/>
        </p:nvSpPr>
        <p:spPr>
          <a:xfrm>
            <a:off x="731520" y="5468112"/>
            <a:ext cx="2240280" cy="566928"/>
          </a:xfrm>
          <a:prstGeom prst="rect">
            <a:avLst/>
          </a:prstGeom>
          <a:noFill/>
          <a:ln/>
        </p:spPr>
        <p:txBody>
          <a:bodyPr wrap="square" lIns="0" tIns="0" rIns="0" bIns="0" rtlCol="0" anchor="t"/>
          <a:lstStyle/>
          <a:p>
            <a:pPr algn="ctr" indent="0" marL="0">
              <a:buNone/>
            </a:pPr>
            <a:r>
              <a:rPr lang="en-US" sz="1350" dirty="0">
                <a:solidFill>
                  <a:schemeClr val="tx2"/>
                </a:solidFill>
              </a:rPr>
              <a:t>Explain why the AI made its decision</a:t>
            </a:r>
            <a:endParaRPr lang="en-US" sz="1350" dirty="0"/>
          </a:p>
        </p:txBody>
      </p:sp>
      <p:sp>
        <p:nvSpPr>
          <p:cNvPr id="23" name="tool card pandas · NumPy"/>
          <p:cNvSpPr/>
          <p:nvPr/>
        </p:nvSpPr>
        <p:spPr>
          <a:xfrm>
            <a:off x="3364992" y="3840480"/>
            <a:ext cx="2606040" cy="2286000"/>
          </a:xfrm>
          <a:prstGeom prst="roundRect">
            <a:avLst>
              <a:gd name="adj" fmla="val 4800"/>
            </a:avLst>
          </a:prstGeom>
          <a:solidFill>
            <a:schemeClr val="bg2"/>
          </a:solidFill>
          <a:ln w="12700">
            <a:solidFill>
              <a:schemeClr val="bg2"/>
            </a:solidFill>
            <a:prstDash val="solid"/>
          </a:ln>
        </p:spPr>
      </p:sp>
      <p:pic>
        <p:nvPicPr>
          <p:cNvPr id="24" name="pandas · NumPy logo" descr="preencoded.png">    </p:cNvPr>
          <p:cNvPicPr>
            <a:picLocks noChangeAspect="1"/>
          </p:cNvPicPr>
          <p:nvPr/>
        </p:nvPicPr>
        <p:blipFill>
          <a:blip r:embed="rId6"/>
          <a:stretch>
            <a:fillRect/>
          </a:stretch>
        </p:blipFill>
        <p:spPr>
          <a:xfrm>
            <a:off x="4279392" y="4114800"/>
            <a:ext cx="777240" cy="777240"/>
          </a:xfrm>
          <a:prstGeom prst="rect">
            <a:avLst/>
          </a:prstGeom>
        </p:spPr>
      </p:pic>
      <p:sp>
        <p:nvSpPr>
          <p:cNvPr id="25" name="Text 17"/>
          <p:cNvSpPr txBox="1"/>
          <p:nvPr/>
        </p:nvSpPr>
        <p:spPr>
          <a:xfrm>
            <a:off x="3456432" y="502920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pandas · NumPy</a:t>
            </a:r>
            <a:endParaRPr lang="en-US" sz="1900" dirty="0"/>
          </a:p>
        </p:txBody>
      </p:sp>
      <p:sp>
        <p:nvSpPr>
          <p:cNvPr id="26" name="Text 18"/>
          <p:cNvSpPr txBox="1"/>
          <p:nvPr/>
        </p:nvSpPr>
        <p:spPr>
          <a:xfrm>
            <a:off x="3547872" y="5468112"/>
            <a:ext cx="2240280" cy="566928"/>
          </a:xfrm>
          <a:prstGeom prst="rect">
            <a:avLst/>
          </a:prstGeom>
          <a:noFill/>
          <a:ln/>
        </p:spPr>
        <p:txBody>
          <a:bodyPr wrap="square" lIns="0" tIns="0" rIns="0" bIns="0" rtlCol="0" anchor="t"/>
          <a:lstStyle/>
          <a:p>
            <a:pPr algn="ctr" indent="0" marL="0">
              <a:buNone/>
            </a:pPr>
            <a:r>
              <a:rPr lang="en-US" sz="1350" dirty="0">
                <a:solidFill>
                  <a:schemeClr val="tx2"/>
                </a:solidFill>
              </a:rPr>
              <a:t>Handle the tables of numbers</a:t>
            </a:r>
            <a:endParaRPr lang="en-US" sz="1350" dirty="0"/>
          </a:p>
        </p:txBody>
      </p:sp>
      <p:sp>
        <p:nvSpPr>
          <p:cNvPr id="27" name="tool card ReportLab"/>
          <p:cNvSpPr/>
          <p:nvPr/>
        </p:nvSpPr>
        <p:spPr>
          <a:xfrm>
            <a:off x="6181344" y="3840480"/>
            <a:ext cx="2606040" cy="2286000"/>
          </a:xfrm>
          <a:prstGeom prst="roundRect">
            <a:avLst>
              <a:gd name="adj" fmla="val 4800"/>
            </a:avLst>
          </a:prstGeom>
          <a:solidFill>
            <a:schemeClr val="bg2"/>
          </a:solidFill>
          <a:ln w="12700">
            <a:solidFill>
              <a:schemeClr val="bg2"/>
            </a:solidFill>
            <a:prstDash val="solid"/>
          </a:ln>
        </p:spPr>
      </p:sp>
      <p:pic>
        <p:nvPicPr>
          <p:cNvPr id="28" name="ReportLab logo" descr="preencoded.png">    </p:cNvPr>
          <p:cNvPicPr>
            <a:picLocks noChangeAspect="1"/>
          </p:cNvPicPr>
          <p:nvPr/>
        </p:nvPicPr>
        <p:blipFill>
          <a:blip r:embed="rId7"/>
          <a:stretch>
            <a:fillRect/>
          </a:stretch>
        </p:blipFill>
        <p:spPr>
          <a:xfrm>
            <a:off x="7095744" y="4114800"/>
            <a:ext cx="777240" cy="777240"/>
          </a:xfrm>
          <a:prstGeom prst="rect">
            <a:avLst/>
          </a:prstGeom>
        </p:spPr>
      </p:pic>
      <p:sp>
        <p:nvSpPr>
          <p:cNvPr id="29" name="Text 20"/>
          <p:cNvSpPr txBox="1"/>
          <p:nvPr/>
        </p:nvSpPr>
        <p:spPr>
          <a:xfrm>
            <a:off x="6272784" y="502920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ReportLab</a:t>
            </a:r>
            <a:endParaRPr lang="en-US" sz="1900" dirty="0"/>
          </a:p>
        </p:txBody>
      </p:sp>
      <p:sp>
        <p:nvSpPr>
          <p:cNvPr id="30" name="Text 21"/>
          <p:cNvSpPr txBox="1"/>
          <p:nvPr/>
        </p:nvSpPr>
        <p:spPr>
          <a:xfrm>
            <a:off x="6364224" y="5468112"/>
            <a:ext cx="2240280" cy="566928"/>
          </a:xfrm>
          <a:prstGeom prst="rect">
            <a:avLst/>
          </a:prstGeom>
          <a:noFill/>
          <a:ln/>
        </p:spPr>
        <p:txBody>
          <a:bodyPr wrap="square" lIns="0" tIns="0" rIns="0" bIns="0" rtlCol="0" anchor="t"/>
          <a:lstStyle/>
          <a:p>
            <a:pPr algn="ctr" indent="0" marL="0">
              <a:buNone/>
            </a:pPr>
            <a:r>
              <a:rPr lang="en-US" sz="1350" dirty="0">
                <a:solidFill>
                  <a:schemeClr val="tx2"/>
                </a:solidFill>
              </a:rPr>
              <a:t>Creates the PDF report</a:t>
            </a:r>
            <a:endParaRPr lang="en-US" sz="1350" dirty="0"/>
          </a:p>
        </p:txBody>
      </p:sp>
      <p:sp>
        <p:nvSpPr>
          <p:cNvPr id="31" name="tool card hashlib"/>
          <p:cNvSpPr/>
          <p:nvPr/>
        </p:nvSpPr>
        <p:spPr>
          <a:xfrm>
            <a:off x="8997696" y="3840480"/>
            <a:ext cx="2606040" cy="2286000"/>
          </a:xfrm>
          <a:prstGeom prst="roundRect">
            <a:avLst>
              <a:gd name="adj" fmla="val 4800"/>
            </a:avLst>
          </a:prstGeom>
          <a:solidFill>
            <a:schemeClr val="bg2"/>
          </a:solidFill>
          <a:ln w="12700">
            <a:solidFill>
              <a:schemeClr val="bg2"/>
            </a:solidFill>
            <a:prstDash val="solid"/>
          </a:ln>
        </p:spPr>
      </p:sp>
      <p:pic>
        <p:nvPicPr>
          <p:cNvPr id="32" name="hashlib logo" descr="preencoded.png">    </p:cNvPr>
          <p:cNvPicPr>
            <a:picLocks noChangeAspect="1"/>
          </p:cNvPicPr>
          <p:nvPr/>
        </p:nvPicPr>
        <p:blipFill>
          <a:blip r:embed="rId8"/>
          <a:stretch>
            <a:fillRect/>
          </a:stretch>
        </p:blipFill>
        <p:spPr>
          <a:xfrm>
            <a:off x="9912096" y="4114800"/>
            <a:ext cx="777240" cy="777240"/>
          </a:xfrm>
          <a:prstGeom prst="rect">
            <a:avLst/>
          </a:prstGeom>
        </p:spPr>
      </p:pic>
      <p:sp>
        <p:nvSpPr>
          <p:cNvPr id="33" name="Text 23"/>
          <p:cNvSpPr txBox="1"/>
          <p:nvPr/>
        </p:nvSpPr>
        <p:spPr>
          <a:xfrm>
            <a:off x="9089136" y="5029200"/>
            <a:ext cx="2423160" cy="411480"/>
          </a:xfrm>
          <a:prstGeom prst="rect">
            <a:avLst/>
          </a:prstGeom>
          <a:noFill/>
          <a:ln/>
        </p:spPr>
        <p:txBody>
          <a:bodyPr wrap="square" lIns="0" tIns="0" rIns="0" bIns="0" rtlCol="0" anchor="t"/>
          <a:lstStyle/>
          <a:p>
            <a:pPr algn="ctr" indent="0" marL="0">
              <a:buNone/>
            </a:pPr>
            <a:r>
              <a:rPr lang="en-US" sz="1900" b="1" dirty="0">
                <a:solidFill>
                  <a:schemeClr val="tx1"/>
                </a:solidFill>
              </a:rPr>
              <a:t>hashlib</a:t>
            </a:r>
            <a:endParaRPr lang="en-US" sz="1900" dirty="0"/>
          </a:p>
        </p:txBody>
      </p:sp>
      <p:sp>
        <p:nvSpPr>
          <p:cNvPr id="34" name="Text 24"/>
          <p:cNvSpPr txBox="1"/>
          <p:nvPr/>
        </p:nvSpPr>
        <p:spPr>
          <a:xfrm>
            <a:off x="9180576" y="5468112"/>
            <a:ext cx="2240280" cy="566928"/>
          </a:xfrm>
          <a:prstGeom prst="rect">
            <a:avLst/>
          </a:prstGeom>
          <a:noFill/>
          <a:ln/>
        </p:spPr>
        <p:txBody>
          <a:bodyPr wrap="square" lIns="0" tIns="0" rIns="0" bIns="0" rtlCol="0" anchor="t"/>
          <a:lstStyle/>
          <a:p>
            <a:pPr algn="ctr" indent="0" marL="0">
              <a:buNone/>
            </a:pPr>
            <a:r>
              <a:rPr lang="en-US" sz="1350" dirty="0">
                <a:solidFill>
                  <a:schemeClr val="tx2"/>
                </a:solidFill>
              </a:rPr>
              <a:t>Makes the digital fingerprints (SHA-256, MD5)</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orensic Triage">
  <a:themeElements>
    <a:clrScheme name="Forensic Triage">
      <a:dk1>
        <a:srgbClr val="0F172A"/>
      </a:dk1>
      <a:lt1>
        <a:srgbClr val="FFFFFF"/>
      </a:lt1>
      <a:dk2>
        <a:srgbClr val="0B1F33"/>
      </a:dk2>
      <a:lt2>
        <a:srgbClr val="EEF3F8"/>
      </a:lt2>
      <a:accent1>
        <a:srgbClr val="0891B2"/>
      </a:accent1>
      <a:accent2>
        <a:srgbClr val="DC2626"/>
      </a:accent2>
      <a:accent3>
        <a:srgbClr val="16A34A"/>
      </a:accent3>
      <a:accent4>
        <a:srgbClr val="D97706"/>
      </a:accent4>
      <a:accent5>
        <a:srgbClr val="6D5BD0"/>
      </a:accent5>
      <a:accent6>
        <a:srgbClr val="2563EB"/>
      </a:accent6>
      <a:hlink>
        <a:srgbClr val="2563EB"/>
      </a:hlink>
      <a:folHlink>
        <a:srgbClr val="6D5BD0"/>
      </a:folHlink>
    </a:clrScheme>
    <a:fontScheme name="Forensic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AI-Based Memory Forensic Triage System — Methodology</dc:title>
  <dc:subject>Final-year project viva — methodology</dc:subject>
  <dc:creator>Abdullah Azwar</dc:creator>
  <cp:lastModifiedBy>Abdullah Azwar</cp:lastModifiedBy>
  <cp:revision>1</cp:revision>
  <dcterms:created xsi:type="dcterms:W3CDTF">2026-10-05T13:09:51Z</dcterms:created>
  <dcterms:modified xsi:type="dcterms:W3CDTF">2026-10-05T13:09:51Z</dcterms:modified>
</cp:coreProperties>
</file>