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mTriage XAI" id="{4210e587-b68f-476b-178d-510517e28a4c}">
          <p14:sldIdLst>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MemTriage XAI, an explainable AI-based memory forensic triage system for detecting fileless malware. It detects malicious Windows memory snapshots, explains every verdict in plain English, and proves the evidence was never altered, from acquisition to the sealed PDF report. On the right is the verdict screen of the working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top-level architecture. On the left, evidence comes in as a memory dump, a Volatility CSV or a demo sample, together with where it came from and the hash from the acquisition tool. Every user signs in with a role, administrator or analyst, and works in the Streamlit dashboard with its Triage, Cases, Help, Audit log and Users pages. Evidence then flows through five steps: intake checks on the file, feature extraction with Volatility 3, a feature gate that blocks invalid input, detection with a Random Forest and an Isolation Forest using hash-pinned models, and explanation with SHAP and LIME. Underneath, the integrity layer re-hashes the evidence at every stage in an HMAC-linked custody ledger and blocks analysis on any mismatch, and every action goes to an HMAC-chained audit log. Models, case records, keys and logs are stored at the bottom. The outputs are the risk verdict, plain-English explanations, a sealed PDF report and an offline assistant that explains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answer any questions, and I can show a live demonstration of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50A0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lstStyle>
            <a:lvl1pPr algn="l" indent="0" marL="0">
              <a:buNone/>
              <a:defRPr lang="en-US" sz="3800" b="1" dirty="0">
                <a:solidFill>
                  <a:srgbClr val="FFFFFF"/>
                </a:solidFill>
              </a:defRPr>
            </a:lvl1pPr>
          </a:lstStyle>
          <a:p>
            <a:pPr algn="l" indent="0" marL="0">
              <a:buNone/>
            </a:pPr>
            <a:endParaRPr lang="en-US" sz="3800" dirty="0"/>
          </a:p>
        </p:txBody>
      </p:sp>
      <p:sp>
        <p:nvSpPr>
          <p:cNvPr id="3" name="Text 0"/>
          <p:cNvSpPr/>
          <p:nvPr>
            <p:ph idx="101" type="body" hasCustomPrompt="1"/>
          </p:nvPr>
        </p:nvSpPr>
        <p:spPr>
          <a:xfrm>
            <a:off x="548640" y="3840480"/>
            <a:ext cx="8778240" cy="914400"/>
          </a:xfrm>
          <a:prstGeom prst="rect">
            <a:avLst/>
          </a:prstGeom>
          <a:noFill/>
          <a:ln/>
        </p:spPr>
        <p:txBody>
          <a:bodyPr wrap="square" rtlCol="0"/>
          <a:lstStyle>
            <a:lvl1pPr indent="0" marL="0">
              <a:buNone/>
              <a:defRPr lang="en-US" sz="1800" dirty="0">
                <a:solidFill>
                  <a:srgbClr val="10B98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70D0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3"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A9C1B8"/>
                </a:solidFill>
              </a:rPr>
              <a:t>Explainable AI Memory Forensic Triage  ·  Abdullah Azwar  ·  COBSCEHNS24.2P-017</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1B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1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slideLayout" Target="../slideLayouts/slideLayout3.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ircle"/>
          <p:cNvSpPr/>
          <p:nvPr/>
        </p:nvSpPr>
        <p:spPr>
          <a:xfrm>
            <a:off x="548640" y="685800"/>
            <a:ext cx="594360" cy="594360"/>
          </a:xfrm>
          <a:prstGeom prst="ellipse">
            <a:avLst/>
          </a:prstGeom>
          <a:solidFill>
            <a:srgbClr val="10B981"/>
          </a:solidFill>
          <a:ln w="12700">
            <a:solidFill>
              <a:srgbClr val="10B981"/>
            </a:solidFill>
            <a:prstDash val="solid"/>
          </a:ln>
        </p:spPr>
      </p:sp>
      <p:pic>
        <p:nvPicPr>
          <p:cNvPr id="3" name="logo icon" descr="preencoded.png">    </p:cNvPr>
          <p:cNvPicPr>
            <a:picLocks noChangeAspect="1"/>
          </p:cNvPicPr>
          <p:nvPr/>
        </p:nvPicPr>
        <p:blipFill>
          <a:blip r:embed="rId1"/>
          <a:stretch>
            <a:fillRect/>
          </a:stretch>
        </p:blipFill>
        <p:spPr>
          <a:xfrm>
            <a:off x="697230" y="834390"/>
            <a:ext cx="297180" cy="297180"/>
          </a:xfrm>
          <a:prstGeom prst="rect">
            <a:avLst/>
          </a:prstGeom>
        </p:spPr>
      </p:pic>
      <p:sp>
        <p:nvSpPr>
          <p:cNvPr id="4" name="Text 1"/>
          <p:cNvSpPr txBox="1"/>
          <p:nvPr/>
        </p:nvSpPr>
        <p:spPr>
          <a:xfrm>
            <a:off x="1280160" y="685800"/>
            <a:ext cx="3657600" cy="365760"/>
          </a:xfrm>
          <a:prstGeom prst="rect">
            <a:avLst/>
          </a:prstGeom>
          <a:noFill/>
          <a:ln/>
        </p:spPr>
        <p:txBody>
          <a:bodyPr wrap="square" lIns="0" tIns="0" rIns="0" bIns="0" rtlCol="0" anchor="t"/>
          <a:lstStyle/>
          <a:p>
            <a:pPr indent="0" marL="0">
              <a:buNone/>
            </a:pPr>
            <a:r>
              <a:rPr lang="en-US" sz="1800" b="1" dirty="0">
                <a:solidFill>
                  <a:srgbClr val="FFFFFF"/>
                </a:solidFill>
              </a:rPr>
              <a:t>MemTriage </a:t>
            </a:r>
            <a:pPr indent="0" marL="0">
              <a:buNone/>
            </a:pPr>
            <a:r>
              <a:rPr lang="en-US" sz="1800" b="1" dirty="0">
                <a:solidFill>
                  <a:srgbClr val="6EE7B7"/>
                </a:solidFill>
              </a:rPr>
              <a:t>XAI</a:t>
            </a:r>
            <a:endParaRPr lang="en-US" sz="1800" dirty="0"/>
          </a:p>
        </p:txBody>
      </p:sp>
      <p:sp>
        <p:nvSpPr>
          <p:cNvPr id="5" name="Text 2"/>
          <p:cNvSpPr txBox="1"/>
          <p:nvPr/>
        </p:nvSpPr>
        <p:spPr>
          <a:xfrm>
            <a:off x="1280160" y="1005840"/>
            <a:ext cx="3657600" cy="274320"/>
          </a:xfrm>
          <a:prstGeom prst="rect">
            <a:avLst/>
          </a:prstGeom>
          <a:noFill/>
          <a:ln/>
        </p:spPr>
        <p:txBody>
          <a:bodyPr wrap="square" lIns="0" tIns="0" rIns="0" bIns="0" rtlCol="0" anchor="t"/>
          <a:lstStyle/>
          <a:p>
            <a:pPr indent="0" marL="0">
              <a:buNone/>
            </a:pPr>
            <a:r>
              <a:rPr lang="en-US" sz="1200" dirty="0">
                <a:solidFill>
                  <a:srgbClr val="A9C1B8"/>
                </a:solidFill>
              </a:rPr>
              <a:t>Memory forensics lab</a:t>
            </a:r>
            <a:endParaRPr lang="en-US" sz="1200" dirty="0"/>
          </a:p>
        </p:txBody>
      </p:sp>
      <p:sp>
        <p:nvSpPr>
          <p:cNvPr id="6" name="Text 3"/>
          <p:cNvSpPr txBox="1"/>
          <p:nvPr/>
        </p:nvSpPr>
        <p:spPr>
          <a:xfrm>
            <a:off x="548640" y="1645920"/>
            <a:ext cx="6035040" cy="2377440"/>
          </a:xfrm>
          <a:prstGeom prst="rect">
            <a:avLst/>
          </a:prstGeom>
          <a:noFill/>
          <a:ln/>
        </p:spPr>
        <p:txBody>
          <a:bodyPr wrap="square" lIns="0" tIns="0" rIns="0" bIns="0" rtlCol="0" anchor="b"/>
          <a:lstStyle/>
          <a:p>
            <a:pPr indent="0" marL="0">
              <a:buNone/>
            </a:pPr>
            <a:r>
              <a:rPr lang="en-US" sz="3200" b="1" dirty="0">
                <a:solidFill>
                  <a:srgbClr val="FFFFFF"/>
                </a:solidFill>
                <a:latin typeface="Arial" pitchFamily="34" charset="0"/>
                <a:ea typeface="Arial" pitchFamily="34" charset="-122"/>
                <a:cs typeface="Arial" pitchFamily="34" charset="-120"/>
              </a:rPr>
              <a:t>Explainable AI-Based Memory Forensic Triage System for Detecting Fileless Malware</a:t>
            </a:r>
            <a:endParaRPr lang="en-US" sz="3200" dirty="0"/>
          </a:p>
        </p:txBody>
      </p:sp>
      <p:sp>
        <p:nvSpPr>
          <p:cNvPr id="7" name="Text 4"/>
          <p:cNvSpPr txBox="1"/>
          <p:nvPr/>
        </p:nvSpPr>
        <p:spPr>
          <a:xfrm>
            <a:off x="548640" y="4206240"/>
            <a:ext cx="6035040" cy="457200"/>
          </a:xfrm>
          <a:prstGeom prst="rect">
            <a:avLst/>
          </a:prstGeom>
          <a:noFill/>
          <a:ln/>
        </p:spPr>
        <p:txBody>
          <a:bodyPr wrap="square" lIns="0" tIns="0" rIns="0" bIns="0" rtlCol="0" anchor="t"/>
          <a:lstStyle/>
          <a:p>
            <a:pPr indent="0" marL="0">
              <a:buNone/>
            </a:pPr>
            <a:r>
              <a:rPr lang="en-US" sz="1600" dirty="0">
                <a:solidFill>
                  <a:srgbClr val="6EE7B7"/>
                </a:solidFill>
              </a:rPr>
              <a:t>Detect  ·  Explain  ·  Prove the evidence was never altered</a:t>
            </a:r>
            <a:endParaRPr lang="en-US" sz="1600" dirty="0"/>
          </a:p>
        </p:txBody>
      </p:sp>
      <p:sp>
        <p:nvSpPr>
          <p:cNvPr id="8" name="Text 5"/>
          <p:cNvSpPr txBox="1"/>
          <p:nvPr/>
        </p:nvSpPr>
        <p:spPr>
          <a:xfrm>
            <a:off x="548640" y="5257800"/>
            <a:ext cx="5943600" cy="1005840"/>
          </a:xfrm>
          <a:prstGeom prst="rect">
            <a:avLst/>
          </a:prstGeom>
          <a:noFill/>
          <a:ln/>
        </p:spPr>
        <p:txBody>
          <a:bodyPr wrap="square" lIns="0" tIns="0" rIns="0" bIns="0" rtlCol="0" anchor="t"/>
          <a:lstStyle/>
          <a:p>
            <a:pPr indent="0" marL="0">
              <a:buNone/>
            </a:pPr>
            <a:r>
              <a:rPr lang="en-US" sz="1400" b="1" dirty="0">
                <a:solidFill>
                  <a:srgbClr val="FFFFFF"/>
                </a:solidFill>
              </a:rPr>
              <a:t>Abdullah Azwar  ·  COBSCEHNS24.2P-017</a:t>
            </a:r>
            <a:endParaRPr lang="en-US" sz="1400" dirty="0"/>
          </a:p>
          <a:p>
            <a:pPr indent="0" marL="0">
              <a:buNone/>
            </a:pPr>
            <a:r>
              <a:rPr lang="en-US" sz="1400" dirty="0">
                <a:solidFill>
                  <a:srgbClr val="FFFFFF"/>
                </a:solidFill>
              </a:rPr>
              <a:t>BSc (Hons) in Ethical Hacking &amp; Network Security</a:t>
            </a:r>
            <a:endParaRPr lang="en-US" sz="1400" dirty="0"/>
          </a:p>
          <a:p>
            <a:pPr indent="0" marL="0">
              <a:buNone/>
            </a:pPr>
            <a:r>
              <a:rPr lang="en-US" sz="1400" dirty="0">
                <a:solidFill>
                  <a:srgbClr val="FFFFFF"/>
                </a:solidFill>
              </a:rPr>
              <a:t>Supervisor: Mr. Chathura Suduwella</a:t>
            </a:r>
            <a:endParaRPr lang="en-US" sz="1400" dirty="0"/>
          </a:p>
        </p:txBody>
      </p:sp>
      <p:sp>
        <p:nvSpPr>
          <p:cNvPr id="9" name="screenshot frame"/>
          <p:cNvSpPr/>
          <p:nvPr/>
        </p:nvSpPr>
        <p:spPr>
          <a:xfrm>
            <a:off x="6903720" y="1417320"/>
            <a:ext cx="4754880" cy="3200400"/>
          </a:xfrm>
          <a:prstGeom prst="roundRect">
            <a:avLst>
              <a:gd name="adj" fmla="val 2286"/>
            </a:avLst>
          </a:prstGeom>
          <a:solidFill>
            <a:srgbClr val="14221D"/>
          </a:solidFill>
          <a:ln w="15875">
            <a:solidFill>
              <a:srgbClr val="28403A"/>
            </a:solidFill>
            <a:prstDash val="solid"/>
          </a:ln>
        </p:spPr>
      </p:sp>
      <p:pic>
        <p:nvPicPr>
          <p:cNvPr id="10" name="verdict screenshot" descr="/home/user/Memory-Forensic-Triage-AI/docs/images/screenshots/03_verdict.png">    </p:cNvPr>
          <p:cNvPicPr>
            <a:picLocks noChangeAspect="1"/>
          </p:cNvPicPr>
          <p:nvPr/>
        </p:nvPicPr>
        <p:blipFill>
          <a:blip r:embed="rId2"/>
          <a:stretch>
            <a:fillRect/>
          </a:stretch>
        </p:blipFill>
        <p:spPr>
          <a:xfrm>
            <a:off x="6995160" y="1508760"/>
            <a:ext cx="4572000" cy="2857500"/>
          </a:xfrm>
          <a:prstGeom prst="rect">
            <a:avLst/>
          </a:prstGeom>
        </p:spPr>
      </p:pic>
      <p:sp>
        <p:nvSpPr>
          <p:cNvPr id="11" name="Text 7"/>
          <p:cNvSpPr txBox="1"/>
          <p:nvPr/>
        </p:nvSpPr>
        <p:spPr>
          <a:xfrm>
            <a:off x="6903720" y="4709160"/>
            <a:ext cx="4754880" cy="320040"/>
          </a:xfrm>
          <a:prstGeom prst="rect">
            <a:avLst/>
          </a:prstGeom>
          <a:noFill/>
          <a:ln/>
        </p:spPr>
        <p:txBody>
          <a:bodyPr wrap="square" lIns="0" tIns="0" rIns="0" bIns="0" rtlCol="0" anchor="t"/>
          <a:lstStyle/>
          <a:p>
            <a:pPr algn="ctr" indent="0" marL="0">
              <a:buNone/>
            </a:pPr>
            <a:r>
              <a:rPr lang="en-US" sz="1050" dirty="0">
                <a:solidFill>
                  <a:srgbClr val="A9C1B8"/>
                </a:solidFill>
              </a:rPr>
              <a:t>The working tool: verdict view</a:t>
            </a:r>
            <a:endParaRPr lang="en-US" sz="1050" dirty="0"/>
          </a:p>
        </p:txBody>
      </p:sp>
      <p:sp>
        <p:nvSpPr>
          <p:cNvPr id="13"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endParaRPr lang="en-US" sz="3800" dirty="0"/>
          </a:p>
        </p:txBody>
      </p:sp>
      <p:sp>
        <p:nvSpPr>
          <p:cNvPr id="14"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rgbClr val="FFFFFF"/>
                </a:solidFill>
              </a:rPr>
              <a:t>Top-level system architecture</a:t>
            </a:r>
            <a:endParaRPr lang="en-US" sz="2800" dirty="0"/>
          </a:p>
        </p:txBody>
      </p:sp>
      <p:sp>
        <p:nvSpPr>
          <p:cNvPr id="3" name="inputs panel"/>
          <p:cNvSpPr/>
          <p:nvPr/>
        </p:nvSpPr>
        <p:spPr>
          <a:xfrm>
            <a:off x="548640" y="1143000"/>
            <a:ext cx="2103120" cy="5074920"/>
          </a:xfrm>
          <a:prstGeom prst="roundRect">
            <a:avLst>
              <a:gd name="adj" fmla="val 3478"/>
            </a:avLst>
          </a:prstGeom>
          <a:solidFill>
            <a:srgbClr val="0F1A16"/>
          </a:solidFill>
          <a:ln w="15875">
            <a:solidFill>
              <a:srgbClr val="28403A"/>
            </a:solidFill>
            <a:prstDash val="solid"/>
          </a:ln>
        </p:spPr>
      </p:sp>
      <p:sp>
        <p:nvSpPr>
          <p:cNvPr id="4" name="Text 2"/>
          <p:cNvSpPr txBox="1"/>
          <p:nvPr/>
        </p:nvSpPr>
        <p:spPr>
          <a:xfrm>
            <a:off x="713232" y="1243584"/>
            <a:ext cx="1828800" cy="274320"/>
          </a:xfrm>
          <a:prstGeom prst="rect">
            <a:avLst/>
          </a:prstGeom>
          <a:noFill/>
          <a:ln/>
        </p:spPr>
        <p:txBody>
          <a:bodyPr wrap="square" lIns="0" tIns="0" rIns="0" bIns="0" rtlCol="0" anchor="t"/>
          <a:lstStyle/>
          <a:p>
            <a:pPr indent="0" marL="0">
              <a:buNone/>
            </a:pPr>
            <a:r>
              <a:rPr lang="en-US" sz="1100" b="1" spc="200" kern="0" dirty="0">
                <a:solidFill>
                  <a:srgbClr val="6EE7B7"/>
                </a:solidFill>
              </a:rPr>
              <a:t>EVIDENCE IN</a:t>
            </a:r>
            <a:endParaRPr lang="en-US" sz="1100" dirty="0"/>
          </a:p>
        </p:txBody>
      </p:sp>
      <p:sp>
        <p:nvSpPr>
          <p:cNvPr id="5" name="input 1"/>
          <p:cNvSpPr/>
          <p:nvPr/>
        </p:nvSpPr>
        <p:spPr>
          <a:xfrm>
            <a:off x="658368" y="1600200"/>
            <a:ext cx="1883664" cy="1005840"/>
          </a:xfrm>
          <a:prstGeom prst="roundRect">
            <a:avLst>
              <a:gd name="adj" fmla="val 7273"/>
            </a:avLst>
          </a:prstGeom>
          <a:solidFill>
            <a:srgbClr val="14221D"/>
          </a:solidFill>
          <a:ln w="15875">
            <a:solidFill>
              <a:srgbClr val="28403A"/>
            </a:solidFill>
            <a:prstDash val="solid"/>
          </a:ln>
        </p:spPr>
      </p:sp>
      <p:pic>
        <p:nvPicPr>
          <p:cNvPr id="6" name="input icon 1" descr="preencoded.png">    </p:cNvPr>
          <p:cNvPicPr>
            <a:picLocks noChangeAspect="1"/>
          </p:cNvPicPr>
          <p:nvPr/>
        </p:nvPicPr>
        <p:blipFill>
          <a:blip r:embed="rId1"/>
          <a:stretch>
            <a:fillRect/>
          </a:stretch>
        </p:blipFill>
        <p:spPr>
          <a:xfrm>
            <a:off x="777240" y="1728216"/>
            <a:ext cx="329184" cy="329184"/>
          </a:xfrm>
          <a:prstGeom prst="rect">
            <a:avLst/>
          </a:prstGeom>
        </p:spPr>
      </p:pic>
      <p:sp>
        <p:nvSpPr>
          <p:cNvPr id="7" name="Text 4"/>
          <p:cNvSpPr txBox="1"/>
          <p:nvPr/>
        </p:nvSpPr>
        <p:spPr>
          <a:xfrm>
            <a:off x="1188720" y="1709928"/>
            <a:ext cx="1325880" cy="365760"/>
          </a:xfrm>
          <a:prstGeom prst="rect">
            <a:avLst/>
          </a:prstGeom>
          <a:noFill/>
          <a:ln/>
        </p:spPr>
        <p:txBody>
          <a:bodyPr wrap="square" lIns="0" tIns="0" rIns="0" bIns="0" rtlCol="0" anchor="ctr"/>
          <a:lstStyle/>
          <a:p>
            <a:pPr indent="0" marL="0">
              <a:buNone/>
            </a:pPr>
            <a:r>
              <a:rPr lang="en-US" sz="1250" b="1" dirty="0">
                <a:solidFill>
                  <a:srgbClr val="E3F2EC"/>
                </a:solidFill>
              </a:rPr>
              <a:t>Memory dump</a:t>
            </a:r>
            <a:endParaRPr lang="en-US" sz="1250" dirty="0"/>
          </a:p>
        </p:txBody>
      </p:sp>
      <p:sp>
        <p:nvSpPr>
          <p:cNvPr id="8" name="Text 5"/>
          <p:cNvSpPr txBox="1"/>
          <p:nvPr/>
        </p:nvSpPr>
        <p:spPr>
          <a:xfrm>
            <a:off x="777240" y="2148840"/>
            <a:ext cx="1691640" cy="365760"/>
          </a:xfrm>
          <a:prstGeom prst="rect">
            <a:avLst/>
          </a:prstGeom>
          <a:noFill/>
          <a:ln/>
        </p:spPr>
        <p:txBody>
          <a:bodyPr wrap="square" lIns="0" tIns="0" rIns="0" bIns="0" rtlCol="0" anchor="t"/>
          <a:lstStyle/>
          <a:p>
            <a:pPr indent="0" marL="0">
              <a:buNone/>
            </a:pPr>
            <a:r>
              <a:rPr lang="en-US" sz="1000" dirty="0">
                <a:solidFill>
                  <a:srgbClr val="A9C1B8"/>
                </a:solidFill>
              </a:rPr>
              <a:t>.raw .mem .vmem .dmp</a:t>
            </a:r>
            <a:endParaRPr lang="en-US" sz="1000" dirty="0"/>
          </a:p>
        </p:txBody>
      </p:sp>
      <p:sp>
        <p:nvSpPr>
          <p:cNvPr id="9" name="input 2"/>
          <p:cNvSpPr/>
          <p:nvPr/>
        </p:nvSpPr>
        <p:spPr>
          <a:xfrm>
            <a:off x="658368" y="2743200"/>
            <a:ext cx="1883664" cy="1005840"/>
          </a:xfrm>
          <a:prstGeom prst="roundRect">
            <a:avLst>
              <a:gd name="adj" fmla="val 7273"/>
            </a:avLst>
          </a:prstGeom>
          <a:solidFill>
            <a:srgbClr val="14221D"/>
          </a:solidFill>
          <a:ln w="15875">
            <a:solidFill>
              <a:srgbClr val="28403A"/>
            </a:solidFill>
            <a:prstDash val="solid"/>
          </a:ln>
        </p:spPr>
      </p:sp>
      <p:pic>
        <p:nvPicPr>
          <p:cNvPr id="10" name="input icon 2" descr="preencoded.png">    </p:cNvPr>
          <p:cNvPicPr>
            <a:picLocks noChangeAspect="1"/>
          </p:cNvPicPr>
          <p:nvPr/>
        </p:nvPicPr>
        <p:blipFill>
          <a:blip r:embed="rId2"/>
          <a:stretch>
            <a:fillRect/>
          </a:stretch>
        </p:blipFill>
        <p:spPr>
          <a:xfrm>
            <a:off x="777240" y="2871216"/>
            <a:ext cx="329184" cy="329184"/>
          </a:xfrm>
          <a:prstGeom prst="rect">
            <a:avLst/>
          </a:prstGeom>
        </p:spPr>
      </p:pic>
      <p:sp>
        <p:nvSpPr>
          <p:cNvPr id="11" name="Text 7"/>
          <p:cNvSpPr txBox="1"/>
          <p:nvPr/>
        </p:nvSpPr>
        <p:spPr>
          <a:xfrm>
            <a:off x="1188720" y="2852928"/>
            <a:ext cx="1325880" cy="365760"/>
          </a:xfrm>
          <a:prstGeom prst="rect">
            <a:avLst/>
          </a:prstGeom>
          <a:noFill/>
          <a:ln/>
        </p:spPr>
        <p:txBody>
          <a:bodyPr wrap="square" lIns="0" tIns="0" rIns="0" bIns="0" rtlCol="0" anchor="ctr"/>
          <a:lstStyle/>
          <a:p>
            <a:pPr indent="0" marL="0">
              <a:buNone/>
            </a:pPr>
            <a:r>
              <a:rPr lang="en-US" sz="1250" b="1" dirty="0">
                <a:solidFill>
                  <a:srgbClr val="E3F2EC"/>
                </a:solidFill>
              </a:rPr>
              <a:t>Volatility CSV</a:t>
            </a:r>
            <a:endParaRPr lang="en-US" sz="1250" dirty="0"/>
          </a:p>
        </p:txBody>
      </p:sp>
      <p:sp>
        <p:nvSpPr>
          <p:cNvPr id="12" name="Text 8"/>
          <p:cNvSpPr txBox="1"/>
          <p:nvPr/>
        </p:nvSpPr>
        <p:spPr>
          <a:xfrm>
            <a:off x="777240" y="3291840"/>
            <a:ext cx="1691640" cy="365760"/>
          </a:xfrm>
          <a:prstGeom prst="rect">
            <a:avLst/>
          </a:prstGeom>
          <a:noFill/>
          <a:ln/>
        </p:spPr>
        <p:txBody>
          <a:bodyPr wrap="square" lIns="0" tIns="0" rIns="0" bIns="0" rtlCol="0" anchor="t"/>
          <a:lstStyle/>
          <a:p>
            <a:pPr indent="0" marL="0">
              <a:buNone/>
            </a:pPr>
            <a:r>
              <a:rPr lang="en-US" sz="1000" dirty="0">
                <a:solidFill>
                  <a:srgbClr val="A9C1B8"/>
                </a:solidFill>
              </a:rPr>
              <a:t>55 feature columns</a:t>
            </a:r>
            <a:endParaRPr lang="en-US" sz="1000" dirty="0"/>
          </a:p>
        </p:txBody>
      </p:sp>
      <p:sp>
        <p:nvSpPr>
          <p:cNvPr id="13" name="input 3"/>
          <p:cNvSpPr/>
          <p:nvPr/>
        </p:nvSpPr>
        <p:spPr>
          <a:xfrm>
            <a:off x="658368" y="3886200"/>
            <a:ext cx="1883664" cy="1005840"/>
          </a:xfrm>
          <a:prstGeom prst="roundRect">
            <a:avLst>
              <a:gd name="adj" fmla="val 7273"/>
            </a:avLst>
          </a:prstGeom>
          <a:solidFill>
            <a:srgbClr val="14221D"/>
          </a:solidFill>
          <a:ln w="15875">
            <a:solidFill>
              <a:srgbClr val="28403A"/>
            </a:solidFill>
            <a:prstDash val="solid"/>
          </a:ln>
        </p:spPr>
      </p:sp>
      <p:pic>
        <p:nvPicPr>
          <p:cNvPr id="14" name="input icon 3" descr="preencoded.png">    </p:cNvPr>
          <p:cNvPicPr>
            <a:picLocks noChangeAspect="1"/>
          </p:cNvPicPr>
          <p:nvPr/>
        </p:nvPicPr>
        <p:blipFill>
          <a:blip r:embed="rId3"/>
          <a:stretch>
            <a:fillRect/>
          </a:stretch>
        </p:blipFill>
        <p:spPr>
          <a:xfrm>
            <a:off x="777240" y="4014216"/>
            <a:ext cx="329184" cy="329184"/>
          </a:xfrm>
          <a:prstGeom prst="rect">
            <a:avLst/>
          </a:prstGeom>
        </p:spPr>
      </p:pic>
      <p:sp>
        <p:nvSpPr>
          <p:cNvPr id="15" name="Text 10"/>
          <p:cNvSpPr txBox="1"/>
          <p:nvPr/>
        </p:nvSpPr>
        <p:spPr>
          <a:xfrm>
            <a:off x="1188720" y="3995928"/>
            <a:ext cx="1325880" cy="365760"/>
          </a:xfrm>
          <a:prstGeom prst="rect">
            <a:avLst/>
          </a:prstGeom>
          <a:noFill/>
          <a:ln/>
        </p:spPr>
        <p:txBody>
          <a:bodyPr wrap="square" lIns="0" tIns="0" rIns="0" bIns="0" rtlCol="0" anchor="ctr"/>
          <a:lstStyle/>
          <a:p>
            <a:pPr indent="0" marL="0">
              <a:buNone/>
            </a:pPr>
            <a:r>
              <a:rPr lang="en-US" sz="1250" b="1" dirty="0">
                <a:solidFill>
                  <a:srgbClr val="E3F2EC"/>
                </a:solidFill>
              </a:rPr>
              <a:t>Sample profile</a:t>
            </a:r>
            <a:endParaRPr lang="en-US" sz="1250" dirty="0"/>
          </a:p>
        </p:txBody>
      </p:sp>
      <p:sp>
        <p:nvSpPr>
          <p:cNvPr id="16" name="Text 11"/>
          <p:cNvSpPr txBox="1"/>
          <p:nvPr/>
        </p:nvSpPr>
        <p:spPr>
          <a:xfrm>
            <a:off x="777240" y="4434840"/>
            <a:ext cx="1691640" cy="365760"/>
          </a:xfrm>
          <a:prstGeom prst="rect">
            <a:avLst/>
          </a:prstGeom>
          <a:noFill/>
          <a:ln/>
        </p:spPr>
        <p:txBody>
          <a:bodyPr wrap="square" lIns="0" tIns="0" rIns="0" bIns="0" rtlCol="0" anchor="t"/>
          <a:lstStyle/>
          <a:p>
            <a:pPr indent="0" marL="0">
              <a:buNone/>
            </a:pPr>
            <a:r>
              <a:rPr lang="en-US" sz="1000" dirty="0">
                <a:solidFill>
                  <a:srgbClr val="A9C1B8"/>
                </a:solidFill>
              </a:rPr>
              <a:t>built-in demo files</a:t>
            </a:r>
            <a:endParaRPr lang="en-US" sz="1000" dirty="0"/>
          </a:p>
        </p:txBody>
      </p:sp>
      <p:sp>
        <p:nvSpPr>
          <p:cNvPr id="17" name="input 4"/>
          <p:cNvSpPr/>
          <p:nvPr/>
        </p:nvSpPr>
        <p:spPr>
          <a:xfrm>
            <a:off x="658368" y="5029200"/>
            <a:ext cx="1883664" cy="1005840"/>
          </a:xfrm>
          <a:prstGeom prst="roundRect">
            <a:avLst>
              <a:gd name="adj" fmla="val 7273"/>
            </a:avLst>
          </a:prstGeom>
          <a:solidFill>
            <a:srgbClr val="14221D"/>
          </a:solidFill>
          <a:ln w="15875">
            <a:solidFill>
              <a:srgbClr val="28403A"/>
            </a:solidFill>
            <a:prstDash val="solid"/>
          </a:ln>
        </p:spPr>
      </p:sp>
      <p:pic>
        <p:nvPicPr>
          <p:cNvPr id="18" name="input icon 4" descr="preencoded.png">    </p:cNvPr>
          <p:cNvPicPr>
            <a:picLocks noChangeAspect="1"/>
          </p:cNvPicPr>
          <p:nvPr/>
        </p:nvPicPr>
        <p:blipFill>
          <a:blip r:embed="rId4"/>
          <a:stretch>
            <a:fillRect/>
          </a:stretch>
        </p:blipFill>
        <p:spPr>
          <a:xfrm>
            <a:off x="777240" y="5157216"/>
            <a:ext cx="329184" cy="329184"/>
          </a:xfrm>
          <a:prstGeom prst="rect">
            <a:avLst/>
          </a:prstGeom>
        </p:spPr>
      </p:pic>
      <p:sp>
        <p:nvSpPr>
          <p:cNvPr id="19" name="Text 13"/>
          <p:cNvSpPr txBox="1"/>
          <p:nvPr/>
        </p:nvSpPr>
        <p:spPr>
          <a:xfrm>
            <a:off x="1188720" y="5138928"/>
            <a:ext cx="1325880" cy="365760"/>
          </a:xfrm>
          <a:prstGeom prst="rect">
            <a:avLst/>
          </a:prstGeom>
          <a:noFill/>
          <a:ln/>
        </p:spPr>
        <p:txBody>
          <a:bodyPr wrap="square" lIns="0" tIns="0" rIns="0" bIns="0" rtlCol="0" anchor="ctr"/>
          <a:lstStyle/>
          <a:p>
            <a:pPr indent="0" marL="0">
              <a:buNone/>
            </a:pPr>
            <a:r>
              <a:rPr lang="en-US" sz="1250" b="1" dirty="0">
                <a:solidFill>
                  <a:srgbClr val="E3F2EC"/>
                </a:solidFill>
              </a:rPr>
              <a:t>Evidence origin</a:t>
            </a:r>
            <a:endParaRPr lang="en-US" sz="1250" dirty="0"/>
          </a:p>
        </p:txBody>
      </p:sp>
      <p:sp>
        <p:nvSpPr>
          <p:cNvPr id="20" name="Text 14"/>
          <p:cNvSpPr txBox="1"/>
          <p:nvPr/>
        </p:nvSpPr>
        <p:spPr>
          <a:xfrm>
            <a:off x="777240" y="5577840"/>
            <a:ext cx="1691640" cy="365760"/>
          </a:xfrm>
          <a:prstGeom prst="rect">
            <a:avLst/>
          </a:prstGeom>
          <a:noFill/>
          <a:ln/>
        </p:spPr>
        <p:txBody>
          <a:bodyPr wrap="square" lIns="0" tIns="0" rIns="0" bIns="0" rtlCol="0" anchor="t"/>
          <a:lstStyle/>
          <a:p>
            <a:pPr indent="0" marL="0">
              <a:buNone/>
            </a:pPr>
            <a:r>
              <a:rPr lang="en-US" sz="1000" dirty="0">
                <a:solidFill>
                  <a:srgbClr val="A9C1B8"/>
                </a:solidFill>
              </a:rPr>
              <a:t>device · custodian · tool hash</a:t>
            </a:r>
            <a:endParaRPr lang="en-US" sz="1000" dirty="0"/>
          </a:p>
        </p:txBody>
      </p:sp>
      <p:sp>
        <p:nvSpPr>
          <p:cNvPr id="21" name="auth layer"/>
          <p:cNvSpPr/>
          <p:nvPr/>
        </p:nvSpPr>
        <p:spPr>
          <a:xfrm>
            <a:off x="2926080" y="1143000"/>
            <a:ext cx="2240280" cy="868680"/>
          </a:xfrm>
          <a:prstGeom prst="roundRect">
            <a:avLst>
              <a:gd name="adj" fmla="val 8421"/>
            </a:avLst>
          </a:prstGeom>
          <a:solidFill>
            <a:srgbClr val="0B2A1F"/>
          </a:solidFill>
          <a:ln w="15875">
            <a:solidFill>
              <a:srgbClr val="10B981"/>
            </a:solidFill>
            <a:prstDash val="solid"/>
          </a:ln>
        </p:spPr>
      </p:sp>
      <p:pic>
        <p:nvPicPr>
          <p:cNvPr id="22" name="auth icon" descr="preencoded.png">    </p:cNvPr>
          <p:cNvPicPr>
            <a:picLocks noChangeAspect="1"/>
          </p:cNvPicPr>
          <p:nvPr/>
        </p:nvPicPr>
        <p:blipFill>
          <a:blip r:embed="rId5"/>
          <a:stretch>
            <a:fillRect/>
          </a:stretch>
        </p:blipFill>
        <p:spPr>
          <a:xfrm>
            <a:off x="3063240" y="1298448"/>
            <a:ext cx="365760" cy="365760"/>
          </a:xfrm>
          <a:prstGeom prst="rect">
            <a:avLst/>
          </a:prstGeom>
        </p:spPr>
      </p:pic>
      <p:sp>
        <p:nvSpPr>
          <p:cNvPr id="23" name="Text 16"/>
          <p:cNvSpPr txBox="1"/>
          <p:nvPr/>
        </p:nvSpPr>
        <p:spPr>
          <a:xfrm>
            <a:off x="3520440" y="1188720"/>
            <a:ext cx="1554480" cy="777240"/>
          </a:xfrm>
          <a:prstGeom prst="rect">
            <a:avLst/>
          </a:prstGeom>
          <a:noFill/>
          <a:ln/>
        </p:spPr>
        <p:txBody>
          <a:bodyPr wrap="square" lIns="0" tIns="0" rIns="0" bIns="0" rtlCol="0" anchor="ctr"/>
          <a:lstStyle/>
          <a:p>
            <a:pPr indent="0" marL="0">
              <a:buNone/>
            </a:pPr>
            <a:r>
              <a:rPr lang="en-US" sz="1250" b="1" dirty="0">
                <a:solidFill>
                  <a:srgbClr val="FFFFFF"/>
                </a:solidFill>
              </a:rPr>
              <a:t>Sign-in &amp; roles</a:t>
            </a:r>
            <a:endParaRPr lang="en-US" sz="1250" dirty="0"/>
          </a:p>
          <a:p>
            <a:pPr indent="0" marL="0">
              <a:buNone/>
            </a:pPr>
            <a:r>
              <a:rPr lang="en-US" sz="1000" dirty="0">
                <a:solidFill>
                  <a:srgbClr val="A9C1B8"/>
                </a:solidFill>
              </a:rPr>
              <a:t>auth.py · admin, analyst</a:t>
            </a:r>
            <a:endParaRPr lang="en-US" sz="1250" dirty="0"/>
          </a:p>
        </p:txBody>
      </p:sp>
      <p:sp>
        <p:nvSpPr>
          <p:cNvPr id="24" name="dashboard layer"/>
          <p:cNvSpPr/>
          <p:nvPr/>
        </p:nvSpPr>
        <p:spPr>
          <a:xfrm>
            <a:off x="5303520" y="1143000"/>
            <a:ext cx="3962095" cy="868680"/>
          </a:xfrm>
          <a:prstGeom prst="roundRect">
            <a:avLst>
              <a:gd name="adj" fmla="val 8421"/>
            </a:avLst>
          </a:prstGeom>
          <a:solidFill>
            <a:srgbClr val="0B2A1F"/>
          </a:solidFill>
          <a:ln w="15875">
            <a:solidFill>
              <a:srgbClr val="10B981"/>
            </a:solidFill>
            <a:prstDash val="solid"/>
          </a:ln>
        </p:spPr>
      </p:sp>
      <p:pic>
        <p:nvPicPr>
          <p:cNvPr id="25" name="dashboard icon" descr="preencoded.png">    </p:cNvPr>
          <p:cNvPicPr>
            <a:picLocks noChangeAspect="1"/>
          </p:cNvPicPr>
          <p:nvPr/>
        </p:nvPicPr>
        <p:blipFill>
          <a:blip r:embed="rId6"/>
          <a:stretch>
            <a:fillRect/>
          </a:stretch>
        </p:blipFill>
        <p:spPr>
          <a:xfrm>
            <a:off x="5440680" y="1298448"/>
            <a:ext cx="365760" cy="365760"/>
          </a:xfrm>
          <a:prstGeom prst="rect">
            <a:avLst/>
          </a:prstGeom>
        </p:spPr>
      </p:pic>
      <p:sp>
        <p:nvSpPr>
          <p:cNvPr id="26" name="Text 18"/>
          <p:cNvSpPr txBox="1"/>
          <p:nvPr/>
        </p:nvSpPr>
        <p:spPr>
          <a:xfrm>
            <a:off x="5897880" y="1188720"/>
            <a:ext cx="3230575" cy="365760"/>
          </a:xfrm>
          <a:prstGeom prst="rect">
            <a:avLst/>
          </a:prstGeom>
          <a:noFill/>
          <a:ln/>
        </p:spPr>
        <p:txBody>
          <a:bodyPr wrap="square" lIns="0" tIns="0" rIns="0" bIns="0" rtlCol="0" anchor="ctr"/>
          <a:lstStyle/>
          <a:p>
            <a:pPr indent="0" marL="0">
              <a:buNone/>
            </a:pPr>
            <a:r>
              <a:rPr lang="en-US" sz="1250" b="1" dirty="0">
                <a:solidFill>
                  <a:srgbClr val="FFFFFF"/>
                </a:solidFill>
              </a:rPr>
              <a:t>Streamlit dashboard  </a:t>
            </a:r>
            <a:pPr indent="0" marL="0">
              <a:buNone/>
            </a:pPr>
            <a:r>
              <a:rPr lang="en-US" sz="1250" dirty="0">
                <a:solidFill>
                  <a:srgbClr val="6EE7B7"/>
                </a:solidFill>
              </a:rPr>
              <a:t>app.py</a:t>
            </a:r>
            <a:endParaRPr lang="en-US" sz="1250" dirty="0"/>
          </a:p>
        </p:txBody>
      </p:sp>
      <p:sp>
        <p:nvSpPr>
          <p:cNvPr id="27" name="page Triage"/>
          <p:cNvSpPr txBox="1"/>
          <p:nvPr/>
        </p:nvSpPr>
        <p:spPr>
          <a:xfrm>
            <a:off x="5897880" y="1591056"/>
            <a:ext cx="587593" cy="310896"/>
          </a:xfrm>
          <a:prstGeom prst="roundRect">
            <a:avLst>
              <a:gd name="adj" fmla="val 50000"/>
            </a:avLst>
          </a:prstGeom>
          <a:solidFill>
            <a:srgbClr val="14221D"/>
          </a:solidFill>
          <a:ln w="12700">
            <a:solidFill>
              <a:srgbClr val="28403A"/>
            </a:solidFill>
          </a:ln>
        </p:spPr>
        <p:txBody>
          <a:bodyPr wrap="square" lIns="0" tIns="0" rIns="0" bIns="0" rtlCol="0" anchor="ctr"/>
          <a:lstStyle/>
          <a:p>
            <a:pPr algn="ctr" indent="0" marL="0">
              <a:buNone/>
            </a:pPr>
            <a:r>
              <a:rPr lang="en-US" sz="1100" b="1" dirty="0">
                <a:solidFill>
                  <a:srgbClr val="6EE7B7"/>
                </a:solidFill>
              </a:rPr>
              <a:t>Triage</a:t>
            </a:r>
            <a:endParaRPr lang="en-US" sz="1100" dirty="0"/>
          </a:p>
        </p:txBody>
      </p:sp>
      <p:sp>
        <p:nvSpPr>
          <p:cNvPr id="28" name="page Cases"/>
          <p:cNvSpPr txBox="1"/>
          <p:nvPr/>
        </p:nvSpPr>
        <p:spPr>
          <a:xfrm>
            <a:off x="6558625" y="1591056"/>
            <a:ext cx="587593" cy="310896"/>
          </a:xfrm>
          <a:prstGeom prst="roundRect">
            <a:avLst>
              <a:gd name="adj" fmla="val 50000"/>
            </a:avLst>
          </a:prstGeom>
          <a:solidFill>
            <a:srgbClr val="14221D"/>
          </a:solidFill>
          <a:ln w="12700">
            <a:solidFill>
              <a:srgbClr val="28403A"/>
            </a:solidFill>
          </a:ln>
        </p:spPr>
        <p:txBody>
          <a:bodyPr wrap="square" lIns="0" tIns="0" rIns="0" bIns="0" rtlCol="0" anchor="ctr"/>
          <a:lstStyle/>
          <a:p>
            <a:pPr algn="ctr" indent="0" marL="0">
              <a:buNone/>
            </a:pPr>
            <a:r>
              <a:rPr lang="en-US" sz="1100" b="1" dirty="0">
                <a:solidFill>
                  <a:srgbClr val="6EE7B7"/>
                </a:solidFill>
              </a:rPr>
              <a:t>Cases</a:t>
            </a:r>
            <a:endParaRPr lang="en-US" sz="1100" dirty="0"/>
          </a:p>
        </p:txBody>
      </p:sp>
      <p:sp>
        <p:nvSpPr>
          <p:cNvPr id="29" name="page Help"/>
          <p:cNvSpPr txBox="1"/>
          <p:nvPr/>
        </p:nvSpPr>
        <p:spPr>
          <a:xfrm>
            <a:off x="7219371" y="1591056"/>
            <a:ext cx="587593" cy="310896"/>
          </a:xfrm>
          <a:prstGeom prst="roundRect">
            <a:avLst>
              <a:gd name="adj" fmla="val 50000"/>
            </a:avLst>
          </a:prstGeom>
          <a:solidFill>
            <a:srgbClr val="14221D"/>
          </a:solidFill>
          <a:ln w="12700">
            <a:solidFill>
              <a:srgbClr val="28403A"/>
            </a:solidFill>
          </a:ln>
        </p:spPr>
        <p:txBody>
          <a:bodyPr wrap="square" lIns="0" tIns="0" rIns="0" bIns="0" rtlCol="0" anchor="ctr"/>
          <a:lstStyle/>
          <a:p>
            <a:pPr algn="ctr" indent="0" marL="0">
              <a:buNone/>
            </a:pPr>
            <a:r>
              <a:rPr lang="en-US" sz="1100" b="1" dirty="0">
                <a:solidFill>
                  <a:srgbClr val="6EE7B7"/>
                </a:solidFill>
              </a:rPr>
              <a:t>Help</a:t>
            </a:r>
            <a:endParaRPr lang="en-US" sz="1100" dirty="0"/>
          </a:p>
        </p:txBody>
      </p:sp>
      <p:sp>
        <p:nvSpPr>
          <p:cNvPr id="30" name="page Audit"/>
          <p:cNvSpPr txBox="1"/>
          <p:nvPr/>
        </p:nvSpPr>
        <p:spPr>
          <a:xfrm>
            <a:off x="7880116" y="1591056"/>
            <a:ext cx="587593" cy="310896"/>
          </a:xfrm>
          <a:prstGeom prst="roundRect">
            <a:avLst>
              <a:gd name="adj" fmla="val 50000"/>
            </a:avLst>
          </a:prstGeom>
          <a:solidFill>
            <a:srgbClr val="14221D"/>
          </a:solidFill>
          <a:ln w="12700">
            <a:solidFill>
              <a:srgbClr val="28403A"/>
            </a:solidFill>
          </a:ln>
        </p:spPr>
        <p:txBody>
          <a:bodyPr wrap="square" lIns="0" tIns="0" rIns="0" bIns="0" rtlCol="0" anchor="ctr"/>
          <a:lstStyle/>
          <a:p>
            <a:pPr algn="ctr" indent="0" marL="0">
              <a:buNone/>
            </a:pPr>
            <a:r>
              <a:rPr lang="en-US" sz="1100" b="1" dirty="0">
                <a:solidFill>
                  <a:srgbClr val="6EE7B7"/>
                </a:solidFill>
              </a:rPr>
              <a:t>Audit</a:t>
            </a:r>
            <a:endParaRPr lang="en-US" sz="1100" dirty="0"/>
          </a:p>
        </p:txBody>
      </p:sp>
      <p:sp>
        <p:nvSpPr>
          <p:cNvPr id="31" name="page Users"/>
          <p:cNvSpPr txBox="1"/>
          <p:nvPr/>
        </p:nvSpPr>
        <p:spPr>
          <a:xfrm>
            <a:off x="8540862" y="1591056"/>
            <a:ext cx="587593" cy="310896"/>
          </a:xfrm>
          <a:prstGeom prst="roundRect">
            <a:avLst>
              <a:gd name="adj" fmla="val 50000"/>
            </a:avLst>
          </a:prstGeom>
          <a:solidFill>
            <a:srgbClr val="14221D"/>
          </a:solidFill>
          <a:ln w="12700">
            <a:solidFill>
              <a:srgbClr val="28403A"/>
            </a:solidFill>
          </a:ln>
        </p:spPr>
        <p:txBody>
          <a:bodyPr wrap="square" lIns="0" tIns="0" rIns="0" bIns="0" rtlCol="0" anchor="ctr"/>
          <a:lstStyle/>
          <a:p>
            <a:pPr algn="ctr" indent="0" marL="0">
              <a:buNone/>
            </a:pPr>
            <a:r>
              <a:rPr lang="en-US" sz="1100" b="1" dirty="0">
                <a:solidFill>
                  <a:srgbClr val="6EE7B7"/>
                </a:solidFill>
              </a:rPr>
              <a:t>Users</a:t>
            </a:r>
            <a:endParaRPr lang="en-US" sz="1100" dirty="0"/>
          </a:p>
        </p:txBody>
      </p:sp>
      <p:sp>
        <p:nvSpPr>
          <p:cNvPr id="32" name="inputs to app"/>
          <p:cNvSpPr/>
          <p:nvPr/>
        </p:nvSpPr>
        <p:spPr>
          <a:xfrm>
            <a:off x="2670048" y="1572768"/>
            <a:ext cx="228600" cy="0"/>
          </a:xfrm>
          <a:prstGeom prst="line">
            <a:avLst/>
          </a:prstGeom>
          <a:noFill/>
          <a:ln w="22225">
            <a:solidFill>
              <a:srgbClr val="10B981"/>
            </a:solidFill>
            <a:prstDash val="solid"/>
            <a:tailEnd type="triangle"/>
          </a:ln>
        </p:spPr>
      </p:sp>
      <p:sp>
        <p:nvSpPr>
          <p:cNvPr id="33" name="app to pipeline"/>
          <p:cNvSpPr/>
          <p:nvPr/>
        </p:nvSpPr>
        <p:spPr>
          <a:xfrm>
            <a:off x="6095848" y="2029968"/>
            <a:ext cx="0" cy="274320"/>
          </a:xfrm>
          <a:prstGeom prst="line">
            <a:avLst/>
          </a:prstGeom>
          <a:noFill/>
          <a:ln w="22225">
            <a:solidFill>
              <a:srgbClr val="10B981"/>
            </a:solidFill>
            <a:prstDash val="solid"/>
            <a:headEnd type="triangle"/>
            <a:tailEnd type="triangle"/>
          </a:ln>
        </p:spPr>
      </p:sp>
      <p:sp>
        <p:nvSpPr>
          <p:cNvPr id="34" name="module 1"/>
          <p:cNvSpPr/>
          <p:nvPr/>
        </p:nvSpPr>
        <p:spPr>
          <a:xfrm>
            <a:off x="2926080" y="2331720"/>
            <a:ext cx="1136233" cy="1691640"/>
          </a:xfrm>
          <a:prstGeom prst="roundRect">
            <a:avLst>
              <a:gd name="adj" fmla="val 6438"/>
            </a:avLst>
          </a:prstGeom>
          <a:solidFill>
            <a:srgbClr val="14221D"/>
          </a:solidFill>
          <a:ln w="15875">
            <a:solidFill>
              <a:srgbClr val="F5B83D"/>
            </a:solidFill>
            <a:prstDash val="solid"/>
          </a:ln>
        </p:spPr>
      </p:sp>
      <p:pic>
        <p:nvPicPr>
          <p:cNvPr id="35" name="module icon 1" descr="preencoded.png">    </p:cNvPr>
          <p:cNvPicPr>
            <a:picLocks noChangeAspect="1"/>
          </p:cNvPicPr>
          <p:nvPr/>
        </p:nvPicPr>
        <p:blipFill>
          <a:blip r:embed="rId7"/>
          <a:stretch>
            <a:fillRect/>
          </a:stretch>
        </p:blipFill>
        <p:spPr>
          <a:xfrm>
            <a:off x="3293029" y="2441448"/>
            <a:ext cx="402336" cy="402336"/>
          </a:xfrm>
          <a:prstGeom prst="rect">
            <a:avLst/>
          </a:prstGeom>
        </p:spPr>
      </p:pic>
      <p:sp>
        <p:nvSpPr>
          <p:cNvPr id="36" name="Text 27"/>
          <p:cNvSpPr txBox="1"/>
          <p:nvPr/>
        </p:nvSpPr>
        <p:spPr>
          <a:xfrm>
            <a:off x="2971800" y="2880360"/>
            <a:ext cx="1044793" cy="457200"/>
          </a:xfrm>
          <a:prstGeom prst="rect">
            <a:avLst/>
          </a:prstGeom>
          <a:noFill/>
          <a:ln/>
        </p:spPr>
        <p:txBody>
          <a:bodyPr wrap="square" lIns="0" tIns="0" rIns="0" bIns="0" rtlCol="0" anchor="ctr"/>
          <a:lstStyle/>
          <a:p>
            <a:pPr algn="ctr" indent="0" marL="0">
              <a:buNone/>
            </a:pPr>
            <a:r>
              <a:rPr lang="en-US" sz="1150" b="1" dirty="0">
                <a:solidFill>
                  <a:srgbClr val="FFFFFF"/>
                </a:solidFill>
              </a:rPr>
              <a:t>Intake checks</a:t>
            </a:r>
            <a:endParaRPr lang="en-US" sz="1150" dirty="0"/>
          </a:p>
        </p:txBody>
      </p:sp>
      <p:sp>
        <p:nvSpPr>
          <p:cNvPr id="37" name="Text 28"/>
          <p:cNvSpPr txBox="1"/>
          <p:nvPr/>
        </p:nvSpPr>
        <p:spPr>
          <a:xfrm>
            <a:off x="2990088" y="3346704"/>
            <a:ext cx="1008217" cy="640080"/>
          </a:xfrm>
          <a:prstGeom prst="rect">
            <a:avLst/>
          </a:prstGeom>
          <a:noFill/>
          <a:ln/>
        </p:spPr>
        <p:txBody>
          <a:bodyPr wrap="square" lIns="0" tIns="0" rIns="0" bIns="0" rtlCol="0" anchor="t"/>
          <a:lstStyle/>
          <a:p>
            <a:pPr algn="ctr" indent="0" marL="0">
              <a:buNone/>
            </a:pPr>
            <a:r>
              <a:rPr lang="en-US" sz="950" dirty="0">
                <a:solidFill>
                  <a:srgbClr val="A9C1B8"/>
                </a:solidFill>
              </a:rPr>
              <a:t>input_validation.py · size, type, signature</a:t>
            </a:r>
            <a:endParaRPr lang="en-US" sz="950" dirty="0"/>
          </a:p>
        </p:txBody>
      </p:sp>
      <p:sp>
        <p:nvSpPr>
          <p:cNvPr id="38" name="pipeline arrow 1"/>
          <p:cNvSpPr/>
          <p:nvPr/>
        </p:nvSpPr>
        <p:spPr>
          <a:xfrm>
            <a:off x="4071457" y="3108960"/>
            <a:ext cx="146304" cy="0"/>
          </a:xfrm>
          <a:prstGeom prst="line">
            <a:avLst/>
          </a:prstGeom>
          <a:noFill/>
          <a:ln w="22225">
            <a:solidFill>
              <a:srgbClr val="10B981"/>
            </a:solidFill>
            <a:prstDash val="solid"/>
            <a:tailEnd type="triangle"/>
          </a:ln>
        </p:spPr>
      </p:sp>
      <p:sp>
        <p:nvSpPr>
          <p:cNvPr id="39" name="module 2"/>
          <p:cNvSpPr/>
          <p:nvPr/>
        </p:nvSpPr>
        <p:spPr>
          <a:xfrm>
            <a:off x="4226905" y="2331720"/>
            <a:ext cx="1136233" cy="1691640"/>
          </a:xfrm>
          <a:prstGeom prst="roundRect">
            <a:avLst>
              <a:gd name="adj" fmla="val 6438"/>
            </a:avLst>
          </a:prstGeom>
          <a:solidFill>
            <a:srgbClr val="14221D"/>
          </a:solidFill>
          <a:ln w="15875">
            <a:solidFill>
              <a:srgbClr val="3987E5"/>
            </a:solidFill>
            <a:prstDash val="solid"/>
          </a:ln>
        </p:spPr>
      </p:sp>
      <p:pic>
        <p:nvPicPr>
          <p:cNvPr id="40" name="module icon 2" descr="preencoded.png">    </p:cNvPr>
          <p:cNvPicPr>
            <a:picLocks noChangeAspect="1"/>
          </p:cNvPicPr>
          <p:nvPr/>
        </p:nvPicPr>
        <p:blipFill>
          <a:blip r:embed="rId8"/>
          <a:stretch>
            <a:fillRect/>
          </a:stretch>
        </p:blipFill>
        <p:spPr>
          <a:xfrm>
            <a:off x="4593854" y="2441448"/>
            <a:ext cx="402336" cy="402336"/>
          </a:xfrm>
          <a:prstGeom prst="rect">
            <a:avLst/>
          </a:prstGeom>
        </p:spPr>
      </p:pic>
      <p:sp>
        <p:nvSpPr>
          <p:cNvPr id="41" name="Text 31"/>
          <p:cNvSpPr txBox="1"/>
          <p:nvPr/>
        </p:nvSpPr>
        <p:spPr>
          <a:xfrm>
            <a:off x="4272625" y="2880360"/>
            <a:ext cx="1044793" cy="457200"/>
          </a:xfrm>
          <a:prstGeom prst="rect">
            <a:avLst/>
          </a:prstGeom>
          <a:noFill/>
          <a:ln/>
        </p:spPr>
        <p:txBody>
          <a:bodyPr wrap="square" lIns="0" tIns="0" rIns="0" bIns="0" rtlCol="0" anchor="ctr"/>
          <a:lstStyle/>
          <a:p>
            <a:pPr algn="ctr" indent="0" marL="0">
              <a:buNone/>
            </a:pPr>
            <a:r>
              <a:rPr lang="en-US" sz="1150" b="1" dirty="0">
                <a:solidFill>
                  <a:srgbClr val="FFFFFF"/>
                </a:solidFill>
              </a:rPr>
              <a:t>Feature extraction</a:t>
            </a:r>
            <a:endParaRPr lang="en-US" sz="1150" dirty="0"/>
          </a:p>
        </p:txBody>
      </p:sp>
      <p:sp>
        <p:nvSpPr>
          <p:cNvPr id="42" name="Text 32"/>
          <p:cNvSpPr txBox="1"/>
          <p:nvPr/>
        </p:nvSpPr>
        <p:spPr>
          <a:xfrm>
            <a:off x="4290913" y="3346704"/>
            <a:ext cx="1008217" cy="640080"/>
          </a:xfrm>
          <a:prstGeom prst="rect">
            <a:avLst/>
          </a:prstGeom>
          <a:noFill/>
          <a:ln/>
        </p:spPr>
        <p:txBody>
          <a:bodyPr wrap="square" lIns="0" tIns="0" rIns="0" bIns="0" rtlCol="0" anchor="t"/>
          <a:lstStyle/>
          <a:p>
            <a:pPr algn="ctr" indent="0" marL="0">
              <a:buNone/>
            </a:pPr>
            <a:r>
              <a:rPr lang="en-US" sz="950" dirty="0">
                <a:solidFill>
                  <a:srgbClr val="A9C1B8"/>
                </a:solidFill>
              </a:rPr>
              <a:t>Volatility 3 · 9 plugins → 55 features</a:t>
            </a:r>
            <a:endParaRPr lang="en-US" sz="950" dirty="0"/>
          </a:p>
        </p:txBody>
      </p:sp>
      <p:sp>
        <p:nvSpPr>
          <p:cNvPr id="43" name="pipeline arrow 2"/>
          <p:cNvSpPr/>
          <p:nvPr/>
        </p:nvSpPr>
        <p:spPr>
          <a:xfrm>
            <a:off x="5372283" y="3108960"/>
            <a:ext cx="146304" cy="0"/>
          </a:xfrm>
          <a:prstGeom prst="line">
            <a:avLst/>
          </a:prstGeom>
          <a:noFill/>
          <a:ln w="22225">
            <a:solidFill>
              <a:srgbClr val="10B981"/>
            </a:solidFill>
            <a:prstDash val="solid"/>
            <a:tailEnd type="triangle"/>
          </a:ln>
        </p:spPr>
      </p:sp>
      <p:sp>
        <p:nvSpPr>
          <p:cNvPr id="44" name="module 3"/>
          <p:cNvSpPr/>
          <p:nvPr/>
        </p:nvSpPr>
        <p:spPr>
          <a:xfrm>
            <a:off x="5527731" y="2331720"/>
            <a:ext cx="1136233" cy="1691640"/>
          </a:xfrm>
          <a:prstGeom prst="roundRect">
            <a:avLst>
              <a:gd name="adj" fmla="val 6438"/>
            </a:avLst>
          </a:prstGeom>
          <a:solidFill>
            <a:srgbClr val="14221D"/>
          </a:solidFill>
          <a:ln w="15875">
            <a:solidFill>
              <a:srgbClr val="A78BFA"/>
            </a:solidFill>
            <a:prstDash val="solid"/>
          </a:ln>
        </p:spPr>
      </p:sp>
      <p:pic>
        <p:nvPicPr>
          <p:cNvPr id="45" name="module icon 3" descr="preencoded.png">    </p:cNvPr>
          <p:cNvPicPr>
            <a:picLocks noChangeAspect="1"/>
          </p:cNvPicPr>
          <p:nvPr/>
        </p:nvPicPr>
        <p:blipFill>
          <a:blip r:embed="rId9"/>
          <a:stretch>
            <a:fillRect/>
          </a:stretch>
        </p:blipFill>
        <p:spPr>
          <a:xfrm>
            <a:off x="5894680" y="2441448"/>
            <a:ext cx="402336" cy="402336"/>
          </a:xfrm>
          <a:prstGeom prst="rect">
            <a:avLst/>
          </a:prstGeom>
        </p:spPr>
      </p:pic>
      <p:sp>
        <p:nvSpPr>
          <p:cNvPr id="46" name="Text 35"/>
          <p:cNvSpPr txBox="1"/>
          <p:nvPr/>
        </p:nvSpPr>
        <p:spPr>
          <a:xfrm>
            <a:off x="5573451" y="2880360"/>
            <a:ext cx="1044793" cy="457200"/>
          </a:xfrm>
          <a:prstGeom prst="rect">
            <a:avLst/>
          </a:prstGeom>
          <a:noFill/>
          <a:ln/>
        </p:spPr>
        <p:txBody>
          <a:bodyPr wrap="square" lIns="0" tIns="0" rIns="0" bIns="0" rtlCol="0" anchor="ctr"/>
          <a:lstStyle/>
          <a:p>
            <a:pPr algn="ctr" indent="0" marL="0">
              <a:buNone/>
            </a:pPr>
            <a:r>
              <a:rPr lang="en-US" sz="1150" b="1" dirty="0">
                <a:solidFill>
                  <a:srgbClr val="FFFFFF"/>
                </a:solidFill>
              </a:rPr>
              <a:t>Feature gate</a:t>
            </a:r>
            <a:endParaRPr lang="en-US" sz="1150" dirty="0"/>
          </a:p>
        </p:txBody>
      </p:sp>
      <p:sp>
        <p:nvSpPr>
          <p:cNvPr id="47" name="Text 36"/>
          <p:cNvSpPr txBox="1"/>
          <p:nvPr/>
        </p:nvSpPr>
        <p:spPr>
          <a:xfrm>
            <a:off x="5591739" y="3346704"/>
            <a:ext cx="1008217" cy="640080"/>
          </a:xfrm>
          <a:prstGeom prst="rect">
            <a:avLst/>
          </a:prstGeom>
          <a:noFill/>
          <a:ln/>
        </p:spPr>
        <p:txBody>
          <a:bodyPr wrap="square" lIns="0" tIns="0" rIns="0" bIns="0" rtlCol="0" anchor="t"/>
          <a:lstStyle/>
          <a:p>
            <a:pPr algn="ctr" indent="0" marL="0">
              <a:buNone/>
            </a:pPr>
            <a:r>
              <a:rPr lang="en-US" sz="950" dirty="0">
                <a:solidFill>
                  <a:srgbClr val="A9C1B8"/>
                </a:solidFill>
              </a:rPr>
              <a:t>55 features valid? else block</a:t>
            </a:r>
            <a:endParaRPr lang="en-US" sz="950" dirty="0"/>
          </a:p>
        </p:txBody>
      </p:sp>
      <p:sp>
        <p:nvSpPr>
          <p:cNvPr id="48" name="pipeline arrow 3"/>
          <p:cNvSpPr/>
          <p:nvPr/>
        </p:nvSpPr>
        <p:spPr>
          <a:xfrm>
            <a:off x="6673108" y="3108960"/>
            <a:ext cx="146304" cy="0"/>
          </a:xfrm>
          <a:prstGeom prst="line">
            <a:avLst/>
          </a:prstGeom>
          <a:noFill/>
          <a:ln w="22225">
            <a:solidFill>
              <a:srgbClr val="10B981"/>
            </a:solidFill>
            <a:prstDash val="solid"/>
            <a:tailEnd type="triangle"/>
          </a:ln>
        </p:spPr>
      </p:sp>
      <p:sp>
        <p:nvSpPr>
          <p:cNvPr id="49" name="module 4"/>
          <p:cNvSpPr/>
          <p:nvPr/>
        </p:nvSpPr>
        <p:spPr>
          <a:xfrm>
            <a:off x="6828556" y="2331720"/>
            <a:ext cx="1136233" cy="1691640"/>
          </a:xfrm>
          <a:prstGeom prst="roundRect">
            <a:avLst>
              <a:gd name="adj" fmla="val 6438"/>
            </a:avLst>
          </a:prstGeom>
          <a:solidFill>
            <a:srgbClr val="14221D"/>
          </a:solidFill>
          <a:ln w="15875">
            <a:solidFill>
              <a:srgbClr val="F87171"/>
            </a:solidFill>
            <a:prstDash val="solid"/>
          </a:ln>
        </p:spPr>
      </p:sp>
      <p:pic>
        <p:nvPicPr>
          <p:cNvPr id="50" name="module icon 4" descr="preencoded.png">    </p:cNvPr>
          <p:cNvPicPr>
            <a:picLocks noChangeAspect="1"/>
          </p:cNvPicPr>
          <p:nvPr/>
        </p:nvPicPr>
        <p:blipFill>
          <a:blip r:embed="rId10"/>
          <a:stretch>
            <a:fillRect/>
          </a:stretch>
        </p:blipFill>
        <p:spPr>
          <a:xfrm>
            <a:off x="7195505" y="2441448"/>
            <a:ext cx="402336" cy="402336"/>
          </a:xfrm>
          <a:prstGeom prst="rect">
            <a:avLst/>
          </a:prstGeom>
        </p:spPr>
      </p:pic>
      <p:sp>
        <p:nvSpPr>
          <p:cNvPr id="51" name="Text 39"/>
          <p:cNvSpPr txBox="1"/>
          <p:nvPr/>
        </p:nvSpPr>
        <p:spPr>
          <a:xfrm>
            <a:off x="6874276" y="2880360"/>
            <a:ext cx="1044793" cy="457200"/>
          </a:xfrm>
          <a:prstGeom prst="rect">
            <a:avLst/>
          </a:prstGeom>
          <a:noFill/>
          <a:ln/>
        </p:spPr>
        <p:txBody>
          <a:bodyPr wrap="square" lIns="0" tIns="0" rIns="0" bIns="0" rtlCol="0" anchor="ctr"/>
          <a:lstStyle/>
          <a:p>
            <a:pPr algn="ctr" indent="0" marL="0">
              <a:buNone/>
            </a:pPr>
            <a:r>
              <a:rPr lang="en-US" sz="1150" b="1" dirty="0">
                <a:solidFill>
                  <a:srgbClr val="FFFFFF"/>
                </a:solidFill>
              </a:rPr>
              <a:t>Detection</a:t>
            </a:r>
            <a:endParaRPr lang="en-US" sz="1150" dirty="0"/>
          </a:p>
        </p:txBody>
      </p:sp>
      <p:sp>
        <p:nvSpPr>
          <p:cNvPr id="52" name="Text 40"/>
          <p:cNvSpPr txBox="1"/>
          <p:nvPr/>
        </p:nvSpPr>
        <p:spPr>
          <a:xfrm>
            <a:off x="6892564" y="3346704"/>
            <a:ext cx="1008217" cy="640080"/>
          </a:xfrm>
          <a:prstGeom prst="rect">
            <a:avLst/>
          </a:prstGeom>
          <a:noFill/>
          <a:ln/>
        </p:spPr>
        <p:txBody>
          <a:bodyPr wrap="square" lIns="0" tIns="0" rIns="0" bIns="0" rtlCol="0" anchor="t"/>
          <a:lstStyle/>
          <a:p>
            <a:pPr algn="ctr" indent="0" marL="0">
              <a:buNone/>
            </a:pPr>
            <a:r>
              <a:rPr lang="en-US" sz="950" dirty="0">
                <a:solidFill>
                  <a:srgbClr val="A9C1B8"/>
                </a:solidFill>
              </a:rPr>
              <a:t>Random Forest + Isolation Forest · pinned model hashes</a:t>
            </a:r>
            <a:endParaRPr lang="en-US" sz="950" dirty="0"/>
          </a:p>
        </p:txBody>
      </p:sp>
      <p:sp>
        <p:nvSpPr>
          <p:cNvPr id="53" name="pipeline arrow 4"/>
          <p:cNvSpPr/>
          <p:nvPr/>
        </p:nvSpPr>
        <p:spPr>
          <a:xfrm>
            <a:off x="7973934" y="3108960"/>
            <a:ext cx="146304" cy="0"/>
          </a:xfrm>
          <a:prstGeom prst="line">
            <a:avLst/>
          </a:prstGeom>
          <a:noFill/>
          <a:ln w="22225">
            <a:solidFill>
              <a:srgbClr val="10B981"/>
            </a:solidFill>
            <a:prstDash val="solid"/>
            <a:tailEnd type="triangle"/>
          </a:ln>
        </p:spPr>
      </p:sp>
      <p:sp>
        <p:nvSpPr>
          <p:cNvPr id="54" name="module 5"/>
          <p:cNvSpPr/>
          <p:nvPr/>
        </p:nvSpPr>
        <p:spPr>
          <a:xfrm>
            <a:off x="8129382" y="2331720"/>
            <a:ext cx="1136233" cy="1691640"/>
          </a:xfrm>
          <a:prstGeom prst="roundRect">
            <a:avLst>
              <a:gd name="adj" fmla="val 6438"/>
            </a:avLst>
          </a:prstGeom>
          <a:solidFill>
            <a:srgbClr val="14221D"/>
          </a:solidFill>
          <a:ln w="15875">
            <a:solidFill>
              <a:srgbClr val="A3E635"/>
            </a:solidFill>
            <a:prstDash val="solid"/>
          </a:ln>
        </p:spPr>
      </p:sp>
      <p:pic>
        <p:nvPicPr>
          <p:cNvPr id="55" name="module icon 5" descr="preencoded.png">    </p:cNvPr>
          <p:cNvPicPr>
            <a:picLocks noChangeAspect="1"/>
          </p:cNvPicPr>
          <p:nvPr/>
        </p:nvPicPr>
        <p:blipFill>
          <a:blip r:embed="rId11"/>
          <a:stretch>
            <a:fillRect/>
          </a:stretch>
        </p:blipFill>
        <p:spPr>
          <a:xfrm>
            <a:off x="8496330" y="2441448"/>
            <a:ext cx="402336" cy="402336"/>
          </a:xfrm>
          <a:prstGeom prst="rect">
            <a:avLst/>
          </a:prstGeom>
        </p:spPr>
      </p:pic>
      <p:sp>
        <p:nvSpPr>
          <p:cNvPr id="56" name="Text 43"/>
          <p:cNvSpPr txBox="1"/>
          <p:nvPr/>
        </p:nvSpPr>
        <p:spPr>
          <a:xfrm>
            <a:off x="8175102" y="2880360"/>
            <a:ext cx="1044793" cy="457200"/>
          </a:xfrm>
          <a:prstGeom prst="rect">
            <a:avLst/>
          </a:prstGeom>
          <a:noFill/>
          <a:ln/>
        </p:spPr>
        <p:txBody>
          <a:bodyPr wrap="square" lIns="0" tIns="0" rIns="0" bIns="0" rtlCol="0" anchor="ctr"/>
          <a:lstStyle/>
          <a:p>
            <a:pPr algn="ctr" indent="0" marL="0">
              <a:buNone/>
            </a:pPr>
            <a:r>
              <a:rPr lang="en-US" sz="1150" b="1" dirty="0">
                <a:solidFill>
                  <a:srgbClr val="FFFFFF"/>
                </a:solidFill>
              </a:rPr>
              <a:t>Explainable AI</a:t>
            </a:r>
            <a:endParaRPr lang="en-US" sz="1150" dirty="0"/>
          </a:p>
        </p:txBody>
      </p:sp>
      <p:sp>
        <p:nvSpPr>
          <p:cNvPr id="57" name="Text 44"/>
          <p:cNvSpPr txBox="1"/>
          <p:nvPr/>
        </p:nvSpPr>
        <p:spPr>
          <a:xfrm>
            <a:off x="8193390" y="3346704"/>
            <a:ext cx="1008217" cy="640080"/>
          </a:xfrm>
          <a:prstGeom prst="rect">
            <a:avLst/>
          </a:prstGeom>
          <a:noFill/>
          <a:ln/>
        </p:spPr>
        <p:txBody>
          <a:bodyPr wrap="square" lIns="0" tIns="0" rIns="0" bIns="0" rtlCol="0" anchor="t"/>
          <a:lstStyle/>
          <a:p>
            <a:pPr algn="ctr" indent="0" marL="0">
              <a:buNone/>
            </a:pPr>
            <a:r>
              <a:rPr lang="en-US" sz="950" dirty="0">
                <a:solidFill>
                  <a:srgbClr val="A9C1B8"/>
                </a:solidFill>
              </a:rPr>
              <a:t>SHAP + LIME · plain English</a:t>
            </a:r>
            <a:endParaRPr lang="en-US" sz="950" dirty="0"/>
          </a:p>
        </p:txBody>
      </p:sp>
      <p:sp>
        <p:nvSpPr>
          <p:cNvPr id="58" name="integrity layer"/>
          <p:cNvSpPr/>
          <p:nvPr/>
        </p:nvSpPr>
        <p:spPr>
          <a:xfrm>
            <a:off x="2926080" y="4206240"/>
            <a:ext cx="3803721" cy="868680"/>
          </a:xfrm>
          <a:prstGeom prst="roundRect">
            <a:avLst>
              <a:gd name="adj" fmla="val 8421"/>
            </a:avLst>
          </a:prstGeom>
          <a:solidFill>
            <a:srgbClr val="0B2A1F"/>
          </a:solidFill>
          <a:ln w="15875">
            <a:solidFill>
              <a:srgbClr val="10B981"/>
            </a:solidFill>
            <a:prstDash val="solid"/>
          </a:ln>
        </p:spPr>
      </p:sp>
      <p:pic>
        <p:nvPicPr>
          <p:cNvPr id="59" name="integrity icon" descr="preencoded.png">    </p:cNvPr>
          <p:cNvPicPr>
            <a:picLocks noChangeAspect="1"/>
          </p:cNvPicPr>
          <p:nvPr/>
        </p:nvPicPr>
        <p:blipFill>
          <a:blip r:embed="rId12"/>
          <a:stretch>
            <a:fillRect/>
          </a:stretch>
        </p:blipFill>
        <p:spPr>
          <a:xfrm>
            <a:off x="3063240" y="4389120"/>
            <a:ext cx="438912" cy="438912"/>
          </a:xfrm>
          <a:prstGeom prst="rect">
            <a:avLst/>
          </a:prstGeom>
        </p:spPr>
      </p:pic>
      <p:sp>
        <p:nvSpPr>
          <p:cNvPr id="60" name="Text 46"/>
          <p:cNvSpPr txBox="1"/>
          <p:nvPr/>
        </p:nvSpPr>
        <p:spPr>
          <a:xfrm>
            <a:off x="3611880" y="4224528"/>
            <a:ext cx="3026481" cy="822960"/>
          </a:xfrm>
          <a:prstGeom prst="rect">
            <a:avLst/>
          </a:prstGeom>
          <a:noFill/>
          <a:ln/>
        </p:spPr>
        <p:txBody>
          <a:bodyPr wrap="square" lIns="0" tIns="0" rIns="0" bIns="0" rtlCol="0" anchor="ctr"/>
          <a:lstStyle/>
          <a:p>
            <a:pPr indent="0" marL="0">
              <a:buNone/>
            </a:pPr>
            <a:r>
              <a:rPr lang="en-US" sz="1200" b="1" dirty="0">
                <a:solidFill>
                  <a:srgbClr val="6EE7B7"/>
                </a:solidFill>
              </a:rPr>
              <a:t>Integrity &amp; custody ledger</a:t>
            </a:r>
            <a:endParaRPr lang="en-US" sz="1200" dirty="0"/>
          </a:p>
          <a:p>
            <a:pPr indent="0" marL="0">
              <a:buNone/>
            </a:pPr>
            <a:r>
              <a:rPr lang="en-US" sz="1000" dirty="0">
                <a:solidFill>
                  <a:srgbClr val="E3F2EC"/>
                </a:solidFill>
              </a:rPr>
              <a:t>evidence_integrity.py · SHA-256 + MD5 at every stage · HMAC-linked ledger · mismatch blocks analysis</a:t>
            </a:r>
            <a:endParaRPr lang="en-US" sz="1200" dirty="0"/>
          </a:p>
        </p:txBody>
      </p:sp>
      <p:sp>
        <p:nvSpPr>
          <p:cNvPr id="61" name="audit layer"/>
          <p:cNvSpPr/>
          <p:nvPr/>
        </p:nvSpPr>
        <p:spPr>
          <a:xfrm>
            <a:off x="6866961" y="4206240"/>
            <a:ext cx="2398654" cy="868680"/>
          </a:xfrm>
          <a:prstGeom prst="roundRect">
            <a:avLst>
              <a:gd name="adj" fmla="val 8421"/>
            </a:avLst>
          </a:prstGeom>
          <a:solidFill>
            <a:srgbClr val="0B2A1F"/>
          </a:solidFill>
          <a:ln w="15875">
            <a:solidFill>
              <a:srgbClr val="10B981"/>
            </a:solidFill>
            <a:prstDash val="solid"/>
          </a:ln>
        </p:spPr>
      </p:sp>
      <p:pic>
        <p:nvPicPr>
          <p:cNvPr id="62" name="audit icon" descr="preencoded.png">    </p:cNvPr>
          <p:cNvPicPr>
            <a:picLocks noChangeAspect="1"/>
          </p:cNvPicPr>
          <p:nvPr/>
        </p:nvPicPr>
        <p:blipFill>
          <a:blip r:embed="rId13"/>
          <a:stretch>
            <a:fillRect/>
          </a:stretch>
        </p:blipFill>
        <p:spPr>
          <a:xfrm>
            <a:off x="7004121" y="4389120"/>
            <a:ext cx="438912" cy="438912"/>
          </a:xfrm>
          <a:prstGeom prst="rect">
            <a:avLst/>
          </a:prstGeom>
        </p:spPr>
      </p:pic>
      <p:sp>
        <p:nvSpPr>
          <p:cNvPr id="63" name="Text 48"/>
          <p:cNvSpPr txBox="1"/>
          <p:nvPr/>
        </p:nvSpPr>
        <p:spPr>
          <a:xfrm>
            <a:off x="7552761" y="4224528"/>
            <a:ext cx="1484254" cy="822960"/>
          </a:xfrm>
          <a:prstGeom prst="rect">
            <a:avLst/>
          </a:prstGeom>
          <a:noFill/>
          <a:ln/>
        </p:spPr>
        <p:txBody>
          <a:bodyPr wrap="square" lIns="0" tIns="0" rIns="0" bIns="0" rtlCol="0" anchor="ctr"/>
          <a:lstStyle/>
          <a:p>
            <a:pPr indent="0" marL="0">
              <a:buNone/>
            </a:pPr>
            <a:r>
              <a:rPr lang="en-US" sz="1200" b="1" dirty="0">
                <a:solidFill>
                  <a:srgbClr val="6EE7B7"/>
                </a:solidFill>
              </a:rPr>
              <a:t>Audit log</a:t>
            </a:r>
            <a:endParaRPr lang="en-US" sz="1200" dirty="0"/>
          </a:p>
          <a:p>
            <a:pPr indent="0" marL="0">
              <a:buNone/>
            </a:pPr>
            <a:r>
              <a:rPr lang="en-US" sz="1000" dirty="0">
                <a:solidFill>
                  <a:srgbClr val="E3F2EC"/>
                </a:solidFill>
              </a:rPr>
              <a:t>audit_log.py · HMAC-chained, every action</a:t>
            </a:r>
            <a:endParaRPr lang="en-US" sz="1200" dirty="0"/>
          </a:p>
        </p:txBody>
      </p:sp>
      <p:sp>
        <p:nvSpPr>
          <p:cNvPr id="64" name="pipeline to integrity"/>
          <p:cNvSpPr/>
          <p:nvPr/>
        </p:nvSpPr>
        <p:spPr>
          <a:xfrm>
            <a:off x="6095848" y="4041648"/>
            <a:ext cx="0" cy="146304"/>
          </a:xfrm>
          <a:prstGeom prst="line">
            <a:avLst/>
          </a:prstGeom>
          <a:noFill/>
          <a:ln w="22225">
            <a:solidFill>
              <a:srgbClr val="10B981"/>
            </a:solidFill>
            <a:prstDash val="solid"/>
            <a:headEnd type="triangle"/>
            <a:tailEnd type="triangle"/>
          </a:ln>
        </p:spPr>
      </p:sp>
      <p:sp>
        <p:nvSpPr>
          <p:cNvPr id="65" name="store 1"/>
          <p:cNvSpPr/>
          <p:nvPr/>
        </p:nvSpPr>
        <p:spPr>
          <a:xfrm>
            <a:off x="2926080" y="5257800"/>
            <a:ext cx="2021738" cy="960120"/>
          </a:xfrm>
          <a:prstGeom prst="roundRect">
            <a:avLst>
              <a:gd name="adj" fmla="val 7619"/>
            </a:avLst>
          </a:prstGeom>
          <a:solidFill>
            <a:srgbClr val="0F1A16"/>
          </a:solidFill>
          <a:ln w="15875">
            <a:solidFill>
              <a:srgbClr val="28403A"/>
            </a:solidFill>
            <a:prstDash val="solid"/>
          </a:ln>
        </p:spPr>
      </p:sp>
      <p:pic>
        <p:nvPicPr>
          <p:cNvPr id="66" name="store icon 1" descr="preencoded.png">    </p:cNvPr>
          <p:cNvPicPr>
            <a:picLocks noChangeAspect="1"/>
          </p:cNvPicPr>
          <p:nvPr/>
        </p:nvPicPr>
        <p:blipFill>
          <a:blip r:embed="rId14"/>
          <a:stretch>
            <a:fillRect/>
          </a:stretch>
        </p:blipFill>
        <p:spPr>
          <a:xfrm>
            <a:off x="3063240" y="5394960"/>
            <a:ext cx="329184" cy="329184"/>
          </a:xfrm>
          <a:prstGeom prst="rect">
            <a:avLst/>
          </a:prstGeom>
        </p:spPr>
      </p:pic>
      <p:sp>
        <p:nvSpPr>
          <p:cNvPr id="67" name="Text 51"/>
          <p:cNvSpPr txBox="1"/>
          <p:nvPr/>
        </p:nvSpPr>
        <p:spPr>
          <a:xfrm>
            <a:off x="3474720" y="5376672"/>
            <a:ext cx="1381658" cy="347472"/>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models/</a:t>
            </a:r>
            <a:endParaRPr lang="en-US" sz="1200" dirty="0"/>
          </a:p>
        </p:txBody>
      </p:sp>
      <p:sp>
        <p:nvSpPr>
          <p:cNvPr id="68" name="Text 52"/>
          <p:cNvSpPr txBox="1"/>
          <p:nvPr/>
        </p:nvSpPr>
        <p:spPr>
          <a:xfrm>
            <a:off x="3063240" y="5788152"/>
            <a:ext cx="1793138" cy="365760"/>
          </a:xfrm>
          <a:prstGeom prst="rect">
            <a:avLst/>
          </a:prstGeom>
          <a:noFill/>
          <a:ln/>
        </p:spPr>
        <p:txBody>
          <a:bodyPr wrap="square" lIns="0" tIns="0" rIns="0" bIns="0" rtlCol="0" anchor="t"/>
          <a:lstStyle/>
          <a:p>
            <a:pPr indent="0" marL="0">
              <a:buNone/>
            </a:pPr>
            <a:r>
              <a:rPr lang="en-US" sz="950" dirty="0">
                <a:solidFill>
                  <a:srgbClr val="A9C1B8"/>
                </a:solidFill>
              </a:rPr>
              <a:t>RF · IF · model_hashes.json</a:t>
            </a:r>
            <a:endParaRPr lang="en-US" sz="950" dirty="0"/>
          </a:p>
        </p:txBody>
      </p:sp>
      <p:sp>
        <p:nvSpPr>
          <p:cNvPr id="69" name="store 2"/>
          <p:cNvSpPr/>
          <p:nvPr/>
        </p:nvSpPr>
        <p:spPr>
          <a:xfrm>
            <a:off x="5084978" y="5257800"/>
            <a:ext cx="2021738" cy="960120"/>
          </a:xfrm>
          <a:prstGeom prst="roundRect">
            <a:avLst>
              <a:gd name="adj" fmla="val 7619"/>
            </a:avLst>
          </a:prstGeom>
          <a:solidFill>
            <a:srgbClr val="0F1A16"/>
          </a:solidFill>
          <a:ln w="15875">
            <a:solidFill>
              <a:srgbClr val="28403A"/>
            </a:solidFill>
            <a:prstDash val="solid"/>
          </a:ln>
        </p:spPr>
      </p:sp>
      <p:pic>
        <p:nvPicPr>
          <p:cNvPr id="70" name="store icon 2" descr="preencoded.png">    </p:cNvPr>
          <p:cNvPicPr>
            <a:picLocks noChangeAspect="1"/>
          </p:cNvPicPr>
          <p:nvPr/>
        </p:nvPicPr>
        <p:blipFill>
          <a:blip r:embed="rId15"/>
          <a:stretch>
            <a:fillRect/>
          </a:stretch>
        </p:blipFill>
        <p:spPr>
          <a:xfrm>
            <a:off x="5222138" y="5394960"/>
            <a:ext cx="329184" cy="329184"/>
          </a:xfrm>
          <a:prstGeom prst="rect">
            <a:avLst/>
          </a:prstGeom>
        </p:spPr>
      </p:pic>
      <p:sp>
        <p:nvSpPr>
          <p:cNvPr id="71" name="Text 54"/>
          <p:cNvSpPr txBox="1"/>
          <p:nvPr/>
        </p:nvSpPr>
        <p:spPr>
          <a:xfrm>
            <a:off x="5633618" y="5376672"/>
            <a:ext cx="1381658" cy="347472"/>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outputs/cases/</a:t>
            </a:r>
            <a:endParaRPr lang="en-US" sz="1200" dirty="0"/>
          </a:p>
        </p:txBody>
      </p:sp>
      <p:sp>
        <p:nvSpPr>
          <p:cNvPr id="72" name="Text 55"/>
          <p:cNvSpPr txBox="1"/>
          <p:nvPr/>
        </p:nvSpPr>
        <p:spPr>
          <a:xfrm>
            <a:off x="5222138" y="5788152"/>
            <a:ext cx="1793138" cy="365760"/>
          </a:xfrm>
          <a:prstGeom prst="rect">
            <a:avLst/>
          </a:prstGeom>
          <a:noFill/>
          <a:ln/>
        </p:spPr>
        <p:txBody>
          <a:bodyPr wrap="square" lIns="0" tIns="0" rIns="0" bIns="0" rtlCol="0" anchor="t"/>
          <a:lstStyle/>
          <a:p>
            <a:pPr indent="0" marL="0">
              <a:buNone/>
            </a:pPr>
            <a:r>
              <a:rPr lang="en-US" sz="950" dirty="0">
                <a:solidFill>
                  <a:srgbClr val="A9C1B8"/>
                </a:solidFill>
              </a:rPr>
              <a:t>case.json · custody manifests · reports</a:t>
            </a:r>
            <a:endParaRPr lang="en-US" sz="950" dirty="0"/>
          </a:p>
        </p:txBody>
      </p:sp>
      <p:sp>
        <p:nvSpPr>
          <p:cNvPr id="73" name="store 3"/>
          <p:cNvSpPr/>
          <p:nvPr/>
        </p:nvSpPr>
        <p:spPr>
          <a:xfrm>
            <a:off x="7243877" y="5257800"/>
            <a:ext cx="2021738" cy="960120"/>
          </a:xfrm>
          <a:prstGeom prst="roundRect">
            <a:avLst>
              <a:gd name="adj" fmla="val 7619"/>
            </a:avLst>
          </a:prstGeom>
          <a:solidFill>
            <a:srgbClr val="0F1A16"/>
          </a:solidFill>
          <a:ln w="15875">
            <a:solidFill>
              <a:srgbClr val="28403A"/>
            </a:solidFill>
            <a:prstDash val="solid"/>
          </a:ln>
        </p:spPr>
      </p:sp>
      <p:pic>
        <p:nvPicPr>
          <p:cNvPr id="74" name="store icon 3" descr="preencoded.png">    </p:cNvPr>
          <p:cNvPicPr>
            <a:picLocks noChangeAspect="1"/>
          </p:cNvPicPr>
          <p:nvPr/>
        </p:nvPicPr>
        <p:blipFill>
          <a:blip r:embed="rId16"/>
          <a:stretch>
            <a:fillRect/>
          </a:stretch>
        </p:blipFill>
        <p:spPr>
          <a:xfrm>
            <a:off x="7381037" y="5394960"/>
            <a:ext cx="329184" cy="329184"/>
          </a:xfrm>
          <a:prstGeom prst="rect">
            <a:avLst/>
          </a:prstGeom>
        </p:spPr>
      </p:pic>
      <p:sp>
        <p:nvSpPr>
          <p:cNvPr id="75" name="Text 57"/>
          <p:cNvSpPr txBox="1"/>
          <p:nvPr/>
        </p:nvSpPr>
        <p:spPr>
          <a:xfrm>
            <a:off x="7792517" y="5376672"/>
            <a:ext cx="1381658" cy="347472"/>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keys/ · logs/</a:t>
            </a:r>
            <a:endParaRPr lang="en-US" sz="1200" dirty="0"/>
          </a:p>
        </p:txBody>
      </p:sp>
      <p:sp>
        <p:nvSpPr>
          <p:cNvPr id="76" name="Text 58"/>
          <p:cNvSpPr txBox="1"/>
          <p:nvPr/>
        </p:nvSpPr>
        <p:spPr>
          <a:xfrm>
            <a:off x="7381037" y="5788152"/>
            <a:ext cx="1793138" cy="365760"/>
          </a:xfrm>
          <a:prstGeom prst="rect">
            <a:avLst/>
          </a:prstGeom>
          <a:noFill/>
          <a:ln/>
        </p:spPr>
        <p:txBody>
          <a:bodyPr wrap="square" lIns="0" tIns="0" rIns="0" bIns="0" rtlCol="0" anchor="t"/>
          <a:lstStyle/>
          <a:p>
            <a:pPr indent="0" marL="0">
              <a:buNone/>
            </a:pPr>
            <a:r>
              <a:rPr lang="en-US" sz="950" dirty="0">
                <a:solidFill>
                  <a:srgbClr val="A9C1B8"/>
                </a:solidFill>
              </a:rPr>
              <a:t>HMAC key · accounts · audit log</a:t>
            </a:r>
            <a:endParaRPr lang="en-US" sz="950" dirty="0"/>
          </a:p>
        </p:txBody>
      </p:sp>
      <p:sp>
        <p:nvSpPr>
          <p:cNvPr id="77" name="outputs panel"/>
          <p:cNvSpPr/>
          <p:nvPr/>
        </p:nvSpPr>
        <p:spPr>
          <a:xfrm>
            <a:off x="9539935" y="1143000"/>
            <a:ext cx="2103120" cy="5074920"/>
          </a:xfrm>
          <a:prstGeom prst="roundRect">
            <a:avLst>
              <a:gd name="adj" fmla="val 3478"/>
            </a:avLst>
          </a:prstGeom>
          <a:solidFill>
            <a:srgbClr val="0F1A16"/>
          </a:solidFill>
          <a:ln w="15875">
            <a:solidFill>
              <a:srgbClr val="28403A"/>
            </a:solidFill>
            <a:prstDash val="solid"/>
          </a:ln>
        </p:spPr>
      </p:sp>
      <p:sp>
        <p:nvSpPr>
          <p:cNvPr id="78" name="Text 60"/>
          <p:cNvSpPr txBox="1"/>
          <p:nvPr/>
        </p:nvSpPr>
        <p:spPr>
          <a:xfrm>
            <a:off x="9704527" y="1243584"/>
            <a:ext cx="1828800" cy="274320"/>
          </a:xfrm>
          <a:prstGeom prst="rect">
            <a:avLst/>
          </a:prstGeom>
          <a:noFill/>
          <a:ln/>
        </p:spPr>
        <p:txBody>
          <a:bodyPr wrap="square" lIns="0" tIns="0" rIns="0" bIns="0" rtlCol="0" anchor="t"/>
          <a:lstStyle/>
          <a:p>
            <a:pPr indent="0" marL="0">
              <a:buNone/>
            </a:pPr>
            <a:r>
              <a:rPr lang="en-US" sz="1100" b="1" spc="200" kern="0" dirty="0">
                <a:solidFill>
                  <a:srgbClr val="6EE7B7"/>
                </a:solidFill>
              </a:rPr>
              <a:t>RESULTS OUT</a:t>
            </a:r>
            <a:endParaRPr lang="en-US" sz="1100" dirty="0"/>
          </a:p>
        </p:txBody>
      </p:sp>
      <p:sp>
        <p:nvSpPr>
          <p:cNvPr id="79" name="output 1"/>
          <p:cNvSpPr/>
          <p:nvPr/>
        </p:nvSpPr>
        <p:spPr>
          <a:xfrm>
            <a:off x="9649663" y="1600200"/>
            <a:ext cx="1883664" cy="1005840"/>
          </a:xfrm>
          <a:prstGeom prst="roundRect">
            <a:avLst>
              <a:gd name="adj" fmla="val 7273"/>
            </a:avLst>
          </a:prstGeom>
          <a:solidFill>
            <a:srgbClr val="14221D"/>
          </a:solidFill>
          <a:ln w="15875">
            <a:solidFill>
              <a:srgbClr val="28403A"/>
            </a:solidFill>
            <a:prstDash val="solid"/>
          </a:ln>
        </p:spPr>
      </p:sp>
      <p:pic>
        <p:nvPicPr>
          <p:cNvPr id="80" name="output icon 1" descr="preencoded.png">    </p:cNvPr>
          <p:cNvPicPr>
            <a:picLocks noChangeAspect="1"/>
          </p:cNvPicPr>
          <p:nvPr/>
        </p:nvPicPr>
        <p:blipFill>
          <a:blip r:embed="rId17"/>
          <a:stretch>
            <a:fillRect/>
          </a:stretch>
        </p:blipFill>
        <p:spPr>
          <a:xfrm>
            <a:off x="9768535" y="1728216"/>
            <a:ext cx="329184" cy="329184"/>
          </a:xfrm>
          <a:prstGeom prst="rect">
            <a:avLst/>
          </a:prstGeom>
        </p:spPr>
      </p:pic>
      <p:sp>
        <p:nvSpPr>
          <p:cNvPr id="81" name="Text 62"/>
          <p:cNvSpPr txBox="1"/>
          <p:nvPr/>
        </p:nvSpPr>
        <p:spPr>
          <a:xfrm>
            <a:off x="10180015" y="1709928"/>
            <a:ext cx="1325880" cy="365760"/>
          </a:xfrm>
          <a:prstGeom prst="rect">
            <a:avLst/>
          </a:prstGeom>
          <a:noFill/>
          <a:ln/>
        </p:spPr>
        <p:txBody>
          <a:bodyPr wrap="square" lIns="0" tIns="0" rIns="0" bIns="0" rtlCol="0" anchor="ctr"/>
          <a:lstStyle/>
          <a:p>
            <a:pPr indent="0" marL="0">
              <a:buNone/>
            </a:pPr>
            <a:r>
              <a:rPr lang="en-US" sz="1250" b="1" dirty="0">
                <a:solidFill>
                  <a:srgbClr val="E3F2EC"/>
                </a:solidFill>
              </a:rPr>
              <a:t>Risk verdict</a:t>
            </a:r>
            <a:endParaRPr lang="en-US" sz="1250" dirty="0"/>
          </a:p>
        </p:txBody>
      </p:sp>
      <p:sp>
        <p:nvSpPr>
          <p:cNvPr id="82" name="Text 63"/>
          <p:cNvSpPr txBox="1"/>
          <p:nvPr/>
        </p:nvSpPr>
        <p:spPr>
          <a:xfrm>
            <a:off x="9768535" y="2148840"/>
            <a:ext cx="1691640" cy="365760"/>
          </a:xfrm>
          <a:prstGeom prst="rect">
            <a:avLst/>
          </a:prstGeom>
          <a:noFill/>
          <a:ln/>
        </p:spPr>
        <p:txBody>
          <a:bodyPr wrap="square" lIns="0" tIns="0" rIns="0" bIns="0" rtlCol="0" anchor="t"/>
          <a:lstStyle/>
          <a:p>
            <a:pPr indent="0" marL="0">
              <a:buNone/>
            </a:pPr>
            <a:r>
              <a:rPr lang="en-US" sz="1000" dirty="0">
                <a:solidFill>
                  <a:srgbClr val="A9C1B8"/>
                </a:solidFill>
              </a:rPr>
              <a:t>score · risk tier · zero-day flag</a:t>
            </a:r>
            <a:endParaRPr lang="en-US" sz="1000" dirty="0"/>
          </a:p>
        </p:txBody>
      </p:sp>
      <p:sp>
        <p:nvSpPr>
          <p:cNvPr id="83" name="output 2"/>
          <p:cNvSpPr/>
          <p:nvPr/>
        </p:nvSpPr>
        <p:spPr>
          <a:xfrm>
            <a:off x="9649663" y="2743200"/>
            <a:ext cx="1883664" cy="1005840"/>
          </a:xfrm>
          <a:prstGeom prst="roundRect">
            <a:avLst>
              <a:gd name="adj" fmla="val 7273"/>
            </a:avLst>
          </a:prstGeom>
          <a:solidFill>
            <a:srgbClr val="14221D"/>
          </a:solidFill>
          <a:ln w="15875">
            <a:solidFill>
              <a:srgbClr val="28403A"/>
            </a:solidFill>
            <a:prstDash val="solid"/>
          </a:ln>
        </p:spPr>
      </p:sp>
      <p:pic>
        <p:nvPicPr>
          <p:cNvPr id="84" name="output icon 2" descr="preencoded.png">    </p:cNvPr>
          <p:cNvPicPr>
            <a:picLocks noChangeAspect="1"/>
          </p:cNvPicPr>
          <p:nvPr/>
        </p:nvPicPr>
        <p:blipFill>
          <a:blip r:embed="rId18"/>
          <a:stretch>
            <a:fillRect/>
          </a:stretch>
        </p:blipFill>
        <p:spPr>
          <a:xfrm>
            <a:off x="9768535" y="2871216"/>
            <a:ext cx="329184" cy="329184"/>
          </a:xfrm>
          <a:prstGeom prst="rect">
            <a:avLst/>
          </a:prstGeom>
        </p:spPr>
      </p:pic>
      <p:sp>
        <p:nvSpPr>
          <p:cNvPr id="85" name="Text 65"/>
          <p:cNvSpPr txBox="1"/>
          <p:nvPr/>
        </p:nvSpPr>
        <p:spPr>
          <a:xfrm>
            <a:off x="10180015" y="2852928"/>
            <a:ext cx="1325880" cy="365760"/>
          </a:xfrm>
          <a:prstGeom prst="rect">
            <a:avLst/>
          </a:prstGeom>
          <a:noFill/>
          <a:ln/>
        </p:spPr>
        <p:txBody>
          <a:bodyPr wrap="square" lIns="0" tIns="0" rIns="0" bIns="0" rtlCol="0" anchor="ctr"/>
          <a:lstStyle/>
          <a:p>
            <a:pPr indent="0" marL="0">
              <a:buNone/>
            </a:pPr>
            <a:r>
              <a:rPr lang="en-US" sz="1250" b="1" dirty="0">
                <a:solidFill>
                  <a:srgbClr val="E3F2EC"/>
                </a:solidFill>
              </a:rPr>
              <a:t>Explanations</a:t>
            </a:r>
            <a:endParaRPr lang="en-US" sz="1250" dirty="0"/>
          </a:p>
        </p:txBody>
      </p:sp>
      <p:sp>
        <p:nvSpPr>
          <p:cNvPr id="86" name="Text 66"/>
          <p:cNvSpPr txBox="1"/>
          <p:nvPr/>
        </p:nvSpPr>
        <p:spPr>
          <a:xfrm>
            <a:off x="9768535" y="3291840"/>
            <a:ext cx="1691640" cy="365760"/>
          </a:xfrm>
          <a:prstGeom prst="rect">
            <a:avLst/>
          </a:prstGeom>
          <a:noFill/>
          <a:ln/>
        </p:spPr>
        <p:txBody>
          <a:bodyPr wrap="square" lIns="0" tIns="0" rIns="0" bIns="0" rtlCol="0" anchor="t"/>
          <a:lstStyle/>
          <a:p>
            <a:pPr indent="0" marL="0">
              <a:buNone/>
            </a:pPr>
            <a:r>
              <a:rPr lang="en-US" sz="1000" dirty="0">
                <a:solidFill>
                  <a:srgbClr val="A9C1B8"/>
                </a:solidFill>
              </a:rPr>
              <a:t>top reasons, plain English</a:t>
            </a:r>
            <a:endParaRPr lang="en-US" sz="1000" dirty="0"/>
          </a:p>
        </p:txBody>
      </p:sp>
      <p:sp>
        <p:nvSpPr>
          <p:cNvPr id="87" name="output 3"/>
          <p:cNvSpPr/>
          <p:nvPr/>
        </p:nvSpPr>
        <p:spPr>
          <a:xfrm>
            <a:off x="9649663" y="3886200"/>
            <a:ext cx="1883664" cy="1005840"/>
          </a:xfrm>
          <a:prstGeom prst="roundRect">
            <a:avLst>
              <a:gd name="adj" fmla="val 7273"/>
            </a:avLst>
          </a:prstGeom>
          <a:solidFill>
            <a:srgbClr val="14221D"/>
          </a:solidFill>
          <a:ln w="15875">
            <a:solidFill>
              <a:srgbClr val="28403A"/>
            </a:solidFill>
            <a:prstDash val="solid"/>
          </a:ln>
        </p:spPr>
      </p:sp>
      <p:pic>
        <p:nvPicPr>
          <p:cNvPr id="88" name="output icon 3" descr="preencoded.png">    </p:cNvPr>
          <p:cNvPicPr>
            <a:picLocks noChangeAspect="1"/>
          </p:cNvPicPr>
          <p:nvPr/>
        </p:nvPicPr>
        <p:blipFill>
          <a:blip r:embed="rId19"/>
          <a:stretch>
            <a:fillRect/>
          </a:stretch>
        </p:blipFill>
        <p:spPr>
          <a:xfrm>
            <a:off x="9768535" y="4014216"/>
            <a:ext cx="329184" cy="329184"/>
          </a:xfrm>
          <a:prstGeom prst="rect">
            <a:avLst/>
          </a:prstGeom>
        </p:spPr>
      </p:pic>
      <p:sp>
        <p:nvSpPr>
          <p:cNvPr id="89" name="Text 68"/>
          <p:cNvSpPr txBox="1"/>
          <p:nvPr/>
        </p:nvSpPr>
        <p:spPr>
          <a:xfrm>
            <a:off x="10180015" y="3995928"/>
            <a:ext cx="1325880" cy="365760"/>
          </a:xfrm>
          <a:prstGeom prst="rect">
            <a:avLst/>
          </a:prstGeom>
          <a:noFill/>
          <a:ln/>
        </p:spPr>
        <p:txBody>
          <a:bodyPr wrap="square" lIns="0" tIns="0" rIns="0" bIns="0" rtlCol="0" anchor="ctr"/>
          <a:lstStyle/>
          <a:p>
            <a:pPr indent="0" marL="0">
              <a:buNone/>
            </a:pPr>
            <a:r>
              <a:rPr lang="en-US" sz="1250" b="1" dirty="0">
                <a:solidFill>
                  <a:srgbClr val="E3F2EC"/>
                </a:solidFill>
              </a:rPr>
              <a:t>Sealed PDF report</a:t>
            </a:r>
            <a:endParaRPr lang="en-US" sz="1250" dirty="0"/>
          </a:p>
        </p:txBody>
      </p:sp>
      <p:sp>
        <p:nvSpPr>
          <p:cNvPr id="90" name="Text 69"/>
          <p:cNvSpPr txBox="1"/>
          <p:nvPr/>
        </p:nvSpPr>
        <p:spPr>
          <a:xfrm>
            <a:off x="9768535" y="4434840"/>
            <a:ext cx="1691640" cy="365760"/>
          </a:xfrm>
          <a:prstGeom prst="rect">
            <a:avLst/>
          </a:prstGeom>
          <a:noFill/>
          <a:ln/>
        </p:spPr>
        <p:txBody>
          <a:bodyPr wrap="square" lIns="0" tIns="0" rIns="0" bIns="0" rtlCol="0" anchor="t"/>
          <a:lstStyle/>
          <a:p>
            <a:pPr indent="0" marL="0">
              <a:buNone/>
            </a:pPr>
            <a:r>
              <a:rPr lang="en-US" sz="1000" dirty="0">
                <a:solidFill>
                  <a:srgbClr val="A9C1B8"/>
                </a:solidFill>
              </a:rPr>
              <a:t>provenance + custody ledger</a:t>
            </a:r>
            <a:endParaRPr lang="en-US" sz="1000" dirty="0"/>
          </a:p>
        </p:txBody>
      </p:sp>
      <p:sp>
        <p:nvSpPr>
          <p:cNvPr id="91" name="output 4"/>
          <p:cNvSpPr/>
          <p:nvPr/>
        </p:nvSpPr>
        <p:spPr>
          <a:xfrm>
            <a:off x="9649663" y="5029200"/>
            <a:ext cx="1883664" cy="1005840"/>
          </a:xfrm>
          <a:prstGeom prst="roundRect">
            <a:avLst>
              <a:gd name="adj" fmla="val 7273"/>
            </a:avLst>
          </a:prstGeom>
          <a:solidFill>
            <a:srgbClr val="14221D"/>
          </a:solidFill>
          <a:ln w="15875">
            <a:solidFill>
              <a:srgbClr val="28403A"/>
            </a:solidFill>
            <a:prstDash val="solid"/>
          </a:ln>
        </p:spPr>
      </p:sp>
      <p:pic>
        <p:nvPicPr>
          <p:cNvPr id="92" name="output icon 4" descr="preencoded.png">    </p:cNvPr>
          <p:cNvPicPr>
            <a:picLocks noChangeAspect="1"/>
          </p:cNvPicPr>
          <p:nvPr/>
        </p:nvPicPr>
        <p:blipFill>
          <a:blip r:embed="rId20"/>
          <a:stretch>
            <a:fillRect/>
          </a:stretch>
        </p:blipFill>
        <p:spPr>
          <a:xfrm>
            <a:off x="9768535" y="5157216"/>
            <a:ext cx="329184" cy="329184"/>
          </a:xfrm>
          <a:prstGeom prst="rect">
            <a:avLst/>
          </a:prstGeom>
        </p:spPr>
      </p:pic>
      <p:sp>
        <p:nvSpPr>
          <p:cNvPr id="93" name="Text 71"/>
          <p:cNvSpPr txBox="1"/>
          <p:nvPr/>
        </p:nvSpPr>
        <p:spPr>
          <a:xfrm>
            <a:off x="10180015" y="5138928"/>
            <a:ext cx="1325880" cy="365760"/>
          </a:xfrm>
          <a:prstGeom prst="rect">
            <a:avLst/>
          </a:prstGeom>
          <a:noFill/>
          <a:ln/>
        </p:spPr>
        <p:txBody>
          <a:bodyPr wrap="square" lIns="0" tIns="0" rIns="0" bIns="0" rtlCol="0" anchor="ctr"/>
          <a:lstStyle/>
          <a:p>
            <a:pPr indent="0" marL="0">
              <a:buNone/>
            </a:pPr>
            <a:r>
              <a:rPr lang="en-US" sz="1250" b="1" dirty="0">
                <a:solidFill>
                  <a:srgbClr val="E3F2EC"/>
                </a:solidFill>
              </a:rPr>
              <a:t>Offline assistant</a:t>
            </a:r>
            <a:endParaRPr lang="en-US" sz="1250" dirty="0"/>
          </a:p>
        </p:txBody>
      </p:sp>
      <p:sp>
        <p:nvSpPr>
          <p:cNvPr id="94" name="Text 72"/>
          <p:cNvSpPr txBox="1"/>
          <p:nvPr/>
        </p:nvSpPr>
        <p:spPr>
          <a:xfrm>
            <a:off x="9768535" y="5577840"/>
            <a:ext cx="1691640" cy="365760"/>
          </a:xfrm>
          <a:prstGeom prst="rect">
            <a:avLst/>
          </a:prstGeom>
          <a:noFill/>
          <a:ln/>
        </p:spPr>
        <p:txBody>
          <a:bodyPr wrap="square" lIns="0" tIns="0" rIns="0" bIns="0" rtlCol="0" anchor="t"/>
          <a:lstStyle/>
          <a:p>
            <a:pPr indent="0" marL="0">
              <a:buNone/>
            </a:pPr>
            <a:r>
              <a:rPr lang="en-US" sz="1000" dirty="0">
                <a:solidFill>
                  <a:srgbClr val="A9C1B8"/>
                </a:solidFill>
              </a:rPr>
              <a:t>explains the result</a:t>
            </a:r>
            <a:endParaRPr lang="en-US" sz="1000" dirty="0"/>
          </a:p>
        </p:txBody>
      </p:sp>
      <p:sp>
        <p:nvSpPr>
          <p:cNvPr id="95" name="pipeline to outputs"/>
          <p:cNvSpPr/>
          <p:nvPr/>
        </p:nvSpPr>
        <p:spPr>
          <a:xfrm>
            <a:off x="9274759" y="3108960"/>
            <a:ext cx="246888" cy="0"/>
          </a:xfrm>
          <a:prstGeom prst="line">
            <a:avLst/>
          </a:prstGeom>
          <a:noFill/>
          <a:ln w="22225">
            <a:solidFill>
              <a:srgbClr val="10B981"/>
            </a:solidFill>
            <a:prstDash val="solid"/>
            <a:tailEnd type="triangle"/>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1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logo circle"/>
          <p:cNvSpPr/>
          <p:nvPr/>
        </p:nvSpPr>
        <p:spPr>
          <a:xfrm>
            <a:off x="548640" y="685800"/>
            <a:ext cx="594360" cy="594360"/>
          </a:xfrm>
          <a:prstGeom prst="ellipse">
            <a:avLst/>
          </a:prstGeom>
          <a:solidFill>
            <a:srgbClr val="10B981"/>
          </a:solidFill>
          <a:ln w="12700">
            <a:solidFill>
              <a:srgbClr val="10B981"/>
            </a:solidFill>
            <a:prstDash val="solid"/>
          </a:ln>
        </p:spPr>
      </p:sp>
      <p:pic>
        <p:nvPicPr>
          <p:cNvPr id="3" name="logo icon" descr="preencoded.png">    </p:cNvPr>
          <p:cNvPicPr>
            <a:picLocks noChangeAspect="1"/>
          </p:cNvPicPr>
          <p:nvPr/>
        </p:nvPicPr>
        <p:blipFill>
          <a:blip r:embed="rId1"/>
          <a:stretch>
            <a:fillRect/>
          </a:stretch>
        </p:blipFill>
        <p:spPr>
          <a:xfrm>
            <a:off x="697230" y="834390"/>
            <a:ext cx="297180" cy="297180"/>
          </a:xfrm>
          <a:prstGeom prst="rect">
            <a:avLst/>
          </a:prstGeom>
        </p:spPr>
      </p:pic>
      <p:sp>
        <p:nvSpPr>
          <p:cNvPr id="4" name="Text 1"/>
          <p:cNvSpPr txBox="1"/>
          <p:nvPr/>
        </p:nvSpPr>
        <p:spPr>
          <a:xfrm>
            <a:off x="1280160" y="685800"/>
            <a:ext cx="3657600" cy="365760"/>
          </a:xfrm>
          <a:prstGeom prst="rect">
            <a:avLst/>
          </a:prstGeom>
          <a:noFill/>
          <a:ln/>
        </p:spPr>
        <p:txBody>
          <a:bodyPr wrap="square" lIns="0" tIns="0" rIns="0" bIns="0" rtlCol="0" anchor="t"/>
          <a:lstStyle/>
          <a:p>
            <a:pPr indent="0" marL="0">
              <a:buNone/>
            </a:pPr>
            <a:r>
              <a:rPr lang="en-US" sz="1800" b="1" dirty="0">
                <a:solidFill>
                  <a:srgbClr val="FFFFFF"/>
                </a:solidFill>
              </a:rPr>
              <a:t>MemTriage </a:t>
            </a:r>
            <a:pPr indent="0" marL="0">
              <a:buNone/>
            </a:pPr>
            <a:r>
              <a:rPr lang="en-US" sz="1800" b="1" dirty="0">
                <a:solidFill>
                  <a:srgbClr val="6EE7B7"/>
                </a:solidFill>
              </a:rPr>
              <a:t>XAI</a:t>
            </a:r>
            <a:endParaRPr lang="en-US" sz="1800" dirty="0"/>
          </a:p>
        </p:txBody>
      </p:sp>
      <p:sp>
        <p:nvSpPr>
          <p:cNvPr id="5" name="Text 2"/>
          <p:cNvSpPr txBox="1"/>
          <p:nvPr/>
        </p:nvSpPr>
        <p:spPr>
          <a:xfrm>
            <a:off x="1280160" y="1005840"/>
            <a:ext cx="3657600" cy="274320"/>
          </a:xfrm>
          <a:prstGeom prst="rect">
            <a:avLst/>
          </a:prstGeom>
          <a:noFill/>
          <a:ln/>
        </p:spPr>
        <p:txBody>
          <a:bodyPr wrap="square" lIns="0" tIns="0" rIns="0" bIns="0" rtlCol="0" anchor="t"/>
          <a:lstStyle/>
          <a:p>
            <a:pPr indent="0" marL="0">
              <a:buNone/>
            </a:pPr>
            <a:r>
              <a:rPr lang="en-US" sz="1200" dirty="0">
                <a:solidFill>
                  <a:srgbClr val="A9C1B8"/>
                </a:solidFill>
              </a:rPr>
              <a:t>Memory forensics lab</a:t>
            </a:r>
            <a:endParaRPr lang="en-US" sz="1200" dirty="0"/>
          </a:p>
        </p:txBody>
      </p:sp>
      <p:sp>
        <p:nvSpPr>
          <p:cNvPr id="6"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r>
              <a:rPr lang="en-US" sz="3800" b="1" dirty="0">
                <a:solidFill>
                  <a:srgbClr val="FFFFFF"/>
                </a:solidFill>
              </a:rPr>
              <a:t>Thank you</a:t>
            </a:r>
            <a:endParaRPr lang="en-US" sz="3800" dirty="0"/>
          </a:p>
        </p:txBody>
      </p:sp>
      <p:sp>
        <p:nvSpPr>
          <p:cNvPr id="7"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r>
              <a:rPr lang="en-US" sz="1800" dirty="0">
                <a:solidFill>
                  <a:srgbClr val="10B981"/>
                </a:solidFill>
              </a:rPr>
              <a:t>Questions are welcome</a:t>
            </a:r>
            <a:endParaRPr lang="en-US" sz="1800" dirty="0"/>
          </a:p>
        </p:txBody>
      </p:sp>
      <p:sp>
        <p:nvSpPr>
          <p:cNvPr id="8" name="Text 5"/>
          <p:cNvSpPr txBox="1"/>
          <p:nvPr/>
        </p:nvSpPr>
        <p:spPr>
          <a:xfrm>
            <a:off x="548640" y="5257800"/>
            <a:ext cx="7315200" cy="822960"/>
          </a:xfrm>
          <a:prstGeom prst="rect">
            <a:avLst/>
          </a:prstGeom>
          <a:noFill/>
          <a:ln/>
        </p:spPr>
        <p:txBody>
          <a:bodyPr wrap="square" lIns="0" tIns="0" rIns="0" bIns="0" rtlCol="0" anchor="t"/>
          <a:lstStyle/>
          <a:p>
            <a:pPr indent="0" marL="0">
              <a:buNone/>
            </a:pPr>
            <a:r>
              <a:rPr lang="en-US" sz="1400" b="1" dirty="0">
                <a:solidFill>
                  <a:srgbClr val="FFFFFF"/>
                </a:solidFill>
              </a:rPr>
              <a:t>Abdullah Azwar  ·  COBSCEHNS24.2P-017</a:t>
            </a:r>
            <a:endParaRPr lang="en-US" sz="1400" dirty="0"/>
          </a:p>
          <a:p>
            <a:pPr indent="0" marL="0">
              <a:buNone/>
            </a:pPr>
            <a:r>
              <a:rPr lang="en-US" sz="1400" dirty="0">
                <a:solidFill>
                  <a:srgbClr val="FFFFFF"/>
                </a:solidFill>
              </a:rPr>
              <a:t>Explainable AI-Based Memory Forensic Triage System</a:t>
            </a:r>
            <a:endParaRPr lang="en-US" sz="1400" dirty="0"/>
          </a:p>
        </p:txBody>
      </p:sp>
      <p:sp>
        <p:nvSpPr>
          <p:cNvPr id="9" name="questions circle"/>
          <p:cNvSpPr/>
          <p:nvPr/>
        </p:nvSpPr>
        <p:spPr>
          <a:xfrm>
            <a:off x="9509760" y="2194560"/>
            <a:ext cx="1828800" cy="1828800"/>
          </a:xfrm>
          <a:prstGeom prst="ellipse">
            <a:avLst/>
          </a:prstGeom>
          <a:solidFill>
            <a:srgbClr val="10B981"/>
          </a:solidFill>
          <a:ln w="12700">
            <a:solidFill>
              <a:srgbClr val="10B981"/>
            </a:solidFill>
            <a:prstDash val="solid"/>
          </a:ln>
        </p:spPr>
      </p:sp>
      <p:pic>
        <p:nvPicPr>
          <p:cNvPr id="10" name="questions icon" descr="preencoded.png">    </p:cNvPr>
          <p:cNvPicPr>
            <a:picLocks noChangeAspect="1"/>
          </p:cNvPicPr>
          <p:nvPr/>
        </p:nvPicPr>
        <p:blipFill>
          <a:blip r:embed="rId2"/>
          <a:stretch>
            <a:fillRect/>
          </a:stretch>
        </p:blipFill>
        <p:spPr>
          <a:xfrm>
            <a:off x="9966960" y="2651760"/>
            <a:ext cx="914400" cy="914400"/>
          </a:xfrm>
          <a:prstGeom prst="rect">
            <a:avLst/>
          </a:prstGeom>
        </p:spPr>
      </p:pic>
    </p:spTree>
  </p:cSld>
  <p:clrMapOvr>
    <a:masterClrMapping/>
  </p:clrMapOvr>
</p:sld>
</file>

<file path=ppt/theme/theme1.xml><?xml version="1.0" encoding="utf-8"?>
<a:theme xmlns:a="http://schemas.openxmlformats.org/drawingml/2006/main" name="Emerald Forensics">
  <a:themeElements>
    <a:clrScheme name="Emerald Forensics">
      <a:dk1>
        <a:srgbClr val="070D0B"/>
      </a:dk1>
      <a:lt1>
        <a:srgbClr val="FFFFFF"/>
      </a:lt1>
      <a:dk2>
        <a:srgbClr val="050A08"/>
      </a:dk2>
      <a:lt2>
        <a:srgbClr val="0F1A16"/>
      </a:lt2>
      <a:accent1>
        <a:srgbClr val="2DD4BF"/>
      </a:accent1>
      <a:accent2>
        <a:srgbClr val="F87171"/>
      </a:accent2>
      <a:accent3>
        <a:srgbClr val="10B981"/>
      </a:accent3>
      <a:accent4>
        <a:srgbClr val="F5B83D"/>
      </a:accent4>
      <a:accent5>
        <a:srgbClr val="A78BFA"/>
      </a:accent5>
      <a:accent6>
        <a:srgbClr val="3987E5"/>
      </a:accent6>
      <a:hlink>
        <a:srgbClr val="3987E5"/>
      </a:hlink>
      <a:folHlink>
        <a:srgbClr val="A78BFA"/>
      </a:folHlink>
    </a:clrScheme>
    <a:fontScheme name="Emerald Forensic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AI-Based Memory Forensic Triage System — Methodology</dc:title>
  <dc:subject>Final-year project viva — methodology</dc:subject>
  <dc:creator>Abdullah Azwar</dc:creator>
  <cp:lastModifiedBy>Abdullah Azwar</cp:lastModifiedBy>
  <cp:revision>1</cp:revision>
  <dcterms:created xsi:type="dcterms:W3CDTF">2026-10-12T09:34:38Z</dcterms:created>
  <dcterms:modified xsi:type="dcterms:W3CDTF">2026-10-12T09:34:38Z</dcterms:modified>
</cp:coreProperties>
</file>