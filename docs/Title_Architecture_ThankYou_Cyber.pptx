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ject" id="{ad448734-b799-a378-4ef3-f33506cad181}">
          <p14:sldIdLst>
            <p14:sldId id="256"/>
            <p14:sldId id="257"/>
            <p14:sldId id="25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project is an explainable AI-based memory forensic triage system for detecting fileless malware. It does three things: it detects malware in a computer's memory, explains its decision in plain English, and protects the evidence so we can prove it was never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top-level architecture. On the left are the three inputs: a raw memory dump, a Volatility CSV, or a demo sample. The memory itself is captured with other tools such as DumpIt or WinPmem. The investigator works through a Streamlit web dashboard. Inside, evidence goes through four modules: case and evidence intake, feature extraction with Volatility 3, the detection engine with a Random Forest and an Isolation Forest, and the explainability module with SHAP and LIME. Underneath everything, the integrity layer re-checks the evidence hashes at nine stages and blocks analysis if anything changes. Trained models, case records and the audit log are stored at the bottom. On the right are the outputs: a risk verdict, a plain-English explanation and a sealed PDF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listening. I am happy to answer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rgbClr val="05080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778240" cy="1828800"/>
          </a:xfrm>
          <a:prstGeom prst="rect">
            <a:avLst/>
          </a:prstGeom>
          <a:noFill/>
          <a:ln/>
        </p:spPr>
        <p:txBody>
          <a:bodyPr wrap="square" rtlCol="0"/>
          <a:lstStyle>
            <a:lvl1pPr algn="l" indent="0" marL="0">
              <a:buNone/>
              <a:defRPr lang="en-US" sz="3800" b="1" dirty="0">
                <a:solidFill>
                  <a:srgbClr val="FFFFFF"/>
                </a:solidFill>
              </a:defRPr>
            </a:lvl1pPr>
          </a:lstStyle>
          <a:p>
            <a:pPr algn="l" indent="0" marL="0">
              <a:buNone/>
            </a:pPr>
            <a:endParaRPr lang="en-US" sz="3800" dirty="0"/>
          </a:p>
        </p:txBody>
      </p:sp>
      <p:sp>
        <p:nvSpPr>
          <p:cNvPr id="3" name="Text 0"/>
          <p:cNvSpPr/>
          <p:nvPr>
            <p:ph idx="101" type="body" hasCustomPrompt="1"/>
          </p:nvPr>
        </p:nvSpPr>
        <p:spPr>
          <a:xfrm>
            <a:off x="548640" y="3840480"/>
            <a:ext cx="8778240" cy="914400"/>
          </a:xfrm>
          <a:prstGeom prst="rect">
            <a:avLst/>
          </a:prstGeom>
          <a:noFill/>
          <a:ln/>
        </p:spPr>
        <p:txBody>
          <a:bodyPr wrap="square" rtlCol="0"/>
          <a:lstStyle>
            <a:lvl1pPr indent="0" marL="0">
              <a:buNone/>
              <a:defRPr lang="en-US" sz="1800" dirty="0">
                <a:solidFill>
                  <a:srgbClr val="39D353"/>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0D1117"/>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899855" cy="731520"/>
          </a:xfrm>
          <a:prstGeom prst="rect">
            <a:avLst/>
          </a:prstGeom>
          <a:noFill/>
          <a:ln/>
        </p:spPr>
        <p:txBody>
          <a:bodyPr wrap="square" rtlCol="0"/>
          <a:lstStyle>
            <a:lvl1pPr algn="l" indent="0" marL="0">
              <a:buNone/>
              <a:defRPr lang="en-US" sz="2800" b="1" dirty="0">
                <a:solidFill>
                  <a:srgbClr val="FFFFFF"/>
                </a:solidFill>
              </a:defRPr>
            </a:lvl1pPr>
          </a:lstStyle>
          <a:p>
            <a:pPr algn="l" indent="0" marL="0">
              <a:buNone/>
            </a:pPr>
            <a:endParaRPr lang="en-US" sz="2800" dirty="0"/>
          </a:p>
        </p:txBody>
      </p:sp>
      <p:sp>
        <p:nvSpPr>
          <p:cNvPr id="3" name="Text 0"/>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9DA7B3"/>
                </a:solidFill>
              </a:rPr>
              <a:t>Explainable AI Memory Forensic Triage  ·  Abdullah Azwar  ·  COBSCEHNS24.2P-017</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DA7B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DA7B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image" Target="../media/image-2-13.png"/><Relationship Id="rId14" Type="http://schemas.openxmlformats.org/officeDocument/2006/relationships/image" Target="../media/image-2-14.png"/><Relationship Id="rId15" Type="http://schemas.openxmlformats.org/officeDocument/2006/relationships/image" Target="../media/image-2-15.png"/><Relationship Id="rId16" Type="http://schemas.openxmlformats.org/officeDocument/2006/relationships/slideLayout" Target="../slideLayouts/slideLayout3.xml"/><Relationship Id="rId1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778240" cy="1828800"/>
          </a:xfrm>
          <a:prstGeom prst="rect">
            <a:avLst/>
          </a:prstGeom>
          <a:noFill/>
          <a:ln/>
        </p:spPr>
        <p:txBody>
          <a:bodyPr wrap="square" rtlCol="0" anchor="b"/>
          <a:lstStyle/>
          <a:p>
            <a:pPr algn="l" indent="0" marL="0">
              <a:buNone/>
            </a:pPr>
            <a:r>
              <a:rPr lang="en-US" sz="3800" b="1" dirty="0">
                <a:solidFill>
                  <a:srgbClr val="FFFFFF"/>
                </a:solidFill>
              </a:rPr>
              <a:t>Explainable AI-Based Memory Forensic Triage System for Detecting Fileless Malware</a:t>
            </a:r>
            <a:endParaRPr lang="en-US" sz="3800" dirty="0"/>
          </a:p>
        </p:txBody>
      </p:sp>
      <p:sp>
        <p:nvSpPr>
          <p:cNvPr id="3" name="Text 0"/>
          <p:cNvSpPr/>
          <p:nvPr>
            <p:ph idx="101" type="body" hasCustomPrompt="1"/>
          </p:nvPr>
        </p:nvSpPr>
        <p:spPr>
          <a:xfrm>
            <a:off x="548640" y="3840480"/>
            <a:ext cx="8778240" cy="914400"/>
          </a:xfrm>
          <a:prstGeom prst="rect">
            <a:avLst/>
          </a:prstGeom>
          <a:noFill/>
          <a:ln/>
        </p:spPr>
        <p:txBody>
          <a:bodyPr wrap="square" rtlCol="0" anchor="t"/>
          <a:lstStyle/>
          <a:p>
            <a:pPr indent="0" marL="0">
              <a:buNone/>
            </a:pPr>
            <a:r>
              <a:rPr lang="en-US" sz="1800" dirty="0">
                <a:solidFill>
                  <a:srgbClr val="39D353"/>
                </a:solidFill>
              </a:rPr>
              <a:t>Detect  ·  Explain  ·  Protect the evidence</a:t>
            </a:r>
            <a:endParaRPr lang="en-US" sz="1800" dirty="0"/>
          </a:p>
        </p:txBody>
      </p:sp>
      <p:sp>
        <p:nvSpPr>
          <p:cNvPr id="4" name="Text 2"/>
          <p:cNvSpPr txBox="1"/>
          <p:nvPr/>
        </p:nvSpPr>
        <p:spPr>
          <a:xfrm>
            <a:off x="548640" y="5120640"/>
            <a:ext cx="7315200" cy="1005840"/>
          </a:xfrm>
          <a:prstGeom prst="rect">
            <a:avLst/>
          </a:prstGeom>
          <a:noFill/>
          <a:ln/>
        </p:spPr>
        <p:txBody>
          <a:bodyPr wrap="square" lIns="0" tIns="0" rIns="0" bIns="0" rtlCol="0" anchor="t"/>
          <a:lstStyle/>
          <a:p>
            <a:pPr indent="0" marL="0">
              <a:buNone/>
            </a:pPr>
            <a:r>
              <a:rPr lang="en-US" sz="1500" b="1" dirty="0">
                <a:solidFill>
                  <a:srgbClr val="FFFFFF"/>
                </a:solidFill>
              </a:rPr>
              <a:t>Abdullah Azwar  ·  COBSCEHNS24.2P-017</a:t>
            </a:r>
            <a:endParaRPr lang="en-US" sz="1500" dirty="0"/>
          </a:p>
          <a:p>
            <a:pPr indent="0" marL="0">
              <a:buNone/>
            </a:pPr>
            <a:r>
              <a:rPr lang="en-US" sz="1500" dirty="0">
                <a:solidFill>
                  <a:srgbClr val="FFFFFF"/>
                </a:solidFill>
              </a:rPr>
              <a:t>BSc (Hons) in Ethical Hacking &amp; Network Security</a:t>
            </a:r>
            <a:endParaRPr lang="en-US" sz="1500" dirty="0"/>
          </a:p>
          <a:p>
            <a:pPr indent="0" marL="0">
              <a:buNone/>
            </a:pPr>
            <a:r>
              <a:rPr lang="en-US" sz="1500" dirty="0">
                <a:solidFill>
                  <a:srgbClr val="FFFFFF"/>
                </a:solidFill>
              </a:rPr>
              <a:t>Supervisor: Mr. Chathura Suduwella</a:t>
            </a:r>
            <a:endParaRPr lang="en-US" sz="1500" dirty="0"/>
          </a:p>
        </p:txBody>
      </p:sp>
      <p:sp>
        <p:nvSpPr>
          <p:cNvPr id="5" name="Text 3"/>
          <p:cNvSpPr txBox="1"/>
          <p:nvPr/>
        </p:nvSpPr>
        <p:spPr>
          <a:xfrm>
            <a:off x="548640" y="914400"/>
            <a:ext cx="8229600" cy="365760"/>
          </a:xfrm>
          <a:prstGeom prst="rect">
            <a:avLst/>
          </a:prstGeom>
          <a:noFill/>
          <a:ln/>
        </p:spPr>
        <p:txBody>
          <a:bodyPr wrap="square" lIns="0" tIns="0" rIns="0" bIns="0" rtlCol="0" anchor="t"/>
          <a:lstStyle/>
          <a:p>
            <a:pPr indent="0" marL="0">
              <a:buNone/>
            </a:pPr>
            <a:r>
              <a:rPr lang="en-US" sz="1400" dirty="0">
                <a:solidFill>
                  <a:srgbClr val="39D353"/>
                </a:solidFill>
                <a:latin typeface="Courier New" pitchFamily="34" charset="0"/>
                <a:ea typeface="Courier New" pitchFamily="34" charset="-122"/>
                <a:cs typeface="Courier New" pitchFamily="34" charset="-120"/>
              </a:rPr>
              <a:t>&gt; memory_triage --detect --explain --preserve</a:t>
            </a:r>
            <a:endParaRPr lang="en-US" sz="1400" dirty="0"/>
          </a:p>
        </p:txBody>
      </p:sp>
      <p:sp>
        <p:nvSpPr>
          <p:cNvPr id="6" name="hero circle"/>
          <p:cNvSpPr/>
          <p:nvPr/>
        </p:nvSpPr>
        <p:spPr>
          <a:xfrm>
            <a:off x="9692640" y="2103120"/>
            <a:ext cx="1828800" cy="1828800"/>
          </a:xfrm>
          <a:prstGeom prst="ellipse">
            <a:avLst/>
          </a:prstGeom>
          <a:solidFill>
            <a:srgbClr val="22D3EE"/>
          </a:solidFill>
          <a:ln w="12700">
            <a:solidFill>
              <a:srgbClr val="22D3EE"/>
            </a:solidFill>
            <a:prstDash val="solid"/>
          </a:ln>
        </p:spPr>
      </p:sp>
      <p:pic>
        <p:nvPicPr>
          <p:cNvPr id="7" name="hero icon" descr="preencoded.png">    </p:cNvPr>
          <p:cNvPicPr>
            <a:picLocks noChangeAspect="1"/>
          </p:cNvPicPr>
          <p:nvPr/>
        </p:nvPicPr>
        <p:blipFill>
          <a:blip r:embed="rId1"/>
          <a:stretch>
            <a:fillRect/>
          </a:stretch>
        </p:blipFill>
        <p:spPr>
          <a:xfrm>
            <a:off x="10149840" y="2560320"/>
            <a:ext cx="914400" cy="914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899855" cy="731520"/>
          </a:xfrm>
          <a:prstGeom prst="rect">
            <a:avLst/>
          </a:prstGeom>
          <a:noFill/>
          <a:ln/>
        </p:spPr>
        <p:txBody>
          <a:bodyPr wrap="square" rtlCol="0" anchor="ctr"/>
          <a:lstStyle/>
          <a:p>
            <a:pPr algn="l" indent="0" marL="0">
              <a:buNone/>
            </a:pPr>
            <a:r>
              <a:rPr lang="en-US" sz="2800" b="1" dirty="0">
                <a:solidFill>
                  <a:srgbClr val="FFFFFF"/>
                </a:solidFill>
              </a:rPr>
              <a:t>Top-level system architecture</a:t>
            </a:r>
            <a:endParaRPr lang="en-US" sz="2800" dirty="0"/>
          </a:p>
        </p:txBody>
      </p:sp>
      <p:sp>
        <p:nvSpPr>
          <p:cNvPr id="3" name="inputs panel"/>
          <p:cNvSpPr/>
          <p:nvPr/>
        </p:nvSpPr>
        <p:spPr>
          <a:xfrm>
            <a:off x="548640" y="1188720"/>
            <a:ext cx="2331720" cy="4937760"/>
          </a:xfrm>
          <a:prstGeom prst="roundRect">
            <a:avLst>
              <a:gd name="adj" fmla="val 3922"/>
            </a:avLst>
          </a:prstGeom>
          <a:solidFill>
            <a:srgbClr val="161B22"/>
          </a:solidFill>
          <a:ln w="15875">
            <a:solidFill>
              <a:srgbClr val="161B22"/>
            </a:solidFill>
            <a:prstDash val="solid"/>
          </a:ln>
        </p:spPr>
      </p:sp>
      <p:sp>
        <p:nvSpPr>
          <p:cNvPr id="4" name="Text 2"/>
          <p:cNvSpPr txBox="1"/>
          <p:nvPr/>
        </p:nvSpPr>
        <p:spPr>
          <a:xfrm>
            <a:off x="731520" y="1298448"/>
            <a:ext cx="1965960" cy="274320"/>
          </a:xfrm>
          <a:prstGeom prst="rect">
            <a:avLst/>
          </a:prstGeom>
          <a:noFill/>
          <a:ln/>
        </p:spPr>
        <p:txBody>
          <a:bodyPr wrap="square" lIns="0" tIns="0" rIns="0" bIns="0" rtlCol="0" anchor="t"/>
          <a:lstStyle/>
          <a:p>
            <a:pPr indent="0" marL="0">
              <a:buNone/>
            </a:pPr>
            <a:r>
              <a:rPr lang="en-US" sz="1200" b="1" spc="200" kern="0" dirty="0">
                <a:solidFill>
                  <a:srgbClr val="7EE787"/>
                </a:solidFill>
              </a:rPr>
              <a:t>INPUTS</a:t>
            </a:r>
            <a:endParaRPr lang="en-US" sz="1200" dirty="0"/>
          </a:p>
        </p:txBody>
      </p:sp>
      <p:sp>
        <p:nvSpPr>
          <p:cNvPr id="5" name="input 1"/>
          <p:cNvSpPr/>
          <p:nvPr/>
        </p:nvSpPr>
        <p:spPr>
          <a:xfrm>
            <a:off x="685800" y="1737360"/>
            <a:ext cx="2057400" cy="1234440"/>
          </a:xfrm>
          <a:prstGeom prst="roundRect">
            <a:avLst>
              <a:gd name="adj" fmla="val 7407"/>
            </a:avLst>
          </a:prstGeom>
          <a:solidFill>
            <a:srgbClr val="1C2330"/>
          </a:solidFill>
          <a:ln w="15875">
            <a:solidFill>
              <a:srgbClr val="30363D"/>
            </a:solidFill>
            <a:prstDash val="solid"/>
          </a:ln>
        </p:spPr>
      </p:sp>
      <p:pic>
        <p:nvPicPr>
          <p:cNvPr id="6" name="input icon 1" descr="preencoded.png">    </p:cNvPr>
          <p:cNvPicPr>
            <a:picLocks noChangeAspect="1"/>
          </p:cNvPicPr>
          <p:nvPr/>
        </p:nvPicPr>
        <p:blipFill>
          <a:blip r:embed="rId1"/>
          <a:stretch>
            <a:fillRect/>
          </a:stretch>
        </p:blipFill>
        <p:spPr>
          <a:xfrm>
            <a:off x="822960" y="1901952"/>
            <a:ext cx="411480" cy="411480"/>
          </a:xfrm>
          <a:prstGeom prst="rect">
            <a:avLst/>
          </a:prstGeom>
        </p:spPr>
      </p:pic>
      <p:sp>
        <p:nvSpPr>
          <p:cNvPr id="7" name="Text 4"/>
          <p:cNvSpPr txBox="1"/>
          <p:nvPr/>
        </p:nvSpPr>
        <p:spPr>
          <a:xfrm>
            <a:off x="822960" y="2377440"/>
            <a:ext cx="1783080" cy="292608"/>
          </a:xfrm>
          <a:prstGeom prst="rect">
            <a:avLst/>
          </a:prstGeom>
          <a:noFill/>
          <a:ln/>
        </p:spPr>
        <p:txBody>
          <a:bodyPr wrap="square" lIns="0" tIns="0" rIns="0" bIns="0" rtlCol="0" anchor="t"/>
          <a:lstStyle/>
          <a:p>
            <a:pPr indent="0" marL="0">
              <a:buNone/>
            </a:pPr>
            <a:r>
              <a:rPr lang="en-US" sz="1300" b="1" dirty="0">
                <a:solidFill>
                  <a:srgbClr val="E6EDF3"/>
                </a:solidFill>
              </a:rPr>
              <a:t>Memory dump</a:t>
            </a:r>
            <a:endParaRPr lang="en-US" sz="1300" dirty="0"/>
          </a:p>
        </p:txBody>
      </p:sp>
      <p:sp>
        <p:nvSpPr>
          <p:cNvPr id="8" name="Text 5"/>
          <p:cNvSpPr txBox="1"/>
          <p:nvPr/>
        </p:nvSpPr>
        <p:spPr>
          <a:xfrm>
            <a:off x="822960" y="2633472"/>
            <a:ext cx="1783080" cy="274320"/>
          </a:xfrm>
          <a:prstGeom prst="rect">
            <a:avLst/>
          </a:prstGeom>
          <a:noFill/>
          <a:ln/>
        </p:spPr>
        <p:txBody>
          <a:bodyPr wrap="square" lIns="0" tIns="0" rIns="0" bIns="0" rtlCol="0" anchor="t"/>
          <a:lstStyle/>
          <a:p>
            <a:pPr indent="0" marL="0">
              <a:buNone/>
            </a:pPr>
            <a:r>
              <a:rPr lang="en-US" sz="1100" dirty="0">
                <a:solidFill>
                  <a:srgbClr val="9DA7B3"/>
                </a:solidFill>
              </a:rPr>
              <a:t>.raw .mem .vmem .dmp</a:t>
            </a:r>
            <a:endParaRPr lang="en-US" sz="1100" dirty="0"/>
          </a:p>
        </p:txBody>
      </p:sp>
      <p:sp>
        <p:nvSpPr>
          <p:cNvPr id="9" name="input 2"/>
          <p:cNvSpPr/>
          <p:nvPr/>
        </p:nvSpPr>
        <p:spPr>
          <a:xfrm>
            <a:off x="685800" y="3154680"/>
            <a:ext cx="2057400" cy="1234440"/>
          </a:xfrm>
          <a:prstGeom prst="roundRect">
            <a:avLst>
              <a:gd name="adj" fmla="val 7407"/>
            </a:avLst>
          </a:prstGeom>
          <a:solidFill>
            <a:srgbClr val="1C2330"/>
          </a:solidFill>
          <a:ln w="15875">
            <a:solidFill>
              <a:srgbClr val="30363D"/>
            </a:solidFill>
            <a:prstDash val="solid"/>
          </a:ln>
        </p:spPr>
      </p:sp>
      <p:pic>
        <p:nvPicPr>
          <p:cNvPr id="10" name="input icon 2" descr="preencoded.png">    </p:cNvPr>
          <p:cNvPicPr>
            <a:picLocks noChangeAspect="1"/>
          </p:cNvPicPr>
          <p:nvPr/>
        </p:nvPicPr>
        <p:blipFill>
          <a:blip r:embed="rId2"/>
          <a:stretch>
            <a:fillRect/>
          </a:stretch>
        </p:blipFill>
        <p:spPr>
          <a:xfrm>
            <a:off x="822960" y="3319272"/>
            <a:ext cx="411480" cy="411480"/>
          </a:xfrm>
          <a:prstGeom prst="rect">
            <a:avLst/>
          </a:prstGeom>
        </p:spPr>
      </p:pic>
      <p:sp>
        <p:nvSpPr>
          <p:cNvPr id="11" name="Text 7"/>
          <p:cNvSpPr txBox="1"/>
          <p:nvPr/>
        </p:nvSpPr>
        <p:spPr>
          <a:xfrm>
            <a:off x="822960" y="3794760"/>
            <a:ext cx="1783080" cy="292608"/>
          </a:xfrm>
          <a:prstGeom prst="rect">
            <a:avLst/>
          </a:prstGeom>
          <a:noFill/>
          <a:ln/>
        </p:spPr>
        <p:txBody>
          <a:bodyPr wrap="square" lIns="0" tIns="0" rIns="0" bIns="0" rtlCol="0" anchor="t"/>
          <a:lstStyle/>
          <a:p>
            <a:pPr indent="0" marL="0">
              <a:buNone/>
            </a:pPr>
            <a:r>
              <a:rPr lang="en-US" sz="1300" b="1" dirty="0">
                <a:solidFill>
                  <a:srgbClr val="E6EDF3"/>
                </a:solidFill>
              </a:rPr>
              <a:t>Volatility CSV</a:t>
            </a:r>
            <a:endParaRPr lang="en-US" sz="1300" dirty="0"/>
          </a:p>
        </p:txBody>
      </p:sp>
      <p:sp>
        <p:nvSpPr>
          <p:cNvPr id="12" name="Text 8"/>
          <p:cNvSpPr txBox="1"/>
          <p:nvPr/>
        </p:nvSpPr>
        <p:spPr>
          <a:xfrm>
            <a:off x="822960" y="4050792"/>
            <a:ext cx="1783080" cy="274320"/>
          </a:xfrm>
          <a:prstGeom prst="rect">
            <a:avLst/>
          </a:prstGeom>
          <a:noFill/>
          <a:ln/>
        </p:spPr>
        <p:txBody>
          <a:bodyPr wrap="square" lIns="0" tIns="0" rIns="0" bIns="0" rtlCol="0" anchor="t"/>
          <a:lstStyle/>
          <a:p>
            <a:pPr indent="0" marL="0">
              <a:buNone/>
            </a:pPr>
            <a:r>
              <a:rPr lang="en-US" sz="1100" dirty="0">
                <a:solidFill>
                  <a:srgbClr val="9DA7B3"/>
                </a:solidFill>
              </a:rPr>
              <a:t>55 feature columns</a:t>
            </a:r>
            <a:endParaRPr lang="en-US" sz="1100" dirty="0"/>
          </a:p>
        </p:txBody>
      </p:sp>
      <p:sp>
        <p:nvSpPr>
          <p:cNvPr id="13" name="input 3"/>
          <p:cNvSpPr/>
          <p:nvPr/>
        </p:nvSpPr>
        <p:spPr>
          <a:xfrm>
            <a:off x="685800" y="4572000"/>
            <a:ext cx="2057400" cy="1234440"/>
          </a:xfrm>
          <a:prstGeom prst="roundRect">
            <a:avLst>
              <a:gd name="adj" fmla="val 7407"/>
            </a:avLst>
          </a:prstGeom>
          <a:solidFill>
            <a:srgbClr val="1C2330"/>
          </a:solidFill>
          <a:ln w="15875">
            <a:solidFill>
              <a:srgbClr val="30363D"/>
            </a:solidFill>
            <a:prstDash val="solid"/>
          </a:ln>
        </p:spPr>
      </p:sp>
      <p:pic>
        <p:nvPicPr>
          <p:cNvPr id="14" name="input icon 3" descr="preencoded.png">    </p:cNvPr>
          <p:cNvPicPr>
            <a:picLocks noChangeAspect="1"/>
          </p:cNvPicPr>
          <p:nvPr/>
        </p:nvPicPr>
        <p:blipFill>
          <a:blip r:embed="rId3"/>
          <a:stretch>
            <a:fillRect/>
          </a:stretch>
        </p:blipFill>
        <p:spPr>
          <a:xfrm>
            <a:off x="822960" y="4736592"/>
            <a:ext cx="411480" cy="411480"/>
          </a:xfrm>
          <a:prstGeom prst="rect">
            <a:avLst/>
          </a:prstGeom>
        </p:spPr>
      </p:pic>
      <p:sp>
        <p:nvSpPr>
          <p:cNvPr id="15" name="Text 10"/>
          <p:cNvSpPr txBox="1"/>
          <p:nvPr/>
        </p:nvSpPr>
        <p:spPr>
          <a:xfrm>
            <a:off x="822960" y="5212080"/>
            <a:ext cx="1783080" cy="292608"/>
          </a:xfrm>
          <a:prstGeom prst="rect">
            <a:avLst/>
          </a:prstGeom>
          <a:noFill/>
          <a:ln/>
        </p:spPr>
        <p:txBody>
          <a:bodyPr wrap="square" lIns="0" tIns="0" rIns="0" bIns="0" rtlCol="0" anchor="t"/>
          <a:lstStyle/>
          <a:p>
            <a:pPr indent="0" marL="0">
              <a:buNone/>
            </a:pPr>
            <a:r>
              <a:rPr lang="en-US" sz="1300" b="1" dirty="0">
                <a:solidFill>
                  <a:srgbClr val="E6EDF3"/>
                </a:solidFill>
              </a:rPr>
              <a:t>Sample profile</a:t>
            </a:r>
            <a:endParaRPr lang="en-US" sz="1300" dirty="0"/>
          </a:p>
        </p:txBody>
      </p:sp>
      <p:sp>
        <p:nvSpPr>
          <p:cNvPr id="16" name="Text 11"/>
          <p:cNvSpPr txBox="1"/>
          <p:nvPr/>
        </p:nvSpPr>
        <p:spPr>
          <a:xfrm>
            <a:off x="822960" y="5468112"/>
            <a:ext cx="1783080" cy="274320"/>
          </a:xfrm>
          <a:prstGeom prst="rect">
            <a:avLst/>
          </a:prstGeom>
          <a:noFill/>
          <a:ln/>
        </p:spPr>
        <p:txBody>
          <a:bodyPr wrap="square" lIns="0" tIns="0" rIns="0" bIns="0" rtlCol="0" anchor="t"/>
          <a:lstStyle/>
          <a:p>
            <a:pPr indent="0" marL="0">
              <a:buNone/>
            </a:pPr>
            <a:r>
              <a:rPr lang="en-US" sz="1100" dirty="0">
                <a:solidFill>
                  <a:srgbClr val="9DA7B3"/>
                </a:solidFill>
              </a:rPr>
              <a:t>demo files</a:t>
            </a:r>
            <a:endParaRPr lang="en-US" sz="1100" dirty="0"/>
          </a:p>
        </p:txBody>
      </p:sp>
      <p:sp>
        <p:nvSpPr>
          <p:cNvPr id="17" name="dashboard layer"/>
          <p:cNvSpPr/>
          <p:nvPr/>
        </p:nvSpPr>
        <p:spPr>
          <a:xfrm>
            <a:off x="3200400" y="1188720"/>
            <a:ext cx="5790895" cy="731520"/>
          </a:xfrm>
          <a:prstGeom prst="roundRect">
            <a:avLst>
              <a:gd name="adj" fmla="val 12500"/>
            </a:avLst>
          </a:prstGeom>
          <a:solidFill>
            <a:srgbClr val="0F2A1D"/>
          </a:solidFill>
          <a:ln w="15875">
            <a:solidFill>
              <a:srgbClr val="39D353"/>
            </a:solidFill>
            <a:prstDash val="solid"/>
          </a:ln>
        </p:spPr>
      </p:sp>
      <p:pic>
        <p:nvPicPr>
          <p:cNvPr id="18" name="analyst icon" descr="preencoded.png">    </p:cNvPr>
          <p:cNvPicPr>
            <a:picLocks noChangeAspect="1"/>
          </p:cNvPicPr>
          <p:nvPr/>
        </p:nvPicPr>
        <p:blipFill>
          <a:blip r:embed="rId4"/>
          <a:stretch>
            <a:fillRect/>
          </a:stretch>
        </p:blipFill>
        <p:spPr>
          <a:xfrm>
            <a:off x="3383280" y="1344168"/>
            <a:ext cx="420624" cy="420624"/>
          </a:xfrm>
          <a:prstGeom prst="rect">
            <a:avLst/>
          </a:prstGeom>
        </p:spPr>
      </p:pic>
      <p:sp>
        <p:nvSpPr>
          <p:cNvPr id="19" name="Text 13"/>
          <p:cNvSpPr txBox="1"/>
          <p:nvPr/>
        </p:nvSpPr>
        <p:spPr>
          <a:xfrm>
            <a:off x="3931920" y="1188720"/>
            <a:ext cx="4876495" cy="731520"/>
          </a:xfrm>
          <a:prstGeom prst="rect">
            <a:avLst/>
          </a:prstGeom>
          <a:noFill/>
          <a:ln/>
        </p:spPr>
        <p:txBody>
          <a:bodyPr wrap="square" lIns="0" tIns="0" rIns="0" bIns="0" rtlCol="0" anchor="ctr"/>
          <a:lstStyle/>
          <a:p>
            <a:pPr indent="0" marL="0">
              <a:buNone/>
            </a:pPr>
            <a:r>
              <a:rPr lang="en-US" sz="1350" b="1" dirty="0">
                <a:solidFill>
                  <a:srgbClr val="FFFFFF"/>
                </a:solidFill>
              </a:rPr>
              <a:t>Streamlit web dashboard  </a:t>
            </a:r>
            <a:pPr indent="0" marL="0">
              <a:buNone/>
            </a:pPr>
            <a:r>
              <a:rPr lang="en-US" sz="1350" dirty="0">
                <a:solidFill>
                  <a:srgbClr val="7EE787"/>
                </a:solidFill>
              </a:rPr>
              <a:t>app.py · investigator opens a case, uploads evidence, views results</a:t>
            </a:r>
            <a:endParaRPr lang="en-US" sz="1350" dirty="0"/>
          </a:p>
        </p:txBody>
      </p:sp>
      <p:sp>
        <p:nvSpPr>
          <p:cNvPr id="20" name="input to dashboard"/>
          <p:cNvSpPr/>
          <p:nvPr/>
        </p:nvSpPr>
        <p:spPr>
          <a:xfrm>
            <a:off x="2898648" y="1554480"/>
            <a:ext cx="265176" cy="0"/>
          </a:xfrm>
          <a:prstGeom prst="line">
            <a:avLst/>
          </a:prstGeom>
          <a:noFill/>
          <a:ln w="25400">
            <a:solidFill>
              <a:srgbClr val="7EE787"/>
            </a:solidFill>
            <a:prstDash val="solid"/>
            <a:tailEnd type="triangle"/>
          </a:ln>
        </p:spPr>
      </p:sp>
      <p:sp>
        <p:nvSpPr>
          <p:cNvPr id="21" name="dashboard to pipeline"/>
          <p:cNvSpPr/>
          <p:nvPr/>
        </p:nvSpPr>
        <p:spPr>
          <a:xfrm>
            <a:off x="6095848" y="1938528"/>
            <a:ext cx="0" cy="301752"/>
          </a:xfrm>
          <a:prstGeom prst="line">
            <a:avLst/>
          </a:prstGeom>
          <a:noFill/>
          <a:ln w="25400">
            <a:solidFill>
              <a:srgbClr val="7EE787"/>
            </a:solidFill>
            <a:prstDash val="solid"/>
            <a:headEnd type="triangle"/>
            <a:tailEnd type="triangle"/>
          </a:ln>
        </p:spPr>
      </p:sp>
      <p:sp>
        <p:nvSpPr>
          <p:cNvPr id="22" name="module 1"/>
          <p:cNvSpPr/>
          <p:nvPr/>
        </p:nvSpPr>
        <p:spPr>
          <a:xfrm>
            <a:off x="3200400" y="2286000"/>
            <a:ext cx="1276274" cy="1645920"/>
          </a:xfrm>
          <a:prstGeom prst="roundRect">
            <a:avLst>
              <a:gd name="adj" fmla="val 7165"/>
            </a:avLst>
          </a:prstGeom>
          <a:solidFill>
            <a:srgbClr val="1C2330"/>
          </a:solidFill>
          <a:ln w="15875">
            <a:solidFill>
              <a:srgbClr val="A78BFA"/>
            </a:solidFill>
            <a:prstDash val="solid"/>
          </a:ln>
        </p:spPr>
      </p:sp>
      <p:pic>
        <p:nvPicPr>
          <p:cNvPr id="23" name="module icon 1" descr="preencoded.png">    </p:cNvPr>
          <p:cNvPicPr>
            <a:picLocks noChangeAspect="1"/>
          </p:cNvPicPr>
          <p:nvPr/>
        </p:nvPicPr>
        <p:blipFill>
          <a:blip r:embed="rId5"/>
          <a:stretch>
            <a:fillRect/>
          </a:stretch>
        </p:blipFill>
        <p:spPr>
          <a:xfrm>
            <a:off x="3609937" y="2395728"/>
            <a:ext cx="457200" cy="457200"/>
          </a:xfrm>
          <a:prstGeom prst="rect">
            <a:avLst/>
          </a:prstGeom>
        </p:spPr>
      </p:pic>
      <p:sp>
        <p:nvSpPr>
          <p:cNvPr id="24" name="Text 17"/>
          <p:cNvSpPr txBox="1"/>
          <p:nvPr/>
        </p:nvSpPr>
        <p:spPr>
          <a:xfrm>
            <a:off x="3255264" y="2852928"/>
            <a:ext cx="1166546" cy="502920"/>
          </a:xfrm>
          <a:prstGeom prst="rect">
            <a:avLst/>
          </a:prstGeom>
          <a:noFill/>
          <a:ln/>
        </p:spPr>
        <p:txBody>
          <a:bodyPr wrap="square" lIns="0" tIns="0" rIns="0" bIns="0" rtlCol="0" anchor="ctr"/>
          <a:lstStyle/>
          <a:p>
            <a:pPr algn="ctr" indent="0" marL="0">
              <a:buNone/>
            </a:pPr>
            <a:r>
              <a:rPr lang="en-US" sz="1200" b="1" dirty="0">
                <a:solidFill>
                  <a:srgbClr val="E6EDF3"/>
                </a:solidFill>
              </a:rPr>
              <a:t>Evidence intake</a:t>
            </a:r>
            <a:endParaRPr lang="en-US" sz="1200" dirty="0"/>
          </a:p>
        </p:txBody>
      </p:sp>
      <p:sp>
        <p:nvSpPr>
          <p:cNvPr id="25" name="Text 18"/>
          <p:cNvSpPr txBox="1"/>
          <p:nvPr/>
        </p:nvSpPr>
        <p:spPr>
          <a:xfrm>
            <a:off x="3255264" y="3383280"/>
            <a:ext cx="1166546" cy="502920"/>
          </a:xfrm>
          <a:prstGeom prst="rect">
            <a:avLst/>
          </a:prstGeom>
          <a:noFill/>
          <a:ln/>
        </p:spPr>
        <p:txBody>
          <a:bodyPr wrap="square" lIns="0" tIns="0" rIns="0" bIns="0" rtlCol="0" anchor="t"/>
          <a:lstStyle/>
          <a:p>
            <a:pPr algn="ctr" indent="0" marL="0">
              <a:buNone/>
            </a:pPr>
            <a:r>
              <a:rPr lang="en-US" sz="1000" dirty="0">
                <a:solidFill>
                  <a:srgbClr val="9DA7B3"/>
                </a:solidFill>
              </a:rPr>
              <a:t>case no., analyst, time · evidence ID</a:t>
            </a:r>
            <a:endParaRPr lang="en-US" sz="1000" dirty="0"/>
          </a:p>
        </p:txBody>
      </p:sp>
      <p:sp>
        <p:nvSpPr>
          <p:cNvPr id="26" name="pipeline arrow 1"/>
          <p:cNvSpPr/>
          <p:nvPr/>
        </p:nvSpPr>
        <p:spPr>
          <a:xfrm>
            <a:off x="4494962" y="3063240"/>
            <a:ext cx="192024" cy="0"/>
          </a:xfrm>
          <a:prstGeom prst="line">
            <a:avLst/>
          </a:prstGeom>
          <a:noFill/>
          <a:ln w="25400">
            <a:solidFill>
              <a:srgbClr val="7EE787"/>
            </a:solidFill>
            <a:prstDash val="solid"/>
            <a:tailEnd type="triangle"/>
          </a:ln>
        </p:spPr>
      </p:sp>
      <p:sp>
        <p:nvSpPr>
          <p:cNvPr id="27" name="module 2"/>
          <p:cNvSpPr/>
          <p:nvPr/>
        </p:nvSpPr>
        <p:spPr>
          <a:xfrm>
            <a:off x="4705274" y="2286000"/>
            <a:ext cx="1276274" cy="1645920"/>
          </a:xfrm>
          <a:prstGeom prst="roundRect">
            <a:avLst>
              <a:gd name="adj" fmla="val 7165"/>
            </a:avLst>
          </a:prstGeom>
          <a:solidFill>
            <a:srgbClr val="1C2330"/>
          </a:solidFill>
          <a:ln w="15875">
            <a:solidFill>
              <a:srgbClr val="60A5FA"/>
            </a:solidFill>
            <a:prstDash val="solid"/>
          </a:ln>
        </p:spPr>
      </p:sp>
      <p:pic>
        <p:nvPicPr>
          <p:cNvPr id="28" name="module icon 2" descr="preencoded.png">    </p:cNvPr>
          <p:cNvPicPr>
            <a:picLocks noChangeAspect="1"/>
          </p:cNvPicPr>
          <p:nvPr/>
        </p:nvPicPr>
        <p:blipFill>
          <a:blip r:embed="rId6"/>
          <a:stretch>
            <a:fillRect/>
          </a:stretch>
        </p:blipFill>
        <p:spPr>
          <a:xfrm>
            <a:off x="5114811" y="2395728"/>
            <a:ext cx="457200" cy="457200"/>
          </a:xfrm>
          <a:prstGeom prst="rect">
            <a:avLst/>
          </a:prstGeom>
        </p:spPr>
      </p:pic>
      <p:sp>
        <p:nvSpPr>
          <p:cNvPr id="29" name="Text 21"/>
          <p:cNvSpPr txBox="1"/>
          <p:nvPr/>
        </p:nvSpPr>
        <p:spPr>
          <a:xfrm>
            <a:off x="4760138" y="2852928"/>
            <a:ext cx="1166546" cy="502920"/>
          </a:xfrm>
          <a:prstGeom prst="rect">
            <a:avLst/>
          </a:prstGeom>
          <a:noFill/>
          <a:ln/>
        </p:spPr>
        <p:txBody>
          <a:bodyPr wrap="square" lIns="0" tIns="0" rIns="0" bIns="0" rtlCol="0" anchor="ctr"/>
          <a:lstStyle/>
          <a:p>
            <a:pPr algn="ctr" indent="0" marL="0">
              <a:buNone/>
            </a:pPr>
            <a:r>
              <a:rPr lang="en-US" sz="1200" b="1" dirty="0">
                <a:solidFill>
                  <a:srgbClr val="E6EDF3"/>
                </a:solidFill>
              </a:rPr>
              <a:t>Feature extraction</a:t>
            </a:r>
            <a:endParaRPr lang="en-US" sz="1200" dirty="0"/>
          </a:p>
        </p:txBody>
      </p:sp>
      <p:sp>
        <p:nvSpPr>
          <p:cNvPr id="30" name="Text 22"/>
          <p:cNvSpPr txBox="1"/>
          <p:nvPr/>
        </p:nvSpPr>
        <p:spPr>
          <a:xfrm>
            <a:off x="4760138" y="3383280"/>
            <a:ext cx="1166546" cy="502920"/>
          </a:xfrm>
          <a:prstGeom prst="rect">
            <a:avLst/>
          </a:prstGeom>
          <a:noFill/>
          <a:ln/>
        </p:spPr>
        <p:txBody>
          <a:bodyPr wrap="square" lIns="0" tIns="0" rIns="0" bIns="0" rtlCol="0" anchor="t"/>
          <a:lstStyle/>
          <a:p>
            <a:pPr algn="ctr" indent="0" marL="0">
              <a:buNone/>
            </a:pPr>
            <a:r>
              <a:rPr lang="en-US" sz="1000" dirty="0">
                <a:solidFill>
                  <a:srgbClr val="9DA7B3"/>
                </a:solidFill>
              </a:rPr>
              <a:t>Volatility 3 · 9 plugins → 55 features</a:t>
            </a:r>
            <a:endParaRPr lang="en-US" sz="1000" dirty="0"/>
          </a:p>
        </p:txBody>
      </p:sp>
      <p:sp>
        <p:nvSpPr>
          <p:cNvPr id="31" name="pipeline arrow 2"/>
          <p:cNvSpPr/>
          <p:nvPr/>
        </p:nvSpPr>
        <p:spPr>
          <a:xfrm>
            <a:off x="5999836" y="3063240"/>
            <a:ext cx="192024" cy="0"/>
          </a:xfrm>
          <a:prstGeom prst="line">
            <a:avLst/>
          </a:prstGeom>
          <a:noFill/>
          <a:ln w="25400">
            <a:solidFill>
              <a:srgbClr val="7EE787"/>
            </a:solidFill>
            <a:prstDash val="solid"/>
            <a:tailEnd type="triangle"/>
          </a:ln>
        </p:spPr>
      </p:sp>
      <p:sp>
        <p:nvSpPr>
          <p:cNvPr id="32" name="module 3"/>
          <p:cNvSpPr/>
          <p:nvPr/>
        </p:nvSpPr>
        <p:spPr>
          <a:xfrm>
            <a:off x="6210148" y="2286000"/>
            <a:ext cx="1276274" cy="1645920"/>
          </a:xfrm>
          <a:prstGeom prst="roundRect">
            <a:avLst>
              <a:gd name="adj" fmla="val 7165"/>
            </a:avLst>
          </a:prstGeom>
          <a:solidFill>
            <a:srgbClr val="1C2330"/>
          </a:solidFill>
          <a:ln w="15875">
            <a:solidFill>
              <a:srgbClr val="F87171"/>
            </a:solidFill>
            <a:prstDash val="solid"/>
          </a:ln>
        </p:spPr>
      </p:sp>
      <p:pic>
        <p:nvPicPr>
          <p:cNvPr id="33" name="module icon 3" descr="preencoded.png">    </p:cNvPr>
          <p:cNvPicPr>
            <a:picLocks noChangeAspect="1"/>
          </p:cNvPicPr>
          <p:nvPr/>
        </p:nvPicPr>
        <p:blipFill>
          <a:blip r:embed="rId7"/>
          <a:stretch>
            <a:fillRect/>
          </a:stretch>
        </p:blipFill>
        <p:spPr>
          <a:xfrm>
            <a:off x="6619685" y="2395728"/>
            <a:ext cx="457200" cy="457200"/>
          </a:xfrm>
          <a:prstGeom prst="rect">
            <a:avLst/>
          </a:prstGeom>
        </p:spPr>
      </p:pic>
      <p:sp>
        <p:nvSpPr>
          <p:cNvPr id="34" name="Text 25"/>
          <p:cNvSpPr txBox="1"/>
          <p:nvPr/>
        </p:nvSpPr>
        <p:spPr>
          <a:xfrm>
            <a:off x="6265012" y="2852928"/>
            <a:ext cx="1166546" cy="502920"/>
          </a:xfrm>
          <a:prstGeom prst="rect">
            <a:avLst/>
          </a:prstGeom>
          <a:noFill/>
          <a:ln/>
        </p:spPr>
        <p:txBody>
          <a:bodyPr wrap="square" lIns="0" tIns="0" rIns="0" bIns="0" rtlCol="0" anchor="ctr"/>
          <a:lstStyle/>
          <a:p>
            <a:pPr algn="ctr" indent="0" marL="0">
              <a:buNone/>
            </a:pPr>
            <a:r>
              <a:rPr lang="en-US" sz="1200" b="1" dirty="0">
                <a:solidFill>
                  <a:srgbClr val="E6EDF3"/>
                </a:solidFill>
              </a:rPr>
              <a:t>Detection engine</a:t>
            </a:r>
            <a:endParaRPr lang="en-US" sz="1200" dirty="0"/>
          </a:p>
        </p:txBody>
      </p:sp>
      <p:sp>
        <p:nvSpPr>
          <p:cNvPr id="35" name="Text 26"/>
          <p:cNvSpPr txBox="1"/>
          <p:nvPr/>
        </p:nvSpPr>
        <p:spPr>
          <a:xfrm>
            <a:off x="6265012" y="3383280"/>
            <a:ext cx="1166546" cy="502920"/>
          </a:xfrm>
          <a:prstGeom prst="rect">
            <a:avLst/>
          </a:prstGeom>
          <a:noFill/>
          <a:ln/>
        </p:spPr>
        <p:txBody>
          <a:bodyPr wrap="square" lIns="0" tIns="0" rIns="0" bIns="0" rtlCol="0" anchor="t"/>
          <a:lstStyle/>
          <a:p>
            <a:pPr algn="ctr" indent="0" marL="0">
              <a:buNone/>
            </a:pPr>
            <a:r>
              <a:rPr lang="en-US" sz="1000" dirty="0">
                <a:solidFill>
                  <a:srgbClr val="9DA7B3"/>
                </a:solidFill>
              </a:rPr>
              <a:t>Random Forest + Isolation Forest</a:t>
            </a:r>
            <a:endParaRPr lang="en-US" sz="1000" dirty="0"/>
          </a:p>
        </p:txBody>
      </p:sp>
      <p:sp>
        <p:nvSpPr>
          <p:cNvPr id="36" name="pipeline arrow 3"/>
          <p:cNvSpPr/>
          <p:nvPr/>
        </p:nvSpPr>
        <p:spPr>
          <a:xfrm>
            <a:off x="7504709" y="3063240"/>
            <a:ext cx="192024" cy="0"/>
          </a:xfrm>
          <a:prstGeom prst="line">
            <a:avLst/>
          </a:prstGeom>
          <a:noFill/>
          <a:ln w="25400">
            <a:solidFill>
              <a:srgbClr val="7EE787"/>
            </a:solidFill>
            <a:prstDash val="solid"/>
            <a:tailEnd type="triangle"/>
          </a:ln>
        </p:spPr>
      </p:sp>
      <p:sp>
        <p:nvSpPr>
          <p:cNvPr id="37" name="module 4"/>
          <p:cNvSpPr/>
          <p:nvPr/>
        </p:nvSpPr>
        <p:spPr>
          <a:xfrm>
            <a:off x="7715021" y="2286000"/>
            <a:ext cx="1276274" cy="1645920"/>
          </a:xfrm>
          <a:prstGeom prst="roundRect">
            <a:avLst>
              <a:gd name="adj" fmla="val 7165"/>
            </a:avLst>
          </a:prstGeom>
          <a:solidFill>
            <a:srgbClr val="1C2330"/>
          </a:solidFill>
          <a:ln w="15875">
            <a:solidFill>
              <a:srgbClr val="FBBF24"/>
            </a:solidFill>
            <a:prstDash val="solid"/>
          </a:ln>
        </p:spPr>
      </p:sp>
      <p:pic>
        <p:nvPicPr>
          <p:cNvPr id="38" name="module icon 4" descr="preencoded.png">    </p:cNvPr>
          <p:cNvPicPr>
            <a:picLocks noChangeAspect="1"/>
          </p:cNvPicPr>
          <p:nvPr/>
        </p:nvPicPr>
        <p:blipFill>
          <a:blip r:embed="rId8"/>
          <a:stretch>
            <a:fillRect/>
          </a:stretch>
        </p:blipFill>
        <p:spPr>
          <a:xfrm>
            <a:off x="8124558" y="2395728"/>
            <a:ext cx="457200" cy="457200"/>
          </a:xfrm>
          <a:prstGeom prst="rect">
            <a:avLst/>
          </a:prstGeom>
        </p:spPr>
      </p:pic>
      <p:sp>
        <p:nvSpPr>
          <p:cNvPr id="39" name="Text 29"/>
          <p:cNvSpPr txBox="1"/>
          <p:nvPr/>
        </p:nvSpPr>
        <p:spPr>
          <a:xfrm>
            <a:off x="7769885" y="2852928"/>
            <a:ext cx="1166546" cy="502920"/>
          </a:xfrm>
          <a:prstGeom prst="rect">
            <a:avLst/>
          </a:prstGeom>
          <a:noFill/>
          <a:ln/>
        </p:spPr>
        <p:txBody>
          <a:bodyPr wrap="square" lIns="0" tIns="0" rIns="0" bIns="0" rtlCol="0" anchor="ctr"/>
          <a:lstStyle/>
          <a:p>
            <a:pPr algn="ctr" indent="0" marL="0">
              <a:buNone/>
            </a:pPr>
            <a:r>
              <a:rPr lang="en-US" sz="1200" b="1" dirty="0">
                <a:solidFill>
                  <a:srgbClr val="E6EDF3"/>
                </a:solidFill>
              </a:rPr>
              <a:t>Explainable AI</a:t>
            </a:r>
            <a:endParaRPr lang="en-US" sz="1200" dirty="0"/>
          </a:p>
        </p:txBody>
      </p:sp>
      <p:sp>
        <p:nvSpPr>
          <p:cNvPr id="40" name="Text 30"/>
          <p:cNvSpPr txBox="1"/>
          <p:nvPr/>
        </p:nvSpPr>
        <p:spPr>
          <a:xfrm>
            <a:off x="7769885" y="3383280"/>
            <a:ext cx="1166546" cy="502920"/>
          </a:xfrm>
          <a:prstGeom prst="rect">
            <a:avLst/>
          </a:prstGeom>
          <a:noFill/>
          <a:ln/>
        </p:spPr>
        <p:txBody>
          <a:bodyPr wrap="square" lIns="0" tIns="0" rIns="0" bIns="0" rtlCol="0" anchor="t"/>
          <a:lstStyle/>
          <a:p>
            <a:pPr algn="ctr" indent="0" marL="0">
              <a:buNone/>
            </a:pPr>
            <a:r>
              <a:rPr lang="en-US" sz="1000" dirty="0">
                <a:solidFill>
                  <a:srgbClr val="9DA7B3"/>
                </a:solidFill>
              </a:rPr>
              <a:t>SHAP + LIME · plain English</a:t>
            </a:r>
            <a:endParaRPr lang="en-US" sz="1000" dirty="0"/>
          </a:p>
        </p:txBody>
      </p:sp>
      <p:sp>
        <p:nvSpPr>
          <p:cNvPr id="41" name="integrity layer"/>
          <p:cNvSpPr/>
          <p:nvPr/>
        </p:nvSpPr>
        <p:spPr>
          <a:xfrm>
            <a:off x="3200400" y="4069080"/>
            <a:ext cx="5790895" cy="685800"/>
          </a:xfrm>
          <a:prstGeom prst="roundRect">
            <a:avLst>
              <a:gd name="adj" fmla="val 13333"/>
            </a:avLst>
          </a:prstGeom>
          <a:solidFill>
            <a:srgbClr val="0F2A1D"/>
          </a:solidFill>
          <a:ln w="15875">
            <a:solidFill>
              <a:srgbClr val="39D353"/>
            </a:solidFill>
            <a:prstDash val="solid"/>
          </a:ln>
        </p:spPr>
      </p:sp>
      <p:pic>
        <p:nvPicPr>
          <p:cNvPr id="42" name="integrity icon" descr="preencoded.png">    </p:cNvPr>
          <p:cNvPicPr>
            <a:picLocks noChangeAspect="1"/>
          </p:cNvPicPr>
          <p:nvPr/>
        </p:nvPicPr>
        <p:blipFill>
          <a:blip r:embed="rId9"/>
          <a:stretch>
            <a:fillRect/>
          </a:stretch>
        </p:blipFill>
        <p:spPr>
          <a:xfrm>
            <a:off x="3383280" y="4187952"/>
            <a:ext cx="438912" cy="438912"/>
          </a:xfrm>
          <a:prstGeom prst="rect">
            <a:avLst/>
          </a:prstGeom>
        </p:spPr>
      </p:pic>
      <p:sp>
        <p:nvSpPr>
          <p:cNvPr id="43" name="Text 32"/>
          <p:cNvSpPr txBox="1"/>
          <p:nvPr/>
        </p:nvSpPr>
        <p:spPr>
          <a:xfrm>
            <a:off x="3931920" y="4069080"/>
            <a:ext cx="4876495" cy="685800"/>
          </a:xfrm>
          <a:prstGeom prst="rect">
            <a:avLst/>
          </a:prstGeom>
          <a:noFill/>
          <a:ln/>
        </p:spPr>
        <p:txBody>
          <a:bodyPr wrap="square" lIns="0" tIns="0" rIns="0" bIns="0" rtlCol="0" anchor="ctr"/>
          <a:lstStyle/>
          <a:p>
            <a:pPr indent="0" marL="0">
              <a:buNone/>
            </a:pPr>
            <a:r>
              <a:rPr lang="en-US" sz="1200" b="1" dirty="0">
                <a:solidFill>
                  <a:srgbClr val="39D353"/>
                </a:solidFill>
              </a:rPr>
              <a:t>Evidence integrity &amp; chain of custody  </a:t>
            </a:r>
            <a:pPr indent="0" marL="0">
              <a:buNone/>
            </a:pPr>
            <a:r>
              <a:rPr lang="en-US" sz="1200" dirty="0">
                <a:solidFill>
                  <a:srgbClr val="E6EDF3"/>
                </a:solidFill>
              </a:rPr>
              <a:t>SHA-256 + MD5 re-checked at 9 stages · mismatch blocks analysis</a:t>
            </a:r>
            <a:endParaRPr lang="en-US" sz="1200" dirty="0"/>
          </a:p>
        </p:txBody>
      </p:sp>
      <p:sp>
        <p:nvSpPr>
          <p:cNvPr id="44" name="store 1"/>
          <p:cNvSpPr/>
          <p:nvPr/>
        </p:nvSpPr>
        <p:spPr>
          <a:xfrm>
            <a:off x="3200400" y="4983480"/>
            <a:ext cx="1777898" cy="1143000"/>
          </a:xfrm>
          <a:prstGeom prst="roundRect">
            <a:avLst>
              <a:gd name="adj" fmla="val 8000"/>
            </a:avLst>
          </a:prstGeom>
          <a:solidFill>
            <a:srgbClr val="161B22"/>
          </a:solidFill>
          <a:ln w="15875">
            <a:solidFill>
              <a:srgbClr val="161B22"/>
            </a:solidFill>
            <a:prstDash val="solid"/>
          </a:ln>
        </p:spPr>
      </p:sp>
      <p:pic>
        <p:nvPicPr>
          <p:cNvPr id="45" name="store icon 1" descr="preencoded.png">    </p:cNvPr>
          <p:cNvPicPr>
            <a:picLocks noChangeAspect="1"/>
          </p:cNvPicPr>
          <p:nvPr/>
        </p:nvPicPr>
        <p:blipFill>
          <a:blip r:embed="rId10"/>
          <a:stretch>
            <a:fillRect/>
          </a:stretch>
        </p:blipFill>
        <p:spPr>
          <a:xfrm>
            <a:off x="3364992" y="5120640"/>
            <a:ext cx="384048" cy="384048"/>
          </a:xfrm>
          <a:prstGeom prst="rect">
            <a:avLst/>
          </a:prstGeom>
        </p:spPr>
      </p:pic>
      <p:sp>
        <p:nvSpPr>
          <p:cNvPr id="46" name="Text 34"/>
          <p:cNvSpPr txBox="1"/>
          <p:nvPr/>
        </p:nvSpPr>
        <p:spPr>
          <a:xfrm>
            <a:off x="3886200" y="5120640"/>
            <a:ext cx="954938" cy="365760"/>
          </a:xfrm>
          <a:prstGeom prst="rect">
            <a:avLst/>
          </a:prstGeom>
          <a:noFill/>
          <a:ln/>
        </p:spPr>
        <p:txBody>
          <a:bodyPr wrap="square" lIns="0" tIns="0" rIns="0" bIns="0" rtlCol="0" anchor="ctr"/>
          <a:lstStyle/>
          <a:p>
            <a:pPr indent="0" marL="0">
              <a:buNone/>
            </a:pPr>
            <a:r>
              <a:rPr lang="en-US" sz="1300" b="1" dirty="0">
                <a:solidFill>
                  <a:srgbClr val="E6EDF3"/>
                </a:solidFill>
              </a:rPr>
              <a:t>Trained models</a:t>
            </a:r>
            <a:endParaRPr lang="en-US" sz="1300" dirty="0"/>
          </a:p>
        </p:txBody>
      </p:sp>
      <p:sp>
        <p:nvSpPr>
          <p:cNvPr id="47" name="Text 35"/>
          <p:cNvSpPr txBox="1"/>
          <p:nvPr/>
        </p:nvSpPr>
        <p:spPr>
          <a:xfrm>
            <a:off x="3364992" y="5596128"/>
            <a:ext cx="1503578" cy="411480"/>
          </a:xfrm>
          <a:prstGeom prst="rect">
            <a:avLst/>
          </a:prstGeom>
          <a:noFill/>
          <a:ln/>
        </p:spPr>
        <p:txBody>
          <a:bodyPr wrap="square" lIns="0" tIns="0" rIns="0" bIns="0" rtlCol="0" anchor="t"/>
          <a:lstStyle/>
          <a:p>
            <a:pPr indent="0" marL="0">
              <a:buNone/>
            </a:pPr>
            <a:r>
              <a:rPr lang="en-US" sz="1100" dirty="0">
                <a:solidFill>
                  <a:srgbClr val="9DA7B3"/>
                </a:solidFill>
              </a:rPr>
              <a:t>models/*.pkl</a:t>
            </a:r>
            <a:endParaRPr lang="en-US" sz="1100" dirty="0"/>
          </a:p>
        </p:txBody>
      </p:sp>
      <p:sp>
        <p:nvSpPr>
          <p:cNvPr id="48" name="store 2"/>
          <p:cNvSpPr/>
          <p:nvPr/>
        </p:nvSpPr>
        <p:spPr>
          <a:xfrm>
            <a:off x="5206898" y="4983480"/>
            <a:ext cx="1777898" cy="1143000"/>
          </a:xfrm>
          <a:prstGeom prst="roundRect">
            <a:avLst>
              <a:gd name="adj" fmla="val 8000"/>
            </a:avLst>
          </a:prstGeom>
          <a:solidFill>
            <a:srgbClr val="161B22"/>
          </a:solidFill>
          <a:ln w="15875">
            <a:solidFill>
              <a:srgbClr val="161B22"/>
            </a:solidFill>
            <a:prstDash val="solid"/>
          </a:ln>
        </p:spPr>
      </p:sp>
      <p:pic>
        <p:nvPicPr>
          <p:cNvPr id="49" name="store icon 2" descr="preencoded.png">    </p:cNvPr>
          <p:cNvPicPr>
            <a:picLocks noChangeAspect="1"/>
          </p:cNvPicPr>
          <p:nvPr/>
        </p:nvPicPr>
        <p:blipFill>
          <a:blip r:embed="rId11"/>
          <a:stretch>
            <a:fillRect/>
          </a:stretch>
        </p:blipFill>
        <p:spPr>
          <a:xfrm>
            <a:off x="5371490" y="5120640"/>
            <a:ext cx="384048" cy="384048"/>
          </a:xfrm>
          <a:prstGeom prst="rect">
            <a:avLst/>
          </a:prstGeom>
        </p:spPr>
      </p:pic>
      <p:sp>
        <p:nvSpPr>
          <p:cNvPr id="50" name="Text 37"/>
          <p:cNvSpPr txBox="1"/>
          <p:nvPr/>
        </p:nvSpPr>
        <p:spPr>
          <a:xfrm>
            <a:off x="5892698" y="5120640"/>
            <a:ext cx="954938" cy="365760"/>
          </a:xfrm>
          <a:prstGeom prst="rect">
            <a:avLst/>
          </a:prstGeom>
          <a:noFill/>
          <a:ln/>
        </p:spPr>
        <p:txBody>
          <a:bodyPr wrap="square" lIns="0" tIns="0" rIns="0" bIns="0" rtlCol="0" anchor="ctr"/>
          <a:lstStyle/>
          <a:p>
            <a:pPr indent="0" marL="0">
              <a:buNone/>
            </a:pPr>
            <a:r>
              <a:rPr lang="en-US" sz="1300" b="1" dirty="0">
                <a:solidFill>
                  <a:srgbClr val="E6EDF3"/>
                </a:solidFill>
              </a:rPr>
              <a:t>Case records</a:t>
            </a:r>
            <a:endParaRPr lang="en-US" sz="1300" dirty="0"/>
          </a:p>
        </p:txBody>
      </p:sp>
      <p:sp>
        <p:nvSpPr>
          <p:cNvPr id="51" name="Text 38"/>
          <p:cNvSpPr txBox="1"/>
          <p:nvPr/>
        </p:nvSpPr>
        <p:spPr>
          <a:xfrm>
            <a:off x="5371490" y="5596128"/>
            <a:ext cx="1503578" cy="411480"/>
          </a:xfrm>
          <a:prstGeom prst="rect">
            <a:avLst/>
          </a:prstGeom>
          <a:noFill/>
          <a:ln/>
        </p:spPr>
        <p:txBody>
          <a:bodyPr wrap="square" lIns="0" tIns="0" rIns="0" bIns="0" rtlCol="0" anchor="t"/>
          <a:lstStyle/>
          <a:p>
            <a:pPr indent="0" marL="0">
              <a:buNone/>
            </a:pPr>
            <a:r>
              <a:rPr lang="en-US" sz="1100" dirty="0">
                <a:solidFill>
                  <a:srgbClr val="9DA7B3"/>
                </a:solidFill>
              </a:rPr>
              <a:t>case.json · custody manifest</a:t>
            </a:r>
            <a:endParaRPr lang="en-US" sz="1100" dirty="0"/>
          </a:p>
        </p:txBody>
      </p:sp>
      <p:sp>
        <p:nvSpPr>
          <p:cNvPr id="52" name="store 3"/>
          <p:cNvSpPr/>
          <p:nvPr/>
        </p:nvSpPr>
        <p:spPr>
          <a:xfrm>
            <a:off x="7213397" y="4983480"/>
            <a:ext cx="1777898" cy="1143000"/>
          </a:xfrm>
          <a:prstGeom prst="roundRect">
            <a:avLst>
              <a:gd name="adj" fmla="val 8000"/>
            </a:avLst>
          </a:prstGeom>
          <a:solidFill>
            <a:srgbClr val="161B22"/>
          </a:solidFill>
          <a:ln w="15875">
            <a:solidFill>
              <a:srgbClr val="161B22"/>
            </a:solidFill>
            <a:prstDash val="solid"/>
          </a:ln>
        </p:spPr>
      </p:sp>
      <p:pic>
        <p:nvPicPr>
          <p:cNvPr id="53" name="store icon 3" descr="preencoded.png">    </p:cNvPr>
          <p:cNvPicPr>
            <a:picLocks noChangeAspect="1"/>
          </p:cNvPicPr>
          <p:nvPr/>
        </p:nvPicPr>
        <p:blipFill>
          <a:blip r:embed="rId12"/>
          <a:stretch>
            <a:fillRect/>
          </a:stretch>
        </p:blipFill>
        <p:spPr>
          <a:xfrm>
            <a:off x="7377989" y="5120640"/>
            <a:ext cx="384048" cy="384048"/>
          </a:xfrm>
          <a:prstGeom prst="rect">
            <a:avLst/>
          </a:prstGeom>
        </p:spPr>
      </p:pic>
      <p:sp>
        <p:nvSpPr>
          <p:cNvPr id="54" name="Text 40"/>
          <p:cNvSpPr txBox="1"/>
          <p:nvPr/>
        </p:nvSpPr>
        <p:spPr>
          <a:xfrm>
            <a:off x="7899197" y="5120640"/>
            <a:ext cx="954938" cy="365760"/>
          </a:xfrm>
          <a:prstGeom prst="rect">
            <a:avLst/>
          </a:prstGeom>
          <a:noFill/>
          <a:ln/>
        </p:spPr>
        <p:txBody>
          <a:bodyPr wrap="square" lIns="0" tIns="0" rIns="0" bIns="0" rtlCol="0" anchor="ctr"/>
          <a:lstStyle/>
          <a:p>
            <a:pPr indent="0" marL="0">
              <a:buNone/>
            </a:pPr>
            <a:r>
              <a:rPr lang="en-US" sz="1300" b="1" dirty="0">
                <a:solidFill>
                  <a:srgbClr val="E6EDF3"/>
                </a:solidFill>
              </a:rPr>
              <a:t>Audit log</a:t>
            </a:r>
            <a:endParaRPr lang="en-US" sz="1300" dirty="0"/>
          </a:p>
        </p:txBody>
      </p:sp>
      <p:sp>
        <p:nvSpPr>
          <p:cNvPr id="55" name="Text 41"/>
          <p:cNvSpPr txBox="1"/>
          <p:nvPr/>
        </p:nvSpPr>
        <p:spPr>
          <a:xfrm>
            <a:off x="7377989" y="5596128"/>
            <a:ext cx="1503578" cy="411480"/>
          </a:xfrm>
          <a:prstGeom prst="rect">
            <a:avLst/>
          </a:prstGeom>
          <a:noFill/>
          <a:ln/>
        </p:spPr>
        <p:txBody>
          <a:bodyPr wrap="square" lIns="0" tIns="0" rIns="0" bIns="0" rtlCol="0" anchor="t"/>
          <a:lstStyle/>
          <a:p>
            <a:pPr indent="0" marL="0">
              <a:buNone/>
            </a:pPr>
            <a:r>
              <a:rPr lang="en-US" sz="1100" dirty="0">
                <a:solidFill>
                  <a:srgbClr val="9DA7B3"/>
                </a:solidFill>
              </a:rPr>
              <a:t>logs/triage_audit.log</a:t>
            </a:r>
            <a:endParaRPr lang="en-US" sz="1100" dirty="0"/>
          </a:p>
        </p:txBody>
      </p:sp>
      <p:sp>
        <p:nvSpPr>
          <p:cNvPr id="56" name="integrity to storage"/>
          <p:cNvSpPr/>
          <p:nvPr/>
        </p:nvSpPr>
        <p:spPr>
          <a:xfrm>
            <a:off x="6095848" y="4773168"/>
            <a:ext cx="0" cy="192024"/>
          </a:xfrm>
          <a:prstGeom prst="line">
            <a:avLst/>
          </a:prstGeom>
          <a:noFill/>
          <a:ln w="25400">
            <a:solidFill>
              <a:srgbClr val="7EE787"/>
            </a:solidFill>
            <a:prstDash val="solid"/>
            <a:headEnd type="triangle"/>
            <a:tailEnd type="triangle"/>
          </a:ln>
        </p:spPr>
      </p:sp>
      <p:sp>
        <p:nvSpPr>
          <p:cNvPr id="57" name="outputs panel"/>
          <p:cNvSpPr/>
          <p:nvPr/>
        </p:nvSpPr>
        <p:spPr>
          <a:xfrm>
            <a:off x="9311335" y="1188720"/>
            <a:ext cx="2331720" cy="4937760"/>
          </a:xfrm>
          <a:prstGeom prst="roundRect">
            <a:avLst>
              <a:gd name="adj" fmla="val 3922"/>
            </a:avLst>
          </a:prstGeom>
          <a:solidFill>
            <a:srgbClr val="161B22"/>
          </a:solidFill>
          <a:ln w="15875">
            <a:solidFill>
              <a:srgbClr val="161B22"/>
            </a:solidFill>
            <a:prstDash val="solid"/>
          </a:ln>
        </p:spPr>
      </p:sp>
      <p:sp>
        <p:nvSpPr>
          <p:cNvPr id="58" name="Text 44"/>
          <p:cNvSpPr txBox="1"/>
          <p:nvPr/>
        </p:nvSpPr>
        <p:spPr>
          <a:xfrm>
            <a:off x="9494215" y="1298448"/>
            <a:ext cx="1965960" cy="274320"/>
          </a:xfrm>
          <a:prstGeom prst="rect">
            <a:avLst/>
          </a:prstGeom>
          <a:noFill/>
          <a:ln/>
        </p:spPr>
        <p:txBody>
          <a:bodyPr wrap="square" lIns="0" tIns="0" rIns="0" bIns="0" rtlCol="0" anchor="t"/>
          <a:lstStyle/>
          <a:p>
            <a:pPr indent="0" marL="0">
              <a:buNone/>
            </a:pPr>
            <a:r>
              <a:rPr lang="en-US" sz="1200" b="1" spc="200" kern="0" dirty="0">
                <a:solidFill>
                  <a:srgbClr val="7EE787"/>
                </a:solidFill>
              </a:rPr>
              <a:t>OUTPUTS</a:t>
            </a:r>
            <a:endParaRPr lang="en-US" sz="1200" dirty="0"/>
          </a:p>
        </p:txBody>
      </p:sp>
      <p:sp>
        <p:nvSpPr>
          <p:cNvPr id="59" name="output 1"/>
          <p:cNvSpPr/>
          <p:nvPr/>
        </p:nvSpPr>
        <p:spPr>
          <a:xfrm>
            <a:off x="9448495" y="1737360"/>
            <a:ext cx="2057400" cy="1234440"/>
          </a:xfrm>
          <a:prstGeom prst="roundRect">
            <a:avLst>
              <a:gd name="adj" fmla="val 7407"/>
            </a:avLst>
          </a:prstGeom>
          <a:solidFill>
            <a:srgbClr val="1C2330"/>
          </a:solidFill>
          <a:ln w="15875">
            <a:solidFill>
              <a:srgbClr val="30363D"/>
            </a:solidFill>
            <a:prstDash val="solid"/>
          </a:ln>
        </p:spPr>
      </p:sp>
      <p:pic>
        <p:nvPicPr>
          <p:cNvPr id="60" name="output icon 1" descr="preencoded.png">    </p:cNvPr>
          <p:cNvPicPr>
            <a:picLocks noChangeAspect="1"/>
          </p:cNvPicPr>
          <p:nvPr/>
        </p:nvPicPr>
        <p:blipFill>
          <a:blip r:embed="rId13"/>
          <a:stretch>
            <a:fillRect/>
          </a:stretch>
        </p:blipFill>
        <p:spPr>
          <a:xfrm>
            <a:off x="9585655" y="1901952"/>
            <a:ext cx="411480" cy="411480"/>
          </a:xfrm>
          <a:prstGeom prst="rect">
            <a:avLst/>
          </a:prstGeom>
        </p:spPr>
      </p:pic>
      <p:sp>
        <p:nvSpPr>
          <p:cNvPr id="61" name="Text 46"/>
          <p:cNvSpPr txBox="1"/>
          <p:nvPr/>
        </p:nvSpPr>
        <p:spPr>
          <a:xfrm>
            <a:off x="9585655" y="2377440"/>
            <a:ext cx="1783080" cy="292608"/>
          </a:xfrm>
          <a:prstGeom prst="rect">
            <a:avLst/>
          </a:prstGeom>
          <a:noFill/>
          <a:ln/>
        </p:spPr>
        <p:txBody>
          <a:bodyPr wrap="square" lIns="0" tIns="0" rIns="0" bIns="0" rtlCol="0" anchor="t"/>
          <a:lstStyle/>
          <a:p>
            <a:pPr indent="0" marL="0">
              <a:buNone/>
            </a:pPr>
            <a:r>
              <a:rPr lang="en-US" sz="1300" b="1" dirty="0">
                <a:solidFill>
                  <a:srgbClr val="E6EDF3"/>
                </a:solidFill>
              </a:rPr>
              <a:t>Risk verdict</a:t>
            </a:r>
            <a:endParaRPr lang="en-US" sz="1300" dirty="0"/>
          </a:p>
        </p:txBody>
      </p:sp>
      <p:sp>
        <p:nvSpPr>
          <p:cNvPr id="62" name="Text 47"/>
          <p:cNvSpPr txBox="1"/>
          <p:nvPr/>
        </p:nvSpPr>
        <p:spPr>
          <a:xfrm>
            <a:off x="9585655" y="2633472"/>
            <a:ext cx="1783080" cy="292608"/>
          </a:xfrm>
          <a:prstGeom prst="rect">
            <a:avLst/>
          </a:prstGeom>
          <a:noFill/>
          <a:ln/>
        </p:spPr>
        <p:txBody>
          <a:bodyPr wrap="square" lIns="0" tIns="0" rIns="0" bIns="0" rtlCol="0" anchor="t"/>
          <a:lstStyle/>
          <a:p>
            <a:pPr indent="0" marL="0">
              <a:buNone/>
            </a:pPr>
            <a:r>
              <a:rPr lang="en-US" sz="1050" dirty="0">
                <a:solidFill>
                  <a:srgbClr val="9DA7B3"/>
                </a:solidFill>
              </a:rPr>
              <a:t>malware score + risk level</a:t>
            </a:r>
            <a:endParaRPr lang="en-US" sz="1050" dirty="0"/>
          </a:p>
        </p:txBody>
      </p:sp>
      <p:sp>
        <p:nvSpPr>
          <p:cNvPr id="63" name="output 2"/>
          <p:cNvSpPr/>
          <p:nvPr/>
        </p:nvSpPr>
        <p:spPr>
          <a:xfrm>
            <a:off x="9448495" y="3154680"/>
            <a:ext cx="2057400" cy="1234440"/>
          </a:xfrm>
          <a:prstGeom prst="roundRect">
            <a:avLst>
              <a:gd name="adj" fmla="val 7407"/>
            </a:avLst>
          </a:prstGeom>
          <a:solidFill>
            <a:srgbClr val="1C2330"/>
          </a:solidFill>
          <a:ln w="15875">
            <a:solidFill>
              <a:srgbClr val="30363D"/>
            </a:solidFill>
            <a:prstDash val="solid"/>
          </a:ln>
        </p:spPr>
      </p:sp>
      <p:pic>
        <p:nvPicPr>
          <p:cNvPr id="64" name="output icon 2" descr="preencoded.png">    </p:cNvPr>
          <p:cNvPicPr>
            <a:picLocks noChangeAspect="1"/>
          </p:cNvPicPr>
          <p:nvPr/>
        </p:nvPicPr>
        <p:blipFill>
          <a:blip r:embed="rId14"/>
          <a:stretch>
            <a:fillRect/>
          </a:stretch>
        </p:blipFill>
        <p:spPr>
          <a:xfrm>
            <a:off x="9585655" y="3319272"/>
            <a:ext cx="411480" cy="411480"/>
          </a:xfrm>
          <a:prstGeom prst="rect">
            <a:avLst/>
          </a:prstGeom>
        </p:spPr>
      </p:pic>
      <p:sp>
        <p:nvSpPr>
          <p:cNvPr id="65" name="Text 49"/>
          <p:cNvSpPr txBox="1"/>
          <p:nvPr/>
        </p:nvSpPr>
        <p:spPr>
          <a:xfrm>
            <a:off x="9585655" y="3794760"/>
            <a:ext cx="1783080" cy="292608"/>
          </a:xfrm>
          <a:prstGeom prst="rect">
            <a:avLst/>
          </a:prstGeom>
          <a:noFill/>
          <a:ln/>
        </p:spPr>
        <p:txBody>
          <a:bodyPr wrap="square" lIns="0" tIns="0" rIns="0" bIns="0" rtlCol="0" anchor="t"/>
          <a:lstStyle/>
          <a:p>
            <a:pPr indent="0" marL="0">
              <a:buNone/>
            </a:pPr>
            <a:r>
              <a:rPr lang="en-US" sz="1300" b="1" dirty="0">
                <a:solidFill>
                  <a:srgbClr val="E6EDF3"/>
                </a:solidFill>
              </a:rPr>
              <a:t>Explanation</a:t>
            </a:r>
            <a:endParaRPr lang="en-US" sz="1300" dirty="0"/>
          </a:p>
        </p:txBody>
      </p:sp>
      <p:sp>
        <p:nvSpPr>
          <p:cNvPr id="66" name="Text 50"/>
          <p:cNvSpPr txBox="1"/>
          <p:nvPr/>
        </p:nvSpPr>
        <p:spPr>
          <a:xfrm>
            <a:off x="9585655" y="4050792"/>
            <a:ext cx="1783080" cy="292608"/>
          </a:xfrm>
          <a:prstGeom prst="rect">
            <a:avLst/>
          </a:prstGeom>
          <a:noFill/>
          <a:ln/>
        </p:spPr>
        <p:txBody>
          <a:bodyPr wrap="square" lIns="0" tIns="0" rIns="0" bIns="0" rtlCol="0" anchor="t"/>
          <a:lstStyle/>
          <a:p>
            <a:pPr indent="0" marL="0">
              <a:buNone/>
            </a:pPr>
            <a:r>
              <a:rPr lang="en-US" sz="1050" dirty="0">
                <a:solidFill>
                  <a:srgbClr val="9DA7B3"/>
                </a:solidFill>
              </a:rPr>
              <a:t>top reasons in plain English</a:t>
            </a:r>
            <a:endParaRPr lang="en-US" sz="1050" dirty="0"/>
          </a:p>
        </p:txBody>
      </p:sp>
      <p:sp>
        <p:nvSpPr>
          <p:cNvPr id="67" name="output 3"/>
          <p:cNvSpPr/>
          <p:nvPr/>
        </p:nvSpPr>
        <p:spPr>
          <a:xfrm>
            <a:off x="9448495" y="4572000"/>
            <a:ext cx="2057400" cy="1234440"/>
          </a:xfrm>
          <a:prstGeom prst="roundRect">
            <a:avLst>
              <a:gd name="adj" fmla="val 7407"/>
            </a:avLst>
          </a:prstGeom>
          <a:solidFill>
            <a:srgbClr val="1C2330"/>
          </a:solidFill>
          <a:ln w="15875">
            <a:solidFill>
              <a:srgbClr val="30363D"/>
            </a:solidFill>
            <a:prstDash val="solid"/>
          </a:ln>
        </p:spPr>
      </p:sp>
      <p:pic>
        <p:nvPicPr>
          <p:cNvPr id="68" name="output icon 3" descr="preencoded.png">    </p:cNvPr>
          <p:cNvPicPr>
            <a:picLocks noChangeAspect="1"/>
          </p:cNvPicPr>
          <p:nvPr/>
        </p:nvPicPr>
        <p:blipFill>
          <a:blip r:embed="rId15"/>
          <a:stretch>
            <a:fillRect/>
          </a:stretch>
        </p:blipFill>
        <p:spPr>
          <a:xfrm>
            <a:off x="9585655" y="4736592"/>
            <a:ext cx="411480" cy="411480"/>
          </a:xfrm>
          <a:prstGeom prst="rect">
            <a:avLst/>
          </a:prstGeom>
        </p:spPr>
      </p:pic>
      <p:sp>
        <p:nvSpPr>
          <p:cNvPr id="69" name="Text 52"/>
          <p:cNvSpPr txBox="1"/>
          <p:nvPr/>
        </p:nvSpPr>
        <p:spPr>
          <a:xfrm>
            <a:off x="9585655" y="5212080"/>
            <a:ext cx="1783080" cy="292608"/>
          </a:xfrm>
          <a:prstGeom prst="rect">
            <a:avLst/>
          </a:prstGeom>
          <a:noFill/>
          <a:ln/>
        </p:spPr>
        <p:txBody>
          <a:bodyPr wrap="square" lIns="0" tIns="0" rIns="0" bIns="0" rtlCol="0" anchor="t"/>
          <a:lstStyle/>
          <a:p>
            <a:pPr indent="0" marL="0">
              <a:buNone/>
            </a:pPr>
            <a:r>
              <a:rPr lang="en-US" sz="1300" b="1" dirty="0">
                <a:solidFill>
                  <a:srgbClr val="E6EDF3"/>
                </a:solidFill>
              </a:rPr>
              <a:t>Sealed PDF report</a:t>
            </a:r>
            <a:endParaRPr lang="en-US" sz="1300" dirty="0"/>
          </a:p>
        </p:txBody>
      </p:sp>
      <p:sp>
        <p:nvSpPr>
          <p:cNvPr id="70" name="Text 53"/>
          <p:cNvSpPr txBox="1"/>
          <p:nvPr/>
        </p:nvSpPr>
        <p:spPr>
          <a:xfrm>
            <a:off x="9585655" y="5468112"/>
            <a:ext cx="1783080" cy="292608"/>
          </a:xfrm>
          <a:prstGeom prst="rect">
            <a:avLst/>
          </a:prstGeom>
          <a:noFill/>
          <a:ln/>
        </p:spPr>
        <p:txBody>
          <a:bodyPr wrap="square" lIns="0" tIns="0" rIns="0" bIns="0" rtlCol="0" anchor="t"/>
          <a:lstStyle/>
          <a:p>
            <a:pPr indent="0" marL="0">
              <a:buNone/>
            </a:pPr>
            <a:r>
              <a:rPr lang="en-US" sz="1050" dirty="0">
                <a:solidFill>
                  <a:srgbClr val="9DA7B3"/>
                </a:solidFill>
              </a:rPr>
              <a:t>with its own hash</a:t>
            </a:r>
            <a:endParaRPr lang="en-US" sz="1050" dirty="0"/>
          </a:p>
        </p:txBody>
      </p:sp>
      <p:sp>
        <p:nvSpPr>
          <p:cNvPr id="71" name="pipeline to outputs"/>
          <p:cNvSpPr/>
          <p:nvPr/>
        </p:nvSpPr>
        <p:spPr>
          <a:xfrm>
            <a:off x="9009583" y="3063240"/>
            <a:ext cx="283464" cy="0"/>
          </a:xfrm>
          <a:prstGeom prst="line">
            <a:avLst/>
          </a:prstGeom>
          <a:noFill/>
          <a:ln w="25400">
            <a:solidFill>
              <a:srgbClr val="7EE787"/>
            </a:solidFill>
            <a:prstDash val="solid"/>
            <a:tailEnd type="triangle"/>
          </a:ln>
        </p:spPr>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DA7B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778240" cy="1828800"/>
          </a:xfrm>
          <a:prstGeom prst="rect">
            <a:avLst/>
          </a:prstGeom>
          <a:noFill/>
          <a:ln/>
        </p:spPr>
        <p:txBody>
          <a:bodyPr wrap="square" rtlCol="0" anchor="b"/>
          <a:lstStyle/>
          <a:p>
            <a:pPr algn="l" indent="0" marL="0">
              <a:buNone/>
            </a:pPr>
            <a:r>
              <a:rPr lang="en-US" sz="3800" b="1" dirty="0">
                <a:solidFill>
                  <a:srgbClr val="FFFFFF"/>
                </a:solidFill>
              </a:rPr>
              <a:t>Thank you</a:t>
            </a:r>
            <a:endParaRPr lang="en-US" sz="3800" dirty="0"/>
          </a:p>
        </p:txBody>
      </p:sp>
      <p:sp>
        <p:nvSpPr>
          <p:cNvPr id="3" name="Text 0"/>
          <p:cNvSpPr/>
          <p:nvPr>
            <p:ph idx="101" type="body" hasCustomPrompt="1"/>
          </p:nvPr>
        </p:nvSpPr>
        <p:spPr>
          <a:xfrm>
            <a:off x="548640" y="3840480"/>
            <a:ext cx="8778240" cy="914400"/>
          </a:xfrm>
          <a:prstGeom prst="rect">
            <a:avLst/>
          </a:prstGeom>
          <a:noFill/>
          <a:ln/>
        </p:spPr>
        <p:txBody>
          <a:bodyPr wrap="square" rtlCol="0" anchor="t"/>
          <a:lstStyle/>
          <a:p>
            <a:pPr indent="0" marL="0">
              <a:buNone/>
            </a:pPr>
            <a:r>
              <a:rPr lang="en-US" sz="1800" dirty="0">
                <a:solidFill>
                  <a:srgbClr val="39D353"/>
                </a:solidFill>
              </a:rPr>
              <a:t>Questions are welcome</a:t>
            </a:r>
            <a:endParaRPr lang="en-US" sz="1800" dirty="0"/>
          </a:p>
        </p:txBody>
      </p:sp>
      <p:sp>
        <p:nvSpPr>
          <p:cNvPr id="4" name="Text 2"/>
          <p:cNvSpPr txBox="1"/>
          <p:nvPr/>
        </p:nvSpPr>
        <p:spPr>
          <a:xfrm>
            <a:off x="548640" y="5120640"/>
            <a:ext cx="8229600" cy="822960"/>
          </a:xfrm>
          <a:prstGeom prst="rect">
            <a:avLst/>
          </a:prstGeom>
          <a:noFill/>
          <a:ln/>
        </p:spPr>
        <p:txBody>
          <a:bodyPr wrap="square" lIns="0" tIns="0" rIns="0" bIns="0" rtlCol="0" anchor="t"/>
          <a:lstStyle/>
          <a:p>
            <a:pPr indent="0" marL="0">
              <a:buNone/>
            </a:pPr>
            <a:r>
              <a:rPr lang="en-US" sz="1500" b="1" dirty="0">
                <a:solidFill>
                  <a:srgbClr val="FFFFFF"/>
                </a:solidFill>
              </a:rPr>
              <a:t>Abdullah Azwar  ·  COBSCEHNS24.2P-017</a:t>
            </a:r>
            <a:endParaRPr lang="en-US" sz="1500" dirty="0"/>
          </a:p>
          <a:p>
            <a:pPr indent="0" marL="0">
              <a:buNone/>
            </a:pPr>
            <a:r>
              <a:rPr lang="en-US" sz="1500" dirty="0">
                <a:solidFill>
                  <a:srgbClr val="FFFFFF"/>
                </a:solidFill>
              </a:rPr>
              <a:t>Explainable AI-Based Memory Forensic Triage System</a:t>
            </a:r>
            <a:endParaRPr lang="en-US" sz="1500" dirty="0"/>
          </a:p>
        </p:txBody>
      </p:sp>
      <p:sp>
        <p:nvSpPr>
          <p:cNvPr id="5" name="Text 3"/>
          <p:cNvSpPr txBox="1"/>
          <p:nvPr/>
        </p:nvSpPr>
        <p:spPr>
          <a:xfrm>
            <a:off x="548640" y="914400"/>
            <a:ext cx="8229600" cy="365760"/>
          </a:xfrm>
          <a:prstGeom prst="rect">
            <a:avLst/>
          </a:prstGeom>
          <a:noFill/>
          <a:ln/>
        </p:spPr>
        <p:txBody>
          <a:bodyPr wrap="square" lIns="0" tIns="0" rIns="0" bIns="0" rtlCol="0" anchor="t"/>
          <a:lstStyle/>
          <a:p>
            <a:pPr indent="0" marL="0">
              <a:buNone/>
            </a:pPr>
            <a:r>
              <a:rPr lang="en-US" sz="1400" dirty="0">
                <a:solidFill>
                  <a:srgbClr val="39D353"/>
                </a:solidFill>
                <a:latin typeface="Courier New" pitchFamily="34" charset="0"/>
                <a:ea typeface="Courier New" pitchFamily="34" charset="-122"/>
                <a:cs typeface="Courier New" pitchFamily="34" charset="-120"/>
              </a:rPr>
              <a:t>&gt; session closed — evidence integrity: MATCH</a:t>
            </a:r>
            <a:endParaRPr lang="en-US" sz="1400" dirty="0"/>
          </a:p>
        </p:txBody>
      </p:sp>
      <p:sp>
        <p:nvSpPr>
          <p:cNvPr id="6" name="questions circle"/>
          <p:cNvSpPr/>
          <p:nvPr/>
        </p:nvSpPr>
        <p:spPr>
          <a:xfrm>
            <a:off x="9692640" y="2103120"/>
            <a:ext cx="1828800" cy="1828800"/>
          </a:xfrm>
          <a:prstGeom prst="ellipse">
            <a:avLst/>
          </a:prstGeom>
          <a:solidFill>
            <a:srgbClr val="22D3EE"/>
          </a:solidFill>
          <a:ln w="12700">
            <a:solidFill>
              <a:srgbClr val="22D3EE"/>
            </a:solidFill>
            <a:prstDash val="solid"/>
          </a:ln>
        </p:spPr>
      </p:sp>
      <p:pic>
        <p:nvPicPr>
          <p:cNvPr id="7" name="questions icon" descr="preencoded.png">    </p:cNvPr>
          <p:cNvPicPr>
            <a:picLocks noChangeAspect="1"/>
          </p:cNvPicPr>
          <p:nvPr/>
        </p:nvPicPr>
        <p:blipFill>
          <a:blip r:embed="rId1"/>
          <a:stretch>
            <a:fillRect/>
          </a:stretch>
        </p:blipFill>
        <p:spPr>
          <a:xfrm>
            <a:off x="10149840" y="2560320"/>
            <a:ext cx="914400" cy="914400"/>
          </a:xfrm>
          <a:prstGeom prst="rect">
            <a:avLst/>
          </a:prstGeom>
        </p:spPr>
      </p:pic>
    </p:spTree>
  </p:cSld>
  <p:clrMapOvr>
    <a:masterClrMapping/>
  </p:clrMapOvr>
</p:sld>
</file>

<file path=ppt/theme/theme1.xml><?xml version="1.0" encoding="utf-8"?>
<a:theme xmlns:a="http://schemas.openxmlformats.org/drawingml/2006/main" name="Cyber Terminal">
  <a:themeElements>
    <a:clrScheme name="Cyber Terminal">
      <a:dk1>
        <a:srgbClr val="0D1117"/>
      </a:dk1>
      <a:lt1>
        <a:srgbClr val="FFFFFF"/>
      </a:lt1>
      <a:dk2>
        <a:srgbClr val="05080D"/>
      </a:dk2>
      <a:lt2>
        <a:srgbClr val="161B22"/>
      </a:lt2>
      <a:accent1>
        <a:srgbClr val="22D3EE"/>
      </a:accent1>
      <a:accent2>
        <a:srgbClr val="F87171"/>
      </a:accent2>
      <a:accent3>
        <a:srgbClr val="39D353"/>
      </a:accent3>
      <a:accent4>
        <a:srgbClr val="FBBF24"/>
      </a:accent4>
      <a:accent5>
        <a:srgbClr val="A78BFA"/>
      </a:accent5>
      <a:accent6>
        <a:srgbClr val="60A5FA"/>
      </a:accent6>
      <a:hlink>
        <a:srgbClr val="60A5FA"/>
      </a:hlink>
      <a:folHlink>
        <a:srgbClr val="A78BFA"/>
      </a:folHlink>
    </a:clrScheme>
    <a:fontScheme name="Cyber Terminal">
      <a:majorFont>
        <a:latin typeface="Courier New"/>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Explainable AI-Based Memory Forensic Triage System — Methodology</dc:title>
  <dc:subject>Final-year project viva — methodology</dc:subject>
  <dc:creator>Abdullah Azwar</dc:creator>
  <cp:lastModifiedBy>Abdullah Azwar</cp:lastModifiedBy>
  <cp:revision>1</cp:revision>
  <dcterms:created xsi:type="dcterms:W3CDTF">2026-10-12T08:07:47Z</dcterms:created>
  <dcterms:modified xsi:type="dcterms:W3CDTF">2026-10-12T08:07:47Z</dcterms:modified>
</cp:coreProperties>
</file>