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search" id="{937c5f94-1129-a450-0baa-facf6d911f84}">
          <p14:sldIdLst>
            <p14:sldId id="256"/>
            <p14:sldId id="257"/>
            <p14:sldId id="258"/>
            <p14:sldId id="259"/>
            <p14:sldId id="260"/>
          </p14:sldIdLst>
        </p14:section>
        <p14:section name="Objectives" id="{57864fa8-f58f-6b00-1cf7-2cf692711ab0}">
          <p14:sldIdLst>
            <p14:sldId id="261"/>
          </p14:sldIdLst>
        </p14:section>
        <p14:section name="Usability" id="{9dfa4bb3-1b68-74c0-5800-f5dff83619b5}">
          <p14:sldIdLst>
            <p14:sldId id="262"/>
          </p14:sldIdLst>
        </p14:section>
        <p14:section name="Methodology" id="{8250d454-cb1b-62ef-d8fa-6f9d587bd422}">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research is an explainable AI tool for memory forensics. I will answer three questions: what my research is, what it is for, and who it is for. Then I will cover my objectives, how usable the tool is, and my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my research in three answers. What is it? An AI tool that checks a computer's memory for malware and explains why. What is it for? Finding hidden malware faster, with reasons that can be trusted. Who is it for? Forensic investigators and incident responders, including people who are not memory experts.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research question asks whether machine learning can detect malware in memory accurately, explain its decisions, and keep the evidence forensically sound. So the research has three parts: detect, explain and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research is for. Malware can hide in memory, so the tool looks inside memory. Checking memory by hand is slow, so the tool gives an answer in minutes. And plain AI cannot explain itself, so my tool explains every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users are forensic investigators, who need to sort many memory files quickly. Incident responders and security teams can get a fast, explained answer during an attack. Police and legal cyber units benefit from the sealed report. And students and trainers can use it to learn what malware looks like in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aim is a memory triage tool that detects, explains and protects. Each objective has a method and a way to measure it, and each one maps back to one of those three parts. Objective one, detection, is measured on data the AI has never seen. Objective two, explanation, is met when every result shows its reasons. Objective three makes it work on real memory files. Objective four, protection, is met when a changed file is caught and analysis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Usability was a key goal, because many users are not memory experts. The tool runs in a web browser, with no coding. It guides the user step by step. The result is a simple traffic light. The reasons are in plain English. A PDF report is created with one click. And it runs offline on a normal laptop using free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has five steps, each with its tool. The investigator loads the memory file in a Streamlit web page. Volatility 3 reads 55 clues from it. A scikit-learn AI model decides clean or infected. SHAP and LIME explain why. And ReportLab and hashlib produce a sealed PDF report. The AI learns from a public dataset of 58,596 examples, and is tested on 20 percent it has never seen. Every file is fingerprinted and re-checked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my research is an explainable AI tool for memory forensics. It is for finding hidden malware faster, with reasons that can be trusted. And it is for forensic investigators and incident responders.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840480"/>
            <a:ext cx="8778240" cy="914400"/>
          </a:xfrm>
          <a:prstGeom prst="rect">
            <a:avLst/>
          </a:prstGeom>
          <a:noFill/>
          <a:ln/>
        </p:spPr>
        <p:txBody>
          <a:bodyPr wrap="square" rtlCol="0"/>
          <a:lstStyle>
            <a:lvl1pPr indent="0" marL="0">
              <a:buNone/>
              <a:defRPr lang="en-US" sz="1800" dirty="0">
                <a:solidFill>
                  <a:srgbClr val="A5F3FC"/>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5B6478"/>
                </a:solidFill>
              </a:rPr>
              <a:t>Explainable AI Memory Forensic Triage  ·  Abdullah Azwar  ·  COBSCEHNS24.2P-017</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nchor="b"/>
          <a:lstStyle/>
          <a:p>
            <a:pPr algn="l" indent="0" marL="0">
              <a:buNone/>
            </a:pPr>
            <a:r>
              <a:rPr lang="en-US" sz="4000" b="1" dirty="0">
                <a:solidFill>
                  <a:schemeClr val="bg1"/>
                </a:solidFill>
              </a:rPr>
              <a:t>Explainable AI-Based Memory Forensic Triage System</a:t>
            </a:r>
            <a:endParaRPr lang="en-US" sz="4000" dirty="0"/>
          </a:p>
        </p:txBody>
      </p:sp>
      <p:sp>
        <p:nvSpPr>
          <p:cNvPr id="3" name="Text 0"/>
          <p:cNvSpPr/>
          <p:nvPr>
            <p:ph idx="101" type="body" hasCustomPrompt="1"/>
          </p:nvPr>
        </p:nvSpPr>
        <p:spPr>
          <a:xfrm>
            <a:off x="548640" y="3840480"/>
            <a:ext cx="8778240" cy="914400"/>
          </a:xfrm>
          <a:prstGeom prst="rect">
            <a:avLst/>
          </a:prstGeom>
          <a:noFill/>
          <a:ln/>
        </p:spPr>
        <p:txBody>
          <a:bodyPr wrap="square" rtlCol="0" anchor="t"/>
          <a:lstStyle/>
          <a:p>
            <a:pPr indent="0" marL="0">
              <a:buNone/>
            </a:pPr>
            <a:r>
              <a:rPr lang="en-US" sz="1800" dirty="0">
                <a:solidFill>
                  <a:srgbClr val="A5F3FC"/>
                </a:solidFill>
              </a:rPr>
              <a:t>What it is  ·  What it is for  ·  Who it is for</a:t>
            </a:r>
            <a:endParaRPr lang="en-US" sz="1800" dirty="0"/>
          </a:p>
        </p:txBody>
      </p:sp>
      <p:sp>
        <p:nvSpPr>
          <p:cNvPr id="4" name="Text 2"/>
          <p:cNvSpPr txBox="1"/>
          <p:nvPr/>
        </p:nvSpPr>
        <p:spPr>
          <a:xfrm>
            <a:off x="548640" y="5120640"/>
            <a:ext cx="7315200" cy="1005840"/>
          </a:xfrm>
          <a:prstGeom prst="rect">
            <a:avLst/>
          </a:prstGeom>
          <a:noFill/>
          <a:ln/>
        </p:spPr>
        <p:txBody>
          <a:bodyPr wrap="square" lIns="0" tIns="0" rIns="0" bIns="0" rtlCol="0" anchor="t"/>
          <a:lstStyle/>
          <a:p>
            <a:pPr indent="0" marL="0">
              <a:buNone/>
            </a:pPr>
            <a:r>
              <a:rPr lang="en-US" sz="1500" b="1" dirty="0">
                <a:solidFill>
                  <a:schemeClr val="bg1"/>
                </a:solidFill>
              </a:rPr>
              <a:t>Abdullah Azwar  ·  COBSCEHNS24.2P-017</a:t>
            </a:r>
            <a:endParaRPr lang="en-US" sz="1500" dirty="0"/>
          </a:p>
          <a:p>
            <a:pPr indent="0" marL="0">
              <a:buNone/>
            </a:pPr>
            <a:r>
              <a:rPr lang="en-US" sz="1500" dirty="0">
                <a:solidFill>
                  <a:schemeClr val="bg1"/>
                </a:solidFill>
              </a:rPr>
              <a:t>BSc in Ethical Hacking &amp; Network Security</a:t>
            </a:r>
            <a:endParaRPr lang="en-US" sz="1500" dirty="0"/>
          </a:p>
          <a:p>
            <a:pPr indent="0" marL="0">
              <a:buNone/>
            </a:pPr>
            <a:r>
              <a:rPr lang="en-US" sz="1500" dirty="0">
                <a:solidFill>
                  <a:schemeClr val="bg1"/>
                </a:solidFill>
              </a:rPr>
              <a:t>Supervisor: Mr. Chathura Suduwella</a:t>
            </a:r>
            <a:endParaRPr lang="en-US" sz="1500" dirty="0"/>
          </a:p>
        </p:txBody>
      </p:sp>
      <p:sp>
        <p:nvSpPr>
          <p:cNvPr id="5" name="hero circle"/>
          <p:cNvSpPr/>
          <p:nvPr/>
        </p:nvSpPr>
        <p:spPr>
          <a:xfrm>
            <a:off x="9692640" y="2103120"/>
            <a:ext cx="1828800" cy="1828800"/>
          </a:xfrm>
          <a:prstGeom prst="ellipse">
            <a:avLst/>
          </a:prstGeom>
          <a:solidFill>
            <a:srgbClr val="0891B2"/>
          </a:solidFill>
          <a:ln w="12700">
            <a:solidFill>
              <a:srgbClr val="0891B2"/>
            </a:solidFill>
            <a:prstDash val="solid"/>
          </a:ln>
        </p:spPr>
      </p:sp>
      <p:pic>
        <p:nvPicPr>
          <p:cNvPr id="6" name="hero icon" descr="preencoded.png">    </p:cNvPr>
          <p:cNvPicPr>
            <a:picLocks noChangeAspect="1"/>
          </p:cNvPicPr>
          <p:nvPr/>
        </p:nvPicPr>
        <p:blipFill>
          <a:blip r:embed="rId1"/>
          <a:stretch>
            <a:fillRect/>
          </a:stretch>
        </p:blipFill>
        <p:spPr>
          <a:xfrm>
            <a:off x="10149840" y="256032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My research in three answers</a:t>
            </a:r>
            <a:endParaRPr lang="en-US" sz="2800" dirty="0"/>
          </a:p>
        </p:txBody>
      </p:sp>
      <p:sp>
        <p:nvSpPr>
          <p:cNvPr id="3" name="What is it?"/>
          <p:cNvSpPr/>
          <p:nvPr/>
        </p:nvSpPr>
        <p:spPr>
          <a:xfrm>
            <a:off x="548640" y="1371600"/>
            <a:ext cx="3454298" cy="4480560"/>
          </a:xfrm>
          <a:prstGeom prst="roundRect">
            <a:avLst>
              <a:gd name="adj" fmla="val 3177"/>
            </a:avLst>
          </a:prstGeom>
          <a:solidFill>
            <a:schemeClr val="bg2"/>
          </a:solidFill>
          <a:ln w="12700">
            <a:solidFill>
              <a:schemeClr val="bg2"/>
            </a:solidFill>
            <a:prstDash val="solid"/>
          </a:ln>
        </p:spPr>
      </p:sp>
      <p:sp>
        <p:nvSpPr>
          <p:cNvPr id="4" name="What is it? circle"/>
          <p:cNvSpPr/>
          <p:nvPr/>
        </p:nvSpPr>
        <p:spPr>
          <a:xfrm>
            <a:off x="1635709" y="1691640"/>
            <a:ext cx="1280160" cy="1280160"/>
          </a:xfrm>
          <a:prstGeom prst="ellipse">
            <a:avLst/>
          </a:prstGeom>
          <a:solidFill>
            <a:srgbClr val="2563EB"/>
          </a:solidFill>
          <a:ln w="12700">
            <a:solidFill>
              <a:srgbClr val="2563EB"/>
            </a:solidFill>
            <a:prstDash val="solid"/>
          </a:ln>
        </p:spPr>
      </p:sp>
      <p:pic>
        <p:nvPicPr>
          <p:cNvPr id="5" name="What is it? icon" descr="preencoded.png">    </p:cNvPr>
          <p:cNvPicPr>
            <a:picLocks noChangeAspect="1"/>
          </p:cNvPicPr>
          <p:nvPr/>
        </p:nvPicPr>
        <p:blipFill>
          <a:blip r:embed="rId1"/>
          <a:stretch>
            <a:fillRect/>
          </a:stretch>
        </p:blipFill>
        <p:spPr>
          <a:xfrm>
            <a:off x="1955749" y="2011680"/>
            <a:ext cx="640080" cy="640080"/>
          </a:xfrm>
          <a:prstGeom prst="rect">
            <a:avLst/>
          </a:prstGeom>
        </p:spPr>
      </p:pic>
      <p:sp>
        <p:nvSpPr>
          <p:cNvPr id="6" name="Text 3"/>
          <p:cNvSpPr txBox="1"/>
          <p:nvPr/>
        </p:nvSpPr>
        <p:spPr>
          <a:xfrm>
            <a:off x="822960" y="3154680"/>
            <a:ext cx="2905658" cy="502920"/>
          </a:xfrm>
          <a:prstGeom prst="rect">
            <a:avLst/>
          </a:prstGeom>
          <a:noFill/>
          <a:ln/>
        </p:spPr>
        <p:txBody>
          <a:bodyPr wrap="square" lIns="0" tIns="0" rIns="0" bIns="0" rtlCol="0" anchor="t"/>
          <a:lstStyle/>
          <a:p>
            <a:pPr algn="ctr" indent="0" marL="0">
              <a:buNone/>
            </a:pPr>
            <a:r>
              <a:rPr lang="en-US" sz="2100" b="1" dirty="0">
                <a:solidFill>
                  <a:srgbClr val="2563EB"/>
                </a:solidFill>
              </a:rPr>
              <a:t>What is it?</a:t>
            </a:r>
            <a:endParaRPr lang="en-US" sz="2100" dirty="0"/>
          </a:p>
        </p:txBody>
      </p:sp>
      <p:sp>
        <p:nvSpPr>
          <p:cNvPr id="7" name="Text 4"/>
          <p:cNvSpPr txBox="1"/>
          <p:nvPr/>
        </p:nvSpPr>
        <p:spPr>
          <a:xfrm>
            <a:off x="868680" y="3886200"/>
            <a:ext cx="2814218" cy="1828800"/>
          </a:xfrm>
          <a:prstGeom prst="rect">
            <a:avLst/>
          </a:prstGeom>
          <a:noFill/>
          <a:ln/>
        </p:spPr>
        <p:txBody>
          <a:bodyPr wrap="square" lIns="0" tIns="0" rIns="0" bIns="0" rtlCol="0" anchor="t"/>
          <a:lstStyle/>
          <a:p>
            <a:pPr algn="ctr" indent="0" marL="0">
              <a:buNone/>
            </a:pPr>
            <a:r>
              <a:rPr lang="en-US" sz="1600" dirty="0">
                <a:solidFill>
                  <a:schemeClr val="tx2"/>
                </a:solidFill>
              </a:rPr>
              <a:t>An AI tool that checks a copy of a computer’s memory for malware and explains its decision.</a:t>
            </a:r>
            <a:endParaRPr lang="en-US" sz="1600" dirty="0"/>
          </a:p>
        </p:txBody>
      </p:sp>
      <p:sp>
        <p:nvSpPr>
          <p:cNvPr id="8" name="What is it for?"/>
          <p:cNvSpPr/>
          <p:nvPr/>
        </p:nvSpPr>
        <p:spPr>
          <a:xfrm>
            <a:off x="4368698" y="1371600"/>
            <a:ext cx="3454298" cy="4480560"/>
          </a:xfrm>
          <a:prstGeom prst="roundRect">
            <a:avLst>
              <a:gd name="adj" fmla="val 3177"/>
            </a:avLst>
          </a:prstGeom>
          <a:solidFill>
            <a:schemeClr val="bg2"/>
          </a:solidFill>
          <a:ln w="12700">
            <a:solidFill>
              <a:schemeClr val="bg2"/>
            </a:solidFill>
            <a:prstDash val="solid"/>
          </a:ln>
        </p:spPr>
      </p:sp>
      <p:sp>
        <p:nvSpPr>
          <p:cNvPr id="9" name="What is it for? circle"/>
          <p:cNvSpPr/>
          <p:nvPr/>
        </p:nvSpPr>
        <p:spPr>
          <a:xfrm>
            <a:off x="5455768" y="1691640"/>
            <a:ext cx="1280160" cy="1280160"/>
          </a:xfrm>
          <a:prstGeom prst="ellipse">
            <a:avLst/>
          </a:prstGeom>
          <a:solidFill>
            <a:srgbClr val="DC2626"/>
          </a:solidFill>
          <a:ln w="12700">
            <a:solidFill>
              <a:srgbClr val="DC2626"/>
            </a:solidFill>
            <a:prstDash val="solid"/>
          </a:ln>
        </p:spPr>
      </p:sp>
      <p:pic>
        <p:nvPicPr>
          <p:cNvPr id="10" name="What is it for? icon" descr="preencoded.png">    </p:cNvPr>
          <p:cNvPicPr>
            <a:picLocks noChangeAspect="1"/>
          </p:cNvPicPr>
          <p:nvPr/>
        </p:nvPicPr>
        <p:blipFill>
          <a:blip r:embed="rId2"/>
          <a:stretch>
            <a:fillRect/>
          </a:stretch>
        </p:blipFill>
        <p:spPr>
          <a:xfrm>
            <a:off x="5775808" y="2011680"/>
            <a:ext cx="640080" cy="640080"/>
          </a:xfrm>
          <a:prstGeom prst="rect">
            <a:avLst/>
          </a:prstGeom>
        </p:spPr>
      </p:pic>
      <p:sp>
        <p:nvSpPr>
          <p:cNvPr id="11" name="Text 7"/>
          <p:cNvSpPr txBox="1"/>
          <p:nvPr/>
        </p:nvSpPr>
        <p:spPr>
          <a:xfrm>
            <a:off x="4643018" y="3154680"/>
            <a:ext cx="2905658" cy="502920"/>
          </a:xfrm>
          <a:prstGeom prst="rect">
            <a:avLst/>
          </a:prstGeom>
          <a:noFill/>
          <a:ln/>
        </p:spPr>
        <p:txBody>
          <a:bodyPr wrap="square" lIns="0" tIns="0" rIns="0" bIns="0" rtlCol="0" anchor="t"/>
          <a:lstStyle/>
          <a:p>
            <a:pPr algn="ctr" indent="0" marL="0">
              <a:buNone/>
            </a:pPr>
            <a:r>
              <a:rPr lang="en-US" sz="2100" b="1" dirty="0">
                <a:solidFill>
                  <a:srgbClr val="DC2626"/>
                </a:solidFill>
              </a:rPr>
              <a:t>What is it for?</a:t>
            </a:r>
            <a:endParaRPr lang="en-US" sz="2100" dirty="0"/>
          </a:p>
        </p:txBody>
      </p:sp>
      <p:sp>
        <p:nvSpPr>
          <p:cNvPr id="12" name="Text 8"/>
          <p:cNvSpPr txBox="1"/>
          <p:nvPr/>
        </p:nvSpPr>
        <p:spPr>
          <a:xfrm>
            <a:off x="4688738" y="3886200"/>
            <a:ext cx="2814218" cy="1828800"/>
          </a:xfrm>
          <a:prstGeom prst="rect">
            <a:avLst/>
          </a:prstGeom>
          <a:noFill/>
          <a:ln/>
        </p:spPr>
        <p:txBody>
          <a:bodyPr wrap="square" lIns="0" tIns="0" rIns="0" bIns="0" rtlCol="0" anchor="t"/>
          <a:lstStyle/>
          <a:p>
            <a:pPr algn="ctr" indent="0" marL="0">
              <a:buNone/>
            </a:pPr>
            <a:r>
              <a:rPr lang="en-US" sz="1600" dirty="0">
                <a:solidFill>
                  <a:schemeClr val="tx2"/>
                </a:solidFill>
              </a:rPr>
              <a:t>Finding hidden (fileless) malware faster, with reasons an investigator can trust and defend.</a:t>
            </a:r>
            <a:endParaRPr lang="en-US" sz="1600" dirty="0"/>
          </a:p>
        </p:txBody>
      </p:sp>
      <p:sp>
        <p:nvSpPr>
          <p:cNvPr id="13" name="Who is it for?"/>
          <p:cNvSpPr/>
          <p:nvPr/>
        </p:nvSpPr>
        <p:spPr>
          <a:xfrm>
            <a:off x="8188757" y="1371600"/>
            <a:ext cx="3454298" cy="4480560"/>
          </a:xfrm>
          <a:prstGeom prst="roundRect">
            <a:avLst>
              <a:gd name="adj" fmla="val 3177"/>
            </a:avLst>
          </a:prstGeom>
          <a:solidFill>
            <a:schemeClr val="bg2"/>
          </a:solidFill>
          <a:ln w="12700">
            <a:solidFill>
              <a:schemeClr val="bg2"/>
            </a:solidFill>
            <a:prstDash val="solid"/>
          </a:ln>
        </p:spPr>
      </p:sp>
      <p:sp>
        <p:nvSpPr>
          <p:cNvPr id="14" name="Who is it for? circle"/>
          <p:cNvSpPr/>
          <p:nvPr/>
        </p:nvSpPr>
        <p:spPr>
          <a:xfrm>
            <a:off x="9275826" y="1691640"/>
            <a:ext cx="1280160" cy="1280160"/>
          </a:xfrm>
          <a:prstGeom prst="ellipse">
            <a:avLst/>
          </a:prstGeom>
          <a:solidFill>
            <a:srgbClr val="16A34A"/>
          </a:solidFill>
          <a:ln w="12700">
            <a:solidFill>
              <a:srgbClr val="16A34A"/>
            </a:solidFill>
            <a:prstDash val="solid"/>
          </a:ln>
        </p:spPr>
      </p:sp>
      <p:pic>
        <p:nvPicPr>
          <p:cNvPr id="15" name="Who is it for? icon" descr="preencoded.png">    </p:cNvPr>
          <p:cNvPicPr>
            <a:picLocks noChangeAspect="1"/>
          </p:cNvPicPr>
          <p:nvPr/>
        </p:nvPicPr>
        <p:blipFill>
          <a:blip r:embed="rId3"/>
          <a:stretch>
            <a:fillRect/>
          </a:stretch>
        </p:blipFill>
        <p:spPr>
          <a:xfrm>
            <a:off x="9595866" y="2011680"/>
            <a:ext cx="640080" cy="640080"/>
          </a:xfrm>
          <a:prstGeom prst="rect">
            <a:avLst/>
          </a:prstGeom>
        </p:spPr>
      </p:pic>
      <p:sp>
        <p:nvSpPr>
          <p:cNvPr id="16" name="Text 11"/>
          <p:cNvSpPr txBox="1"/>
          <p:nvPr/>
        </p:nvSpPr>
        <p:spPr>
          <a:xfrm>
            <a:off x="8463077" y="3154680"/>
            <a:ext cx="2905658" cy="502920"/>
          </a:xfrm>
          <a:prstGeom prst="rect">
            <a:avLst/>
          </a:prstGeom>
          <a:noFill/>
          <a:ln/>
        </p:spPr>
        <p:txBody>
          <a:bodyPr wrap="square" lIns="0" tIns="0" rIns="0" bIns="0" rtlCol="0" anchor="t"/>
          <a:lstStyle/>
          <a:p>
            <a:pPr algn="ctr" indent="0" marL="0">
              <a:buNone/>
            </a:pPr>
            <a:r>
              <a:rPr lang="en-US" sz="2100" b="1" dirty="0">
                <a:solidFill>
                  <a:srgbClr val="16A34A"/>
                </a:solidFill>
              </a:rPr>
              <a:t>Who is it for?</a:t>
            </a:r>
            <a:endParaRPr lang="en-US" sz="2100" dirty="0"/>
          </a:p>
        </p:txBody>
      </p:sp>
      <p:sp>
        <p:nvSpPr>
          <p:cNvPr id="17" name="Text 12"/>
          <p:cNvSpPr txBox="1"/>
          <p:nvPr/>
        </p:nvSpPr>
        <p:spPr>
          <a:xfrm>
            <a:off x="8508797" y="3886200"/>
            <a:ext cx="2814218" cy="1828800"/>
          </a:xfrm>
          <a:prstGeom prst="rect">
            <a:avLst/>
          </a:prstGeom>
          <a:noFill/>
          <a:ln/>
        </p:spPr>
        <p:txBody>
          <a:bodyPr wrap="square" lIns="0" tIns="0" rIns="0" bIns="0" rtlCol="0" anchor="t"/>
          <a:lstStyle/>
          <a:p>
            <a:pPr algn="ctr" indent="0" marL="0">
              <a:buNone/>
            </a:pPr>
            <a:r>
              <a:rPr lang="en-US" sz="1600" dirty="0">
                <a:solidFill>
                  <a:schemeClr val="tx2"/>
                </a:solidFill>
              </a:rPr>
              <a:t>Digital forensic investigators and incident responders — including non-experts who need a first answer quickly.</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What is my research?</a:t>
            </a:r>
            <a:endParaRPr lang="en-US" sz="2800" dirty="0"/>
          </a:p>
        </p:txBody>
      </p:sp>
      <p:sp>
        <p:nvSpPr>
          <p:cNvPr id="3" name="rq card"/>
          <p:cNvSpPr/>
          <p:nvPr/>
        </p:nvSpPr>
        <p:spPr>
          <a:xfrm>
            <a:off x="548640" y="1325880"/>
            <a:ext cx="11094415" cy="1645920"/>
          </a:xfrm>
          <a:prstGeom prst="roundRect">
            <a:avLst>
              <a:gd name="adj" fmla="val 6667"/>
            </a:avLst>
          </a:prstGeom>
          <a:solidFill>
            <a:schemeClr val="tx2"/>
          </a:solidFill>
          <a:ln w="12700">
            <a:solidFill>
              <a:schemeClr val="tx2"/>
            </a:solidFill>
            <a:prstDash val="solid"/>
          </a:ln>
        </p:spPr>
      </p:sp>
      <p:sp>
        <p:nvSpPr>
          <p:cNvPr id="4" name="Text 2"/>
          <p:cNvSpPr txBox="1"/>
          <p:nvPr/>
        </p:nvSpPr>
        <p:spPr>
          <a:xfrm>
            <a:off x="914400" y="1508760"/>
            <a:ext cx="5486400" cy="320040"/>
          </a:xfrm>
          <a:prstGeom prst="rect">
            <a:avLst/>
          </a:prstGeom>
          <a:noFill/>
          <a:ln/>
        </p:spPr>
        <p:txBody>
          <a:bodyPr wrap="square" lIns="0" tIns="0" rIns="0" bIns="0" rtlCol="0" anchor="t"/>
          <a:lstStyle/>
          <a:p>
            <a:pPr indent="0" marL="0">
              <a:buNone/>
            </a:pPr>
            <a:r>
              <a:rPr lang="en-US" sz="1300" b="1" spc="300" kern="0" dirty="0">
                <a:solidFill>
                  <a:srgbClr val="A5F3FC"/>
                </a:solidFill>
              </a:rPr>
              <a:t>RESEARCH QUESTION</a:t>
            </a:r>
            <a:endParaRPr lang="en-US" sz="1300" dirty="0"/>
          </a:p>
        </p:txBody>
      </p:sp>
      <p:sp>
        <p:nvSpPr>
          <p:cNvPr id="5" name="Text 3"/>
          <p:cNvSpPr txBox="1"/>
          <p:nvPr/>
        </p:nvSpPr>
        <p:spPr>
          <a:xfrm>
            <a:off x="914400" y="1874520"/>
            <a:ext cx="10362895" cy="1005840"/>
          </a:xfrm>
          <a:prstGeom prst="rect">
            <a:avLst/>
          </a:prstGeom>
          <a:noFill/>
          <a:ln/>
        </p:spPr>
        <p:txBody>
          <a:bodyPr wrap="square" lIns="0" tIns="0" rIns="0" bIns="0" rtlCol="0" anchor="t"/>
          <a:lstStyle/>
          <a:p>
            <a:pPr indent="0" marL="0">
              <a:buNone/>
            </a:pPr>
            <a:r>
              <a:rPr lang="en-US" sz="2100" b="1" dirty="0">
                <a:solidFill>
                  <a:schemeClr val="bg1"/>
                </a:solidFill>
              </a:rPr>
              <a:t>Can machine learning detect malware in computer memory accurately, while explaining its decisions and keeping the evidence forensically sound?</a:t>
            </a:r>
            <a:endParaRPr lang="en-US" sz="2100" dirty="0"/>
          </a:p>
        </p:txBody>
      </p:sp>
      <p:sp>
        <p:nvSpPr>
          <p:cNvPr id="6" name="Detect"/>
          <p:cNvSpPr/>
          <p:nvPr/>
        </p:nvSpPr>
        <p:spPr>
          <a:xfrm>
            <a:off x="548640" y="3246120"/>
            <a:ext cx="3454298" cy="2788920"/>
          </a:xfrm>
          <a:prstGeom prst="roundRect">
            <a:avLst>
              <a:gd name="adj" fmla="val 3934"/>
            </a:avLst>
          </a:prstGeom>
          <a:solidFill>
            <a:schemeClr val="bg2"/>
          </a:solidFill>
          <a:ln w="12700">
            <a:solidFill>
              <a:schemeClr val="bg2"/>
            </a:solidFill>
            <a:prstDash val="solid"/>
          </a:ln>
        </p:spPr>
      </p:sp>
      <p:sp>
        <p:nvSpPr>
          <p:cNvPr id="7" name="Detect circle"/>
          <p:cNvSpPr/>
          <p:nvPr/>
        </p:nvSpPr>
        <p:spPr>
          <a:xfrm>
            <a:off x="1818589" y="3474720"/>
            <a:ext cx="914400" cy="914400"/>
          </a:xfrm>
          <a:prstGeom prst="ellipse">
            <a:avLst/>
          </a:prstGeom>
          <a:solidFill>
            <a:srgbClr val="DC2626"/>
          </a:solidFill>
          <a:ln w="12700">
            <a:solidFill>
              <a:srgbClr val="DC2626"/>
            </a:solidFill>
            <a:prstDash val="solid"/>
          </a:ln>
        </p:spPr>
      </p:sp>
      <p:pic>
        <p:nvPicPr>
          <p:cNvPr id="8" name="Detect icon" descr="preencoded.png">    </p:cNvPr>
          <p:cNvPicPr>
            <a:picLocks noChangeAspect="1"/>
          </p:cNvPicPr>
          <p:nvPr/>
        </p:nvPicPr>
        <p:blipFill>
          <a:blip r:embed="rId1"/>
          <a:stretch>
            <a:fillRect/>
          </a:stretch>
        </p:blipFill>
        <p:spPr>
          <a:xfrm>
            <a:off x="2047189" y="3703320"/>
            <a:ext cx="457200" cy="457200"/>
          </a:xfrm>
          <a:prstGeom prst="rect">
            <a:avLst/>
          </a:prstGeom>
        </p:spPr>
      </p:pic>
      <p:sp>
        <p:nvSpPr>
          <p:cNvPr id="9" name="Text 6"/>
          <p:cNvSpPr txBox="1"/>
          <p:nvPr/>
        </p:nvSpPr>
        <p:spPr>
          <a:xfrm>
            <a:off x="822960" y="4480560"/>
            <a:ext cx="2905658" cy="502920"/>
          </a:xfrm>
          <a:prstGeom prst="rect">
            <a:avLst/>
          </a:prstGeom>
          <a:noFill/>
          <a:ln/>
        </p:spPr>
        <p:txBody>
          <a:bodyPr wrap="square" lIns="0" tIns="0" rIns="0" bIns="0" rtlCol="0" anchor="t"/>
          <a:lstStyle/>
          <a:p>
            <a:pPr algn="ctr" indent="0" marL="0">
              <a:buNone/>
            </a:pPr>
            <a:r>
              <a:rPr lang="en-US" sz="2100" b="1" dirty="0">
                <a:solidFill>
                  <a:srgbClr val="DC2626"/>
                </a:solidFill>
              </a:rPr>
              <a:t>Detect</a:t>
            </a:r>
            <a:endParaRPr lang="en-US" sz="2100" dirty="0"/>
          </a:p>
        </p:txBody>
      </p:sp>
      <p:sp>
        <p:nvSpPr>
          <p:cNvPr id="10" name="Text 7"/>
          <p:cNvSpPr txBox="1"/>
          <p:nvPr/>
        </p:nvSpPr>
        <p:spPr>
          <a:xfrm>
            <a:off x="868680" y="4983480"/>
            <a:ext cx="2814218" cy="914400"/>
          </a:xfrm>
          <a:prstGeom prst="rect">
            <a:avLst/>
          </a:prstGeom>
          <a:noFill/>
          <a:ln/>
        </p:spPr>
        <p:txBody>
          <a:bodyPr wrap="square" lIns="0" tIns="0" rIns="0" bIns="0" rtlCol="0" anchor="t"/>
          <a:lstStyle/>
          <a:p>
            <a:pPr algn="ctr" indent="0" marL="0">
              <a:buNone/>
            </a:pPr>
            <a:r>
              <a:rPr lang="en-US" sz="1600" dirty="0">
                <a:solidFill>
                  <a:schemeClr val="tx2"/>
                </a:solidFill>
              </a:rPr>
              <a:t>Is there malware in this memory?</a:t>
            </a:r>
            <a:endParaRPr lang="en-US" sz="1600" dirty="0"/>
          </a:p>
        </p:txBody>
      </p:sp>
      <p:sp>
        <p:nvSpPr>
          <p:cNvPr id="11" name="Explain"/>
          <p:cNvSpPr/>
          <p:nvPr/>
        </p:nvSpPr>
        <p:spPr>
          <a:xfrm>
            <a:off x="4368698" y="3246120"/>
            <a:ext cx="3454298" cy="2788920"/>
          </a:xfrm>
          <a:prstGeom prst="roundRect">
            <a:avLst>
              <a:gd name="adj" fmla="val 3934"/>
            </a:avLst>
          </a:prstGeom>
          <a:solidFill>
            <a:schemeClr val="bg2"/>
          </a:solidFill>
          <a:ln w="12700">
            <a:solidFill>
              <a:schemeClr val="bg2"/>
            </a:solidFill>
            <a:prstDash val="solid"/>
          </a:ln>
        </p:spPr>
      </p:sp>
      <p:sp>
        <p:nvSpPr>
          <p:cNvPr id="12" name="Explain circle"/>
          <p:cNvSpPr/>
          <p:nvPr/>
        </p:nvSpPr>
        <p:spPr>
          <a:xfrm>
            <a:off x="5638648" y="3474720"/>
            <a:ext cx="914400" cy="914400"/>
          </a:xfrm>
          <a:prstGeom prst="ellipse">
            <a:avLst/>
          </a:prstGeom>
          <a:solidFill>
            <a:srgbClr val="D97706"/>
          </a:solidFill>
          <a:ln w="12700">
            <a:solidFill>
              <a:srgbClr val="D97706"/>
            </a:solidFill>
            <a:prstDash val="solid"/>
          </a:ln>
        </p:spPr>
      </p:sp>
      <p:pic>
        <p:nvPicPr>
          <p:cNvPr id="13" name="Explain icon" descr="preencoded.png">    </p:cNvPr>
          <p:cNvPicPr>
            <a:picLocks noChangeAspect="1"/>
          </p:cNvPicPr>
          <p:nvPr/>
        </p:nvPicPr>
        <p:blipFill>
          <a:blip r:embed="rId2"/>
          <a:stretch>
            <a:fillRect/>
          </a:stretch>
        </p:blipFill>
        <p:spPr>
          <a:xfrm>
            <a:off x="5867248" y="3703320"/>
            <a:ext cx="457200" cy="457200"/>
          </a:xfrm>
          <a:prstGeom prst="rect">
            <a:avLst/>
          </a:prstGeom>
        </p:spPr>
      </p:pic>
      <p:sp>
        <p:nvSpPr>
          <p:cNvPr id="14" name="Text 10"/>
          <p:cNvSpPr txBox="1"/>
          <p:nvPr/>
        </p:nvSpPr>
        <p:spPr>
          <a:xfrm>
            <a:off x="4643018" y="4480560"/>
            <a:ext cx="2905658" cy="502920"/>
          </a:xfrm>
          <a:prstGeom prst="rect">
            <a:avLst/>
          </a:prstGeom>
          <a:noFill/>
          <a:ln/>
        </p:spPr>
        <p:txBody>
          <a:bodyPr wrap="square" lIns="0" tIns="0" rIns="0" bIns="0" rtlCol="0" anchor="t"/>
          <a:lstStyle/>
          <a:p>
            <a:pPr algn="ctr" indent="0" marL="0">
              <a:buNone/>
            </a:pPr>
            <a:r>
              <a:rPr lang="en-US" sz="2100" b="1" dirty="0">
                <a:solidFill>
                  <a:srgbClr val="D97706"/>
                </a:solidFill>
              </a:rPr>
              <a:t>Explain</a:t>
            </a:r>
            <a:endParaRPr lang="en-US" sz="2100" dirty="0"/>
          </a:p>
        </p:txBody>
      </p:sp>
      <p:sp>
        <p:nvSpPr>
          <p:cNvPr id="15" name="Text 11"/>
          <p:cNvSpPr txBox="1"/>
          <p:nvPr/>
        </p:nvSpPr>
        <p:spPr>
          <a:xfrm>
            <a:off x="4688738" y="4983480"/>
            <a:ext cx="2814218" cy="914400"/>
          </a:xfrm>
          <a:prstGeom prst="rect">
            <a:avLst/>
          </a:prstGeom>
          <a:noFill/>
          <a:ln/>
        </p:spPr>
        <p:txBody>
          <a:bodyPr wrap="square" lIns="0" tIns="0" rIns="0" bIns="0" rtlCol="0" anchor="t"/>
          <a:lstStyle/>
          <a:p>
            <a:pPr algn="ctr" indent="0" marL="0">
              <a:buNone/>
            </a:pPr>
            <a:r>
              <a:rPr lang="en-US" sz="1600" dirty="0">
                <a:solidFill>
                  <a:schemeClr val="tx2"/>
                </a:solidFill>
              </a:rPr>
              <a:t>Why does the tool think so — in plain English?</a:t>
            </a:r>
            <a:endParaRPr lang="en-US" sz="1600" dirty="0"/>
          </a:p>
        </p:txBody>
      </p:sp>
      <p:sp>
        <p:nvSpPr>
          <p:cNvPr id="16" name="Protect"/>
          <p:cNvSpPr/>
          <p:nvPr/>
        </p:nvSpPr>
        <p:spPr>
          <a:xfrm>
            <a:off x="8188757" y="3246120"/>
            <a:ext cx="3454298" cy="2788920"/>
          </a:xfrm>
          <a:prstGeom prst="roundRect">
            <a:avLst>
              <a:gd name="adj" fmla="val 3934"/>
            </a:avLst>
          </a:prstGeom>
          <a:solidFill>
            <a:schemeClr val="bg2"/>
          </a:solidFill>
          <a:ln w="12700">
            <a:solidFill>
              <a:schemeClr val="bg2"/>
            </a:solidFill>
            <a:prstDash val="solid"/>
          </a:ln>
        </p:spPr>
      </p:sp>
      <p:sp>
        <p:nvSpPr>
          <p:cNvPr id="17" name="Protect circle"/>
          <p:cNvSpPr/>
          <p:nvPr/>
        </p:nvSpPr>
        <p:spPr>
          <a:xfrm>
            <a:off x="9458706" y="3474720"/>
            <a:ext cx="914400" cy="914400"/>
          </a:xfrm>
          <a:prstGeom prst="ellipse">
            <a:avLst/>
          </a:prstGeom>
          <a:solidFill>
            <a:srgbClr val="16A34A"/>
          </a:solidFill>
          <a:ln w="12700">
            <a:solidFill>
              <a:srgbClr val="16A34A"/>
            </a:solidFill>
            <a:prstDash val="solid"/>
          </a:ln>
        </p:spPr>
      </p:sp>
      <p:pic>
        <p:nvPicPr>
          <p:cNvPr id="18" name="Protect icon" descr="preencoded.png">    </p:cNvPr>
          <p:cNvPicPr>
            <a:picLocks noChangeAspect="1"/>
          </p:cNvPicPr>
          <p:nvPr/>
        </p:nvPicPr>
        <p:blipFill>
          <a:blip r:embed="rId3"/>
          <a:stretch>
            <a:fillRect/>
          </a:stretch>
        </p:blipFill>
        <p:spPr>
          <a:xfrm>
            <a:off x="9687306" y="3703320"/>
            <a:ext cx="457200" cy="457200"/>
          </a:xfrm>
          <a:prstGeom prst="rect">
            <a:avLst/>
          </a:prstGeom>
        </p:spPr>
      </p:pic>
      <p:sp>
        <p:nvSpPr>
          <p:cNvPr id="19" name="Text 14"/>
          <p:cNvSpPr txBox="1"/>
          <p:nvPr/>
        </p:nvSpPr>
        <p:spPr>
          <a:xfrm>
            <a:off x="8463077" y="4480560"/>
            <a:ext cx="2905658" cy="502920"/>
          </a:xfrm>
          <a:prstGeom prst="rect">
            <a:avLst/>
          </a:prstGeom>
          <a:noFill/>
          <a:ln/>
        </p:spPr>
        <p:txBody>
          <a:bodyPr wrap="square" lIns="0" tIns="0" rIns="0" bIns="0" rtlCol="0" anchor="t"/>
          <a:lstStyle/>
          <a:p>
            <a:pPr algn="ctr" indent="0" marL="0">
              <a:buNone/>
            </a:pPr>
            <a:r>
              <a:rPr lang="en-US" sz="2100" b="1" dirty="0">
                <a:solidFill>
                  <a:srgbClr val="16A34A"/>
                </a:solidFill>
              </a:rPr>
              <a:t>Protect</a:t>
            </a:r>
            <a:endParaRPr lang="en-US" sz="2100" dirty="0"/>
          </a:p>
        </p:txBody>
      </p:sp>
      <p:sp>
        <p:nvSpPr>
          <p:cNvPr id="20" name="Text 15"/>
          <p:cNvSpPr txBox="1"/>
          <p:nvPr/>
        </p:nvSpPr>
        <p:spPr>
          <a:xfrm>
            <a:off x="8508797" y="4983480"/>
            <a:ext cx="2814218" cy="914400"/>
          </a:xfrm>
          <a:prstGeom prst="rect">
            <a:avLst/>
          </a:prstGeom>
          <a:noFill/>
          <a:ln/>
        </p:spPr>
        <p:txBody>
          <a:bodyPr wrap="square" lIns="0" tIns="0" rIns="0" bIns="0" rtlCol="0" anchor="t"/>
          <a:lstStyle/>
          <a:p>
            <a:pPr algn="ctr" indent="0" marL="0">
              <a:buNone/>
            </a:pPr>
            <a:r>
              <a:rPr lang="en-US" sz="1600" dirty="0">
                <a:solidFill>
                  <a:schemeClr val="tx2"/>
                </a:solidFill>
              </a:rPr>
              <a:t>Can we prove the evidence was never changed?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What is it for? The problem it solves</a:t>
            </a:r>
            <a:endParaRPr lang="en-US" sz="2800" dirty="0"/>
          </a:p>
        </p:txBody>
      </p:sp>
      <p:sp>
        <p:nvSpPr>
          <p:cNvPr id="3" name="problem 1"/>
          <p:cNvSpPr/>
          <p:nvPr/>
        </p:nvSpPr>
        <p:spPr>
          <a:xfrm>
            <a:off x="548640" y="1325880"/>
            <a:ext cx="6400800" cy="1371600"/>
          </a:xfrm>
          <a:prstGeom prst="roundRect">
            <a:avLst>
              <a:gd name="adj" fmla="val 8000"/>
            </a:avLst>
          </a:prstGeom>
          <a:solidFill>
            <a:schemeClr val="bg2"/>
          </a:solidFill>
          <a:ln w="12700">
            <a:solidFill>
              <a:schemeClr val="bg2"/>
            </a:solidFill>
            <a:prstDash val="solid"/>
          </a:ln>
        </p:spPr>
      </p:sp>
      <p:sp>
        <p:nvSpPr>
          <p:cNvPr id="4" name="problem 1 circle"/>
          <p:cNvSpPr/>
          <p:nvPr/>
        </p:nvSpPr>
        <p:spPr>
          <a:xfrm>
            <a:off x="777240" y="1600200"/>
            <a:ext cx="822960" cy="822960"/>
          </a:xfrm>
          <a:prstGeom prst="ellipse">
            <a:avLst/>
          </a:prstGeom>
          <a:solidFill>
            <a:srgbClr val="DC2626"/>
          </a:solidFill>
          <a:ln w="12700">
            <a:solidFill>
              <a:srgbClr val="DC2626"/>
            </a:solidFill>
            <a:prstDash val="solid"/>
          </a:ln>
        </p:spPr>
      </p:sp>
      <p:pic>
        <p:nvPicPr>
          <p:cNvPr id="5" name="problem 1 icon" descr="preencoded.png">    </p:cNvPr>
          <p:cNvPicPr>
            <a:picLocks noChangeAspect="1"/>
          </p:cNvPicPr>
          <p:nvPr/>
        </p:nvPicPr>
        <p:blipFill>
          <a:blip r:embed="rId1"/>
          <a:stretch>
            <a:fillRect/>
          </a:stretch>
        </p:blipFill>
        <p:spPr>
          <a:xfrm>
            <a:off x="982980" y="1805940"/>
            <a:ext cx="411480" cy="411480"/>
          </a:xfrm>
          <a:prstGeom prst="rect">
            <a:avLst/>
          </a:prstGeom>
        </p:spPr>
      </p:pic>
      <p:sp>
        <p:nvSpPr>
          <p:cNvPr id="6" name="Text 3"/>
          <p:cNvSpPr txBox="1"/>
          <p:nvPr/>
        </p:nvSpPr>
        <p:spPr>
          <a:xfrm>
            <a:off x="1828800" y="1554480"/>
            <a:ext cx="4937760" cy="411480"/>
          </a:xfrm>
          <a:prstGeom prst="rect">
            <a:avLst/>
          </a:prstGeom>
          <a:noFill/>
          <a:ln/>
        </p:spPr>
        <p:txBody>
          <a:bodyPr wrap="square" lIns="0" tIns="0" rIns="0" bIns="0" rtlCol="0" anchor="t"/>
          <a:lstStyle/>
          <a:p>
            <a:pPr indent="0" marL="0">
              <a:buNone/>
            </a:pPr>
            <a:r>
              <a:rPr lang="en-US" sz="1900" b="1" dirty="0">
                <a:solidFill>
                  <a:schemeClr val="tx1"/>
                </a:solidFill>
              </a:rPr>
              <a:t>Malware hides in RAM</a:t>
            </a:r>
            <a:endParaRPr lang="en-US" sz="1900" dirty="0"/>
          </a:p>
        </p:txBody>
      </p:sp>
      <p:sp>
        <p:nvSpPr>
          <p:cNvPr id="7" name="Text 4"/>
          <p:cNvSpPr txBox="1"/>
          <p:nvPr/>
        </p:nvSpPr>
        <p:spPr>
          <a:xfrm>
            <a:off x="1828800" y="2011680"/>
            <a:ext cx="4937760" cy="548640"/>
          </a:xfrm>
          <a:prstGeom prst="rect">
            <a:avLst/>
          </a:prstGeom>
          <a:noFill/>
          <a:ln/>
        </p:spPr>
        <p:txBody>
          <a:bodyPr wrap="square" lIns="0" tIns="0" rIns="0" bIns="0" rtlCol="0" anchor="t"/>
          <a:lstStyle/>
          <a:p>
            <a:pPr indent="0" marL="0">
              <a:buNone/>
            </a:pPr>
            <a:r>
              <a:rPr lang="en-US" sz="1500" dirty="0">
                <a:solidFill>
                  <a:schemeClr val="tx2"/>
                </a:solidFill>
              </a:rPr>
              <a:t>Fileless attacks leave little or no trace on the hard disk.</a:t>
            </a:r>
            <a:endParaRPr lang="en-US" sz="1500" dirty="0"/>
          </a:p>
        </p:txBody>
      </p:sp>
      <p:sp>
        <p:nvSpPr>
          <p:cNvPr id="8" name="arrow 1"/>
          <p:cNvSpPr/>
          <p:nvPr/>
        </p:nvSpPr>
        <p:spPr>
          <a:xfrm>
            <a:off x="7086600" y="2011680"/>
            <a:ext cx="548640" cy="0"/>
          </a:xfrm>
          <a:prstGeom prst="line">
            <a:avLst/>
          </a:prstGeom>
          <a:noFill/>
          <a:ln w="38100">
            <a:solidFill>
              <a:srgbClr val="5B6478"/>
            </a:solidFill>
            <a:prstDash val="solid"/>
            <a:tailEnd type="triangle"/>
          </a:ln>
        </p:spPr>
      </p:sp>
      <p:sp>
        <p:nvSpPr>
          <p:cNvPr id="9" name="solution 1"/>
          <p:cNvSpPr txBox="1"/>
          <p:nvPr/>
        </p:nvSpPr>
        <p:spPr>
          <a:xfrm>
            <a:off x="7772400" y="1600200"/>
            <a:ext cx="3870655" cy="822960"/>
          </a:xfrm>
          <a:prstGeom prst="roundRect">
            <a:avLst>
              <a:gd name="adj" fmla="val 13333"/>
            </a:avLst>
          </a:prstGeom>
          <a:solidFill>
            <a:srgbClr val="16A34A"/>
          </a:solidFill>
          <a:ln/>
        </p:spPr>
        <p:txBody>
          <a:bodyPr wrap="square" rtlCol="0" anchor="ctr"/>
          <a:lstStyle/>
          <a:p>
            <a:pPr algn="ctr" indent="0" marL="0">
              <a:buNone/>
            </a:pPr>
            <a:r>
              <a:rPr lang="en-US" sz="1800" b="1" dirty="0">
                <a:solidFill>
                  <a:schemeClr val="bg1"/>
                </a:solidFill>
              </a:rPr>
              <a:t>Looks inside memory</a:t>
            </a:r>
            <a:endParaRPr lang="en-US" sz="1800" dirty="0"/>
          </a:p>
        </p:txBody>
      </p:sp>
      <p:sp>
        <p:nvSpPr>
          <p:cNvPr id="10" name="problem 2"/>
          <p:cNvSpPr/>
          <p:nvPr/>
        </p:nvSpPr>
        <p:spPr>
          <a:xfrm>
            <a:off x="548640" y="2926080"/>
            <a:ext cx="6400800" cy="1371600"/>
          </a:xfrm>
          <a:prstGeom prst="roundRect">
            <a:avLst>
              <a:gd name="adj" fmla="val 8000"/>
            </a:avLst>
          </a:prstGeom>
          <a:solidFill>
            <a:schemeClr val="bg2"/>
          </a:solidFill>
          <a:ln w="12700">
            <a:solidFill>
              <a:schemeClr val="bg2"/>
            </a:solidFill>
            <a:prstDash val="solid"/>
          </a:ln>
        </p:spPr>
      </p:sp>
      <p:sp>
        <p:nvSpPr>
          <p:cNvPr id="11" name="problem 2 circle"/>
          <p:cNvSpPr/>
          <p:nvPr/>
        </p:nvSpPr>
        <p:spPr>
          <a:xfrm>
            <a:off x="777240" y="3200400"/>
            <a:ext cx="822960" cy="822960"/>
          </a:xfrm>
          <a:prstGeom prst="ellipse">
            <a:avLst/>
          </a:prstGeom>
          <a:solidFill>
            <a:srgbClr val="D97706"/>
          </a:solidFill>
          <a:ln w="12700">
            <a:solidFill>
              <a:srgbClr val="D97706"/>
            </a:solidFill>
            <a:prstDash val="solid"/>
          </a:ln>
        </p:spPr>
      </p:sp>
      <p:pic>
        <p:nvPicPr>
          <p:cNvPr id="12" name="problem 2 icon" descr="preencoded.png">    </p:cNvPr>
          <p:cNvPicPr>
            <a:picLocks noChangeAspect="1"/>
          </p:cNvPicPr>
          <p:nvPr/>
        </p:nvPicPr>
        <p:blipFill>
          <a:blip r:embed="rId2"/>
          <a:stretch>
            <a:fillRect/>
          </a:stretch>
        </p:blipFill>
        <p:spPr>
          <a:xfrm>
            <a:off x="982980" y="3406140"/>
            <a:ext cx="411480" cy="411480"/>
          </a:xfrm>
          <a:prstGeom prst="rect">
            <a:avLst/>
          </a:prstGeom>
        </p:spPr>
      </p:pic>
      <p:sp>
        <p:nvSpPr>
          <p:cNvPr id="13" name="Text 9"/>
          <p:cNvSpPr txBox="1"/>
          <p:nvPr/>
        </p:nvSpPr>
        <p:spPr>
          <a:xfrm>
            <a:off x="1828800" y="3154680"/>
            <a:ext cx="4937760" cy="411480"/>
          </a:xfrm>
          <a:prstGeom prst="rect">
            <a:avLst/>
          </a:prstGeom>
          <a:noFill/>
          <a:ln/>
        </p:spPr>
        <p:txBody>
          <a:bodyPr wrap="square" lIns="0" tIns="0" rIns="0" bIns="0" rtlCol="0" anchor="t"/>
          <a:lstStyle/>
          <a:p>
            <a:pPr indent="0" marL="0">
              <a:buNone/>
            </a:pPr>
            <a:r>
              <a:rPr lang="en-US" sz="1900" b="1" dirty="0">
                <a:solidFill>
                  <a:schemeClr val="tx1"/>
                </a:solidFill>
              </a:rPr>
              <a:t>Manual analysis is slow</a:t>
            </a:r>
            <a:endParaRPr lang="en-US" sz="1900" dirty="0"/>
          </a:p>
        </p:txBody>
      </p:sp>
      <p:sp>
        <p:nvSpPr>
          <p:cNvPr id="14" name="Text 10"/>
          <p:cNvSpPr txBox="1"/>
          <p:nvPr/>
        </p:nvSpPr>
        <p:spPr>
          <a:xfrm>
            <a:off x="1828800" y="3611880"/>
            <a:ext cx="4937760" cy="548640"/>
          </a:xfrm>
          <a:prstGeom prst="rect">
            <a:avLst/>
          </a:prstGeom>
          <a:noFill/>
          <a:ln/>
        </p:spPr>
        <p:txBody>
          <a:bodyPr wrap="square" lIns="0" tIns="0" rIns="0" bIns="0" rtlCol="0" anchor="t"/>
          <a:lstStyle/>
          <a:p>
            <a:pPr indent="0" marL="0">
              <a:buNone/>
            </a:pPr>
            <a:r>
              <a:rPr lang="en-US" sz="1500" dirty="0">
                <a:solidFill>
                  <a:schemeClr val="tx2"/>
                </a:solidFill>
              </a:rPr>
              <a:t>Experts read thousands of lines of memory data by hand.</a:t>
            </a:r>
            <a:endParaRPr lang="en-US" sz="1500" dirty="0"/>
          </a:p>
        </p:txBody>
      </p:sp>
      <p:sp>
        <p:nvSpPr>
          <p:cNvPr id="15" name="arrow 2"/>
          <p:cNvSpPr/>
          <p:nvPr/>
        </p:nvSpPr>
        <p:spPr>
          <a:xfrm>
            <a:off x="7086600" y="3611880"/>
            <a:ext cx="548640" cy="0"/>
          </a:xfrm>
          <a:prstGeom prst="line">
            <a:avLst/>
          </a:prstGeom>
          <a:noFill/>
          <a:ln w="38100">
            <a:solidFill>
              <a:srgbClr val="5B6478"/>
            </a:solidFill>
            <a:prstDash val="solid"/>
            <a:tailEnd type="triangle"/>
          </a:ln>
        </p:spPr>
      </p:sp>
      <p:sp>
        <p:nvSpPr>
          <p:cNvPr id="16" name="solution 2"/>
          <p:cNvSpPr txBox="1"/>
          <p:nvPr/>
        </p:nvSpPr>
        <p:spPr>
          <a:xfrm>
            <a:off x="7772400" y="3200400"/>
            <a:ext cx="3870655" cy="822960"/>
          </a:xfrm>
          <a:prstGeom prst="roundRect">
            <a:avLst>
              <a:gd name="adj" fmla="val 13333"/>
            </a:avLst>
          </a:prstGeom>
          <a:solidFill>
            <a:srgbClr val="16A34A"/>
          </a:solidFill>
          <a:ln/>
        </p:spPr>
        <p:txBody>
          <a:bodyPr wrap="square" rtlCol="0" anchor="ctr"/>
          <a:lstStyle/>
          <a:p>
            <a:pPr algn="ctr" indent="0" marL="0">
              <a:buNone/>
            </a:pPr>
            <a:r>
              <a:rPr lang="en-US" sz="1800" b="1" dirty="0">
                <a:solidFill>
                  <a:schemeClr val="bg1"/>
                </a:solidFill>
              </a:rPr>
              <a:t>Gives an answer in minutes</a:t>
            </a:r>
            <a:endParaRPr lang="en-US" sz="1800" dirty="0"/>
          </a:p>
        </p:txBody>
      </p:sp>
      <p:sp>
        <p:nvSpPr>
          <p:cNvPr id="17" name="problem 3"/>
          <p:cNvSpPr/>
          <p:nvPr/>
        </p:nvSpPr>
        <p:spPr>
          <a:xfrm>
            <a:off x="548640" y="4526280"/>
            <a:ext cx="6400800" cy="1371600"/>
          </a:xfrm>
          <a:prstGeom prst="roundRect">
            <a:avLst>
              <a:gd name="adj" fmla="val 8000"/>
            </a:avLst>
          </a:prstGeom>
          <a:solidFill>
            <a:schemeClr val="bg2"/>
          </a:solidFill>
          <a:ln w="12700">
            <a:solidFill>
              <a:schemeClr val="bg2"/>
            </a:solidFill>
            <a:prstDash val="solid"/>
          </a:ln>
        </p:spPr>
      </p:sp>
      <p:sp>
        <p:nvSpPr>
          <p:cNvPr id="18" name="problem 3 circle"/>
          <p:cNvSpPr/>
          <p:nvPr/>
        </p:nvSpPr>
        <p:spPr>
          <a:xfrm>
            <a:off x="777240" y="4800600"/>
            <a:ext cx="822960" cy="822960"/>
          </a:xfrm>
          <a:prstGeom prst="ellipse">
            <a:avLst/>
          </a:prstGeom>
          <a:solidFill>
            <a:srgbClr val="6D5BD0"/>
          </a:solidFill>
          <a:ln w="12700">
            <a:solidFill>
              <a:srgbClr val="6D5BD0"/>
            </a:solidFill>
            <a:prstDash val="solid"/>
          </a:ln>
        </p:spPr>
      </p:sp>
      <p:pic>
        <p:nvPicPr>
          <p:cNvPr id="19" name="problem 3 icon" descr="preencoded.png">    </p:cNvPr>
          <p:cNvPicPr>
            <a:picLocks noChangeAspect="1"/>
          </p:cNvPicPr>
          <p:nvPr/>
        </p:nvPicPr>
        <p:blipFill>
          <a:blip r:embed="rId3"/>
          <a:stretch>
            <a:fillRect/>
          </a:stretch>
        </p:blipFill>
        <p:spPr>
          <a:xfrm>
            <a:off x="982980" y="5006340"/>
            <a:ext cx="411480" cy="411480"/>
          </a:xfrm>
          <a:prstGeom prst="rect">
            <a:avLst/>
          </a:prstGeom>
        </p:spPr>
      </p:pic>
      <p:sp>
        <p:nvSpPr>
          <p:cNvPr id="20" name="Text 15"/>
          <p:cNvSpPr txBox="1"/>
          <p:nvPr/>
        </p:nvSpPr>
        <p:spPr>
          <a:xfrm>
            <a:off x="1828800" y="4754880"/>
            <a:ext cx="4937760" cy="411480"/>
          </a:xfrm>
          <a:prstGeom prst="rect">
            <a:avLst/>
          </a:prstGeom>
          <a:noFill/>
          <a:ln/>
        </p:spPr>
        <p:txBody>
          <a:bodyPr wrap="square" lIns="0" tIns="0" rIns="0" bIns="0" rtlCol="0" anchor="t"/>
          <a:lstStyle/>
          <a:p>
            <a:pPr indent="0" marL="0">
              <a:buNone/>
            </a:pPr>
            <a:r>
              <a:rPr lang="en-US" sz="1900" b="1" dirty="0">
                <a:solidFill>
                  <a:schemeClr val="tx1"/>
                </a:solidFill>
              </a:rPr>
              <a:t>AI is a black box</a:t>
            </a:r>
            <a:endParaRPr lang="en-US" sz="1900" dirty="0"/>
          </a:p>
        </p:txBody>
      </p:sp>
      <p:sp>
        <p:nvSpPr>
          <p:cNvPr id="21" name="Text 16"/>
          <p:cNvSpPr txBox="1"/>
          <p:nvPr/>
        </p:nvSpPr>
        <p:spPr>
          <a:xfrm>
            <a:off x="1828800" y="5212080"/>
            <a:ext cx="4937760" cy="548640"/>
          </a:xfrm>
          <a:prstGeom prst="rect">
            <a:avLst/>
          </a:prstGeom>
          <a:noFill/>
          <a:ln/>
        </p:spPr>
        <p:txBody>
          <a:bodyPr wrap="square" lIns="0" tIns="0" rIns="0" bIns="0" rtlCol="0" anchor="t"/>
          <a:lstStyle/>
          <a:p>
            <a:pPr indent="0" marL="0">
              <a:buNone/>
            </a:pPr>
            <a:r>
              <a:rPr lang="en-US" sz="1500" dirty="0">
                <a:solidFill>
                  <a:schemeClr val="tx2"/>
                </a:solidFill>
              </a:rPr>
              <a:t>A score without reasons can’t be used as evidence.</a:t>
            </a:r>
            <a:endParaRPr lang="en-US" sz="1500" dirty="0"/>
          </a:p>
        </p:txBody>
      </p:sp>
      <p:sp>
        <p:nvSpPr>
          <p:cNvPr id="22" name="arrow 3"/>
          <p:cNvSpPr/>
          <p:nvPr/>
        </p:nvSpPr>
        <p:spPr>
          <a:xfrm>
            <a:off x="7086600" y="5212080"/>
            <a:ext cx="548640" cy="0"/>
          </a:xfrm>
          <a:prstGeom prst="line">
            <a:avLst/>
          </a:prstGeom>
          <a:noFill/>
          <a:ln w="38100">
            <a:solidFill>
              <a:srgbClr val="5B6478"/>
            </a:solidFill>
            <a:prstDash val="solid"/>
            <a:tailEnd type="triangle"/>
          </a:ln>
        </p:spPr>
      </p:sp>
      <p:sp>
        <p:nvSpPr>
          <p:cNvPr id="23" name="solution 3"/>
          <p:cNvSpPr txBox="1"/>
          <p:nvPr/>
        </p:nvSpPr>
        <p:spPr>
          <a:xfrm>
            <a:off x="7772400" y="4800600"/>
            <a:ext cx="3870655" cy="822960"/>
          </a:xfrm>
          <a:prstGeom prst="roundRect">
            <a:avLst>
              <a:gd name="adj" fmla="val 13333"/>
            </a:avLst>
          </a:prstGeom>
          <a:solidFill>
            <a:srgbClr val="16A34A"/>
          </a:solidFill>
          <a:ln/>
        </p:spPr>
        <p:txBody>
          <a:bodyPr wrap="square" rtlCol="0" anchor="ctr"/>
          <a:lstStyle/>
          <a:p>
            <a:pPr algn="ctr" indent="0" marL="0">
              <a:buNone/>
            </a:pPr>
            <a:r>
              <a:rPr lang="en-US" sz="1800" b="1" dirty="0">
                <a:solidFill>
                  <a:schemeClr val="bg1"/>
                </a:solidFill>
              </a:rPr>
              <a:t>Explains every result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Who is it for?</a:t>
            </a:r>
            <a:endParaRPr lang="en-US" sz="2800" dirty="0"/>
          </a:p>
        </p:txBody>
      </p:sp>
      <p:sp>
        <p:nvSpPr>
          <p:cNvPr id="3" name="user 1"/>
          <p:cNvSpPr/>
          <p:nvPr/>
        </p:nvSpPr>
        <p:spPr>
          <a:xfrm>
            <a:off x="548640" y="1325880"/>
            <a:ext cx="5364328" cy="2194560"/>
          </a:xfrm>
          <a:prstGeom prst="roundRect">
            <a:avLst>
              <a:gd name="adj" fmla="val 5000"/>
            </a:avLst>
          </a:prstGeom>
          <a:solidFill>
            <a:schemeClr val="bg2"/>
          </a:solidFill>
          <a:ln w="12700">
            <a:solidFill>
              <a:schemeClr val="bg2"/>
            </a:solidFill>
            <a:prstDash val="solid"/>
          </a:ln>
        </p:spPr>
      </p:sp>
      <p:sp>
        <p:nvSpPr>
          <p:cNvPr id="4" name="user 1 circle"/>
          <p:cNvSpPr/>
          <p:nvPr/>
        </p:nvSpPr>
        <p:spPr>
          <a:xfrm>
            <a:off x="868680" y="1828800"/>
            <a:ext cx="1188720" cy="1188720"/>
          </a:xfrm>
          <a:prstGeom prst="ellipse">
            <a:avLst/>
          </a:prstGeom>
          <a:solidFill>
            <a:srgbClr val="2563EB"/>
          </a:solidFill>
          <a:ln w="12700">
            <a:solidFill>
              <a:srgbClr val="2563EB"/>
            </a:solidFill>
            <a:prstDash val="solid"/>
          </a:ln>
        </p:spPr>
      </p:sp>
      <p:pic>
        <p:nvPicPr>
          <p:cNvPr id="5" name="user 1 icon" descr="preencoded.png">    </p:cNvPr>
          <p:cNvPicPr>
            <a:picLocks noChangeAspect="1"/>
          </p:cNvPicPr>
          <p:nvPr/>
        </p:nvPicPr>
        <p:blipFill>
          <a:blip r:embed="rId1"/>
          <a:stretch>
            <a:fillRect/>
          </a:stretch>
        </p:blipFill>
        <p:spPr>
          <a:xfrm>
            <a:off x="1165860" y="2125980"/>
            <a:ext cx="594360" cy="594360"/>
          </a:xfrm>
          <a:prstGeom prst="rect">
            <a:avLst/>
          </a:prstGeom>
        </p:spPr>
      </p:pic>
      <p:sp>
        <p:nvSpPr>
          <p:cNvPr id="6" name="Text 3"/>
          <p:cNvSpPr txBox="1"/>
          <p:nvPr/>
        </p:nvSpPr>
        <p:spPr>
          <a:xfrm>
            <a:off x="2331720" y="1737360"/>
            <a:ext cx="3306928" cy="548640"/>
          </a:xfrm>
          <a:prstGeom prst="rect">
            <a:avLst/>
          </a:prstGeom>
          <a:noFill/>
          <a:ln/>
        </p:spPr>
        <p:txBody>
          <a:bodyPr wrap="square" lIns="0" tIns="0" rIns="0" bIns="0" rtlCol="0" anchor="ctr"/>
          <a:lstStyle/>
          <a:p>
            <a:pPr indent="0" marL="0">
              <a:buNone/>
            </a:pPr>
            <a:r>
              <a:rPr lang="en-US" sz="2000" b="1" dirty="0">
                <a:solidFill>
                  <a:schemeClr val="tx1"/>
                </a:solidFill>
              </a:rPr>
              <a:t>Forensic investigators</a:t>
            </a:r>
            <a:endParaRPr lang="en-US" sz="2000" dirty="0"/>
          </a:p>
        </p:txBody>
      </p:sp>
      <p:sp>
        <p:nvSpPr>
          <p:cNvPr id="7" name="Text 4"/>
          <p:cNvSpPr txBox="1"/>
          <p:nvPr/>
        </p:nvSpPr>
        <p:spPr>
          <a:xfrm>
            <a:off x="2331720" y="2331720"/>
            <a:ext cx="3306928" cy="1005840"/>
          </a:xfrm>
          <a:prstGeom prst="rect">
            <a:avLst/>
          </a:prstGeom>
          <a:noFill/>
          <a:ln/>
        </p:spPr>
        <p:txBody>
          <a:bodyPr wrap="square" lIns="0" tIns="0" rIns="0" bIns="0" rtlCol="0" anchor="t"/>
          <a:lstStyle/>
          <a:p>
            <a:pPr indent="0" marL="0">
              <a:buNone/>
            </a:pPr>
            <a:r>
              <a:rPr lang="en-US" sz="1600" dirty="0">
                <a:solidFill>
                  <a:schemeClr val="tx2"/>
                </a:solidFill>
              </a:rPr>
              <a:t>Triage many memory files fast and decide which to examine first.</a:t>
            </a:r>
            <a:endParaRPr lang="en-US" sz="1600" dirty="0"/>
          </a:p>
        </p:txBody>
      </p:sp>
      <p:sp>
        <p:nvSpPr>
          <p:cNvPr id="8" name="user 2"/>
          <p:cNvSpPr/>
          <p:nvPr/>
        </p:nvSpPr>
        <p:spPr>
          <a:xfrm>
            <a:off x="6278728" y="1325880"/>
            <a:ext cx="5364328" cy="2194560"/>
          </a:xfrm>
          <a:prstGeom prst="roundRect">
            <a:avLst>
              <a:gd name="adj" fmla="val 5000"/>
            </a:avLst>
          </a:prstGeom>
          <a:solidFill>
            <a:schemeClr val="bg2"/>
          </a:solidFill>
          <a:ln w="12700">
            <a:solidFill>
              <a:schemeClr val="bg2"/>
            </a:solidFill>
            <a:prstDash val="solid"/>
          </a:ln>
        </p:spPr>
      </p:sp>
      <p:sp>
        <p:nvSpPr>
          <p:cNvPr id="9" name="user 2 circle"/>
          <p:cNvSpPr/>
          <p:nvPr/>
        </p:nvSpPr>
        <p:spPr>
          <a:xfrm>
            <a:off x="6598768" y="1828800"/>
            <a:ext cx="1188720" cy="1188720"/>
          </a:xfrm>
          <a:prstGeom prst="ellipse">
            <a:avLst/>
          </a:prstGeom>
          <a:solidFill>
            <a:srgbClr val="DC2626"/>
          </a:solidFill>
          <a:ln w="12700">
            <a:solidFill>
              <a:srgbClr val="DC2626"/>
            </a:solidFill>
            <a:prstDash val="solid"/>
          </a:ln>
        </p:spPr>
      </p:sp>
      <p:pic>
        <p:nvPicPr>
          <p:cNvPr id="10" name="user 2 icon" descr="preencoded.png">    </p:cNvPr>
          <p:cNvPicPr>
            <a:picLocks noChangeAspect="1"/>
          </p:cNvPicPr>
          <p:nvPr/>
        </p:nvPicPr>
        <p:blipFill>
          <a:blip r:embed="rId2"/>
          <a:stretch>
            <a:fillRect/>
          </a:stretch>
        </p:blipFill>
        <p:spPr>
          <a:xfrm>
            <a:off x="6895948" y="2125980"/>
            <a:ext cx="594360" cy="594360"/>
          </a:xfrm>
          <a:prstGeom prst="rect">
            <a:avLst/>
          </a:prstGeom>
        </p:spPr>
      </p:pic>
      <p:sp>
        <p:nvSpPr>
          <p:cNvPr id="11" name="Text 7"/>
          <p:cNvSpPr txBox="1"/>
          <p:nvPr/>
        </p:nvSpPr>
        <p:spPr>
          <a:xfrm>
            <a:off x="8061808" y="1737360"/>
            <a:ext cx="3306928" cy="548640"/>
          </a:xfrm>
          <a:prstGeom prst="rect">
            <a:avLst/>
          </a:prstGeom>
          <a:noFill/>
          <a:ln/>
        </p:spPr>
        <p:txBody>
          <a:bodyPr wrap="square" lIns="0" tIns="0" rIns="0" bIns="0" rtlCol="0" anchor="ctr"/>
          <a:lstStyle/>
          <a:p>
            <a:pPr indent="0" marL="0">
              <a:buNone/>
            </a:pPr>
            <a:r>
              <a:rPr lang="en-US" sz="2000" b="1" dirty="0">
                <a:solidFill>
                  <a:schemeClr val="tx1"/>
                </a:solidFill>
              </a:rPr>
              <a:t>Incident responders</a:t>
            </a:r>
            <a:endParaRPr lang="en-US" sz="2000" dirty="0"/>
          </a:p>
        </p:txBody>
      </p:sp>
      <p:sp>
        <p:nvSpPr>
          <p:cNvPr id="12" name="Text 8"/>
          <p:cNvSpPr txBox="1"/>
          <p:nvPr/>
        </p:nvSpPr>
        <p:spPr>
          <a:xfrm>
            <a:off x="8061808" y="2331720"/>
            <a:ext cx="3306928" cy="1005840"/>
          </a:xfrm>
          <a:prstGeom prst="rect">
            <a:avLst/>
          </a:prstGeom>
          <a:noFill/>
          <a:ln/>
        </p:spPr>
        <p:txBody>
          <a:bodyPr wrap="square" lIns="0" tIns="0" rIns="0" bIns="0" rtlCol="0" anchor="t"/>
          <a:lstStyle/>
          <a:p>
            <a:pPr indent="0" marL="0">
              <a:buNone/>
            </a:pPr>
            <a:r>
              <a:rPr lang="en-US" sz="1600" dirty="0">
                <a:solidFill>
                  <a:schemeClr val="tx2"/>
                </a:solidFill>
              </a:rPr>
              <a:t>Get a quick, explained answer during an attack investigation.</a:t>
            </a:r>
            <a:endParaRPr lang="en-US" sz="1600" dirty="0"/>
          </a:p>
        </p:txBody>
      </p:sp>
      <p:sp>
        <p:nvSpPr>
          <p:cNvPr id="13" name="user 3"/>
          <p:cNvSpPr/>
          <p:nvPr/>
        </p:nvSpPr>
        <p:spPr>
          <a:xfrm>
            <a:off x="548640" y="3749040"/>
            <a:ext cx="5364328" cy="2194560"/>
          </a:xfrm>
          <a:prstGeom prst="roundRect">
            <a:avLst>
              <a:gd name="adj" fmla="val 5000"/>
            </a:avLst>
          </a:prstGeom>
          <a:solidFill>
            <a:schemeClr val="bg2"/>
          </a:solidFill>
          <a:ln w="12700">
            <a:solidFill>
              <a:schemeClr val="bg2"/>
            </a:solidFill>
            <a:prstDash val="solid"/>
          </a:ln>
        </p:spPr>
      </p:sp>
      <p:sp>
        <p:nvSpPr>
          <p:cNvPr id="14" name="user 3 circle"/>
          <p:cNvSpPr/>
          <p:nvPr/>
        </p:nvSpPr>
        <p:spPr>
          <a:xfrm>
            <a:off x="868680" y="4251960"/>
            <a:ext cx="1188720" cy="1188720"/>
          </a:xfrm>
          <a:prstGeom prst="ellipse">
            <a:avLst/>
          </a:prstGeom>
          <a:solidFill>
            <a:srgbClr val="6D5BD0"/>
          </a:solidFill>
          <a:ln w="12700">
            <a:solidFill>
              <a:srgbClr val="6D5BD0"/>
            </a:solidFill>
            <a:prstDash val="solid"/>
          </a:ln>
        </p:spPr>
      </p:sp>
      <p:pic>
        <p:nvPicPr>
          <p:cNvPr id="15" name="user 3 icon" descr="preencoded.png">    </p:cNvPr>
          <p:cNvPicPr>
            <a:picLocks noChangeAspect="1"/>
          </p:cNvPicPr>
          <p:nvPr/>
        </p:nvPicPr>
        <p:blipFill>
          <a:blip r:embed="rId3"/>
          <a:stretch>
            <a:fillRect/>
          </a:stretch>
        </p:blipFill>
        <p:spPr>
          <a:xfrm>
            <a:off x="1165860" y="4549140"/>
            <a:ext cx="594360" cy="594360"/>
          </a:xfrm>
          <a:prstGeom prst="rect">
            <a:avLst/>
          </a:prstGeom>
        </p:spPr>
      </p:pic>
      <p:sp>
        <p:nvSpPr>
          <p:cNvPr id="16" name="Text 11"/>
          <p:cNvSpPr txBox="1"/>
          <p:nvPr/>
        </p:nvSpPr>
        <p:spPr>
          <a:xfrm>
            <a:off x="2331720" y="4160520"/>
            <a:ext cx="3306928" cy="548640"/>
          </a:xfrm>
          <a:prstGeom prst="rect">
            <a:avLst/>
          </a:prstGeom>
          <a:noFill/>
          <a:ln/>
        </p:spPr>
        <p:txBody>
          <a:bodyPr wrap="square" lIns="0" tIns="0" rIns="0" bIns="0" rtlCol="0" anchor="ctr"/>
          <a:lstStyle/>
          <a:p>
            <a:pPr indent="0" marL="0">
              <a:buNone/>
            </a:pPr>
            <a:r>
              <a:rPr lang="en-US" sz="2000" b="1" dirty="0">
                <a:solidFill>
                  <a:schemeClr val="tx1"/>
                </a:solidFill>
              </a:rPr>
              <a:t>Police cyber units</a:t>
            </a:r>
            <a:endParaRPr lang="en-US" sz="2000" dirty="0"/>
          </a:p>
        </p:txBody>
      </p:sp>
      <p:sp>
        <p:nvSpPr>
          <p:cNvPr id="17" name="Text 12"/>
          <p:cNvSpPr txBox="1"/>
          <p:nvPr/>
        </p:nvSpPr>
        <p:spPr>
          <a:xfrm>
            <a:off x="2331720" y="4754880"/>
            <a:ext cx="3306928" cy="1005840"/>
          </a:xfrm>
          <a:prstGeom prst="rect">
            <a:avLst/>
          </a:prstGeom>
          <a:noFill/>
          <a:ln/>
        </p:spPr>
        <p:txBody>
          <a:bodyPr wrap="square" lIns="0" tIns="0" rIns="0" bIns="0" rtlCol="0" anchor="t"/>
          <a:lstStyle/>
          <a:p>
            <a:pPr indent="0" marL="0">
              <a:buNone/>
            </a:pPr>
            <a:r>
              <a:rPr lang="en-US" sz="1600" dirty="0">
                <a:solidFill>
                  <a:schemeClr val="tx2"/>
                </a:solidFill>
              </a:rPr>
              <a:t>A sealed, explained report that supports evidence handling.</a:t>
            </a:r>
            <a:endParaRPr lang="en-US" sz="1600" dirty="0"/>
          </a:p>
        </p:txBody>
      </p:sp>
      <p:sp>
        <p:nvSpPr>
          <p:cNvPr id="18" name="user 4"/>
          <p:cNvSpPr/>
          <p:nvPr/>
        </p:nvSpPr>
        <p:spPr>
          <a:xfrm>
            <a:off x="6278728" y="3749040"/>
            <a:ext cx="5364328" cy="2194560"/>
          </a:xfrm>
          <a:prstGeom prst="roundRect">
            <a:avLst>
              <a:gd name="adj" fmla="val 5000"/>
            </a:avLst>
          </a:prstGeom>
          <a:solidFill>
            <a:schemeClr val="bg2"/>
          </a:solidFill>
          <a:ln w="12700">
            <a:solidFill>
              <a:schemeClr val="bg2"/>
            </a:solidFill>
            <a:prstDash val="solid"/>
          </a:ln>
        </p:spPr>
      </p:sp>
      <p:sp>
        <p:nvSpPr>
          <p:cNvPr id="19" name="user 4 circle"/>
          <p:cNvSpPr/>
          <p:nvPr/>
        </p:nvSpPr>
        <p:spPr>
          <a:xfrm>
            <a:off x="6598768" y="4251960"/>
            <a:ext cx="1188720" cy="1188720"/>
          </a:xfrm>
          <a:prstGeom prst="ellipse">
            <a:avLst/>
          </a:prstGeom>
          <a:solidFill>
            <a:srgbClr val="16A34A"/>
          </a:solidFill>
          <a:ln w="12700">
            <a:solidFill>
              <a:srgbClr val="16A34A"/>
            </a:solidFill>
            <a:prstDash val="solid"/>
          </a:ln>
        </p:spPr>
      </p:sp>
      <p:pic>
        <p:nvPicPr>
          <p:cNvPr id="20" name="user 4 icon" descr="preencoded.png">    </p:cNvPr>
          <p:cNvPicPr>
            <a:picLocks noChangeAspect="1"/>
          </p:cNvPicPr>
          <p:nvPr/>
        </p:nvPicPr>
        <p:blipFill>
          <a:blip r:embed="rId4"/>
          <a:stretch>
            <a:fillRect/>
          </a:stretch>
        </p:blipFill>
        <p:spPr>
          <a:xfrm>
            <a:off x="6895948" y="4549140"/>
            <a:ext cx="594360" cy="594360"/>
          </a:xfrm>
          <a:prstGeom prst="rect">
            <a:avLst/>
          </a:prstGeom>
        </p:spPr>
      </p:pic>
      <p:sp>
        <p:nvSpPr>
          <p:cNvPr id="21" name="Text 15"/>
          <p:cNvSpPr txBox="1"/>
          <p:nvPr/>
        </p:nvSpPr>
        <p:spPr>
          <a:xfrm>
            <a:off x="8061808" y="4160520"/>
            <a:ext cx="3306928" cy="548640"/>
          </a:xfrm>
          <a:prstGeom prst="rect">
            <a:avLst/>
          </a:prstGeom>
          <a:noFill/>
          <a:ln/>
        </p:spPr>
        <p:txBody>
          <a:bodyPr wrap="square" lIns="0" tIns="0" rIns="0" bIns="0" rtlCol="0" anchor="ctr"/>
          <a:lstStyle/>
          <a:p>
            <a:pPr indent="0" marL="0">
              <a:buNone/>
            </a:pPr>
            <a:r>
              <a:rPr lang="en-US" sz="2000" b="1" dirty="0">
                <a:solidFill>
                  <a:schemeClr val="tx1"/>
                </a:solidFill>
              </a:rPr>
              <a:t>Students &amp; trainers</a:t>
            </a:r>
            <a:endParaRPr lang="en-US" sz="2000" dirty="0"/>
          </a:p>
        </p:txBody>
      </p:sp>
      <p:sp>
        <p:nvSpPr>
          <p:cNvPr id="22" name="Text 16"/>
          <p:cNvSpPr txBox="1"/>
          <p:nvPr/>
        </p:nvSpPr>
        <p:spPr>
          <a:xfrm>
            <a:off x="8061808" y="4754880"/>
            <a:ext cx="3306928" cy="1005840"/>
          </a:xfrm>
          <a:prstGeom prst="rect">
            <a:avLst/>
          </a:prstGeom>
          <a:noFill/>
          <a:ln/>
        </p:spPr>
        <p:txBody>
          <a:bodyPr wrap="square" lIns="0" tIns="0" rIns="0" bIns="0" rtlCol="0" anchor="t"/>
          <a:lstStyle/>
          <a:p>
            <a:pPr indent="0" marL="0">
              <a:buNone/>
            </a:pPr>
            <a:r>
              <a:rPr lang="en-US" sz="1600" dirty="0">
                <a:solidFill>
                  <a:schemeClr val="tx2"/>
                </a:solidFill>
              </a:rPr>
              <a:t>Learn what malware looks like in memory, with explanations.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Objectives and how they align</a:t>
            </a:r>
            <a:endParaRPr lang="en-US" sz="2800" dirty="0"/>
          </a:p>
        </p:txBody>
      </p:sp>
      <p:sp>
        <p:nvSpPr>
          <p:cNvPr id="3" name="Text 1"/>
          <p:cNvSpPr txBox="1"/>
          <p:nvPr/>
        </p:nvSpPr>
        <p:spPr>
          <a:xfrm>
            <a:off x="548640" y="1188720"/>
            <a:ext cx="11094415" cy="457200"/>
          </a:xfrm>
          <a:prstGeom prst="rect">
            <a:avLst/>
          </a:prstGeom>
          <a:noFill/>
          <a:ln/>
        </p:spPr>
        <p:txBody>
          <a:bodyPr wrap="square" lIns="0" tIns="0" rIns="0" bIns="0" rtlCol="0" anchor="t"/>
          <a:lstStyle/>
          <a:p>
            <a:pPr indent="0" marL="0">
              <a:buNone/>
            </a:pPr>
            <a:r>
              <a:rPr lang="en-US" sz="1800" b="1" dirty="0">
                <a:solidFill>
                  <a:srgbClr val="0891B2"/>
                </a:solidFill>
              </a:rPr>
              <a:t>Aim: </a:t>
            </a:r>
            <a:pPr indent="0" marL="0">
              <a:buNone/>
            </a:pPr>
            <a:r>
              <a:rPr lang="en-US" sz="1800" dirty="0">
                <a:solidFill>
                  <a:schemeClr val="tx1"/>
                </a:solidFill>
              </a:rPr>
              <a:t>build a memory triage tool that detects malware, explains why, and protects the evidence.</a:t>
            </a:r>
            <a:endParaRPr lang="en-US" sz="1800" dirty="0"/>
          </a:p>
        </p:txBody>
      </p:sp>
      <p:graphicFrame>
        <p:nvGraphicFramePr>
          <p:cNvPr id="7" name="objectives table"/>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2834640"/>
                <a:gridCol w="3291840"/>
                <a:gridCol w="3291840"/>
                <a:gridCol w="1676095"/>
              </a:tblGrid>
              <a:tr h="868680">
                <a:tc>
                  <a:txBody>
                    <a:bodyPr/>
                    <a:lstStyle/>
                    <a:p>
                      <a:pPr indent="0" marL="0">
                        <a:buNone/>
                      </a:pPr>
                      <a:r>
                        <a:rPr lang="en-US" sz="1500" b="1" dirty="0">
                          <a:solidFill>
                            <a:srgbClr val="FFFFFF"/>
                          </a:solidFill>
                        </a:rPr>
                        <a:t>Objective</a:t>
                      </a:r>
                      <a:endParaRPr lang="en-US" sz="15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0B1F33"/>
                    </a:solidFill>
                  </a:tcPr>
                </a:tc>
                <a:tc>
                  <a:txBody>
                    <a:bodyPr/>
                    <a:lstStyle/>
                    <a:p>
                      <a:pPr indent="0" marL="0">
                        <a:buNone/>
                      </a:pPr>
                      <a:r>
                        <a:rPr lang="en-US" sz="1500" b="1" dirty="0">
                          <a:solidFill>
                            <a:srgbClr val="FFFFFF"/>
                          </a:solidFill>
                        </a:rPr>
                        <a:t>How (method)</a:t>
                      </a:r>
                      <a:endParaRPr lang="en-US" sz="15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0B1F33"/>
                    </a:solidFill>
                  </a:tcPr>
                </a:tc>
                <a:tc>
                  <a:txBody>
                    <a:bodyPr/>
                    <a:lstStyle/>
                    <a:p>
                      <a:pPr indent="0" marL="0">
                        <a:buNone/>
                      </a:pPr>
                      <a:r>
                        <a:rPr lang="en-US" sz="1500" b="1" dirty="0">
                          <a:solidFill>
                            <a:srgbClr val="FFFFFF"/>
                          </a:solidFill>
                        </a:rPr>
                        <a:t>How it will be measured</a:t>
                      </a:r>
                      <a:endParaRPr lang="en-US" sz="15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0B1F33"/>
                    </a:solidFill>
                  </a:tcPr>
                </a:tc>
                <a:tc>
                  <a:txBody>
                    <a:bodyPr/>
                    <a:lstStyle/>
                    <a:p>
                      <a:pPr indent="0" marL="0">
                        <a:buNone/>
                      </a:pPr>
                      <a:r>
                        <a:rPr lang="en-US" sz="1500" b="1" dirty="0">
                          <a:solidFill>
                            <a:srgbClr val="FFFFFF"/>
                          </a:solidFill>
                        </a:rPr>
                        <a:t>Aligns to</a:t>
                      </a:r>
                      <a:endParaRPr lang="en-US" sz="1500" dirty="0"/>
                    </a:p>
                  </a:txBody>
                  <a:tcPr marL="91440" marR="91440" marT="45720" marB="45720">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solidFill>
                      <a:srgbClr val="0B1F33"/>
                    </a:solidFill>
                  </a:tcPr>
                </a:tc>
              </a:tr>
              <a:tr h="868680">
                <a:tc>
                  <a:txBody>
                    <a:bodyPr/>
                    <a:lstStyle/>
                    <a:p>
                      <a:pPr indent="0" marL="0">
                        <a:buNone/>
                      </a:pPr>
                      <a:r>
                        <a:rPr lang="en-US" sz="1450" b="1" dirty="0">
                          <a:solidFill>
                            <a:srgbClr val="000000"/>
                          </a:solidFill>
                        </a:rPr>
                        <a:t>O1  Detect malware in memory</a:t>
                      </a:r>
                      <a:endParaRPr lang="en-US" sz="1450" dirty="0"/>
                    </a:p>
                  </a:txBody>
                  <a:tcPr marL="91440" marR="91440" marT="45720" marB="45720" anchor="ctr">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indent="0" marL="0">
                        <a:buNone/>
                      </a:pPr>
                      <a:r>
                        <a:rPr lang="en-US" sz="1450" dirty="0">
                          <a:solidFill>
                            <a:srgbClr val="000000"/>
                          </a:solidFill>
                        </a:rPr>
                        <a:t>Train and compare AI models on 58,596 memory examples</a:t>
                      </a:r>
                      <a:endParaRPr lang="en-US" sz="1450" dirty="0"/>
                    </a:p>
                  </a:txBody>
                  <a:tcPr marL="91440" marR="91440" marT="45720" marB="45720" anchor="ctr">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indent="0" marL="0">
                        <a:buNone/>
                      </a:pPr>
                      <a:r>
                        <a:rPr lang="en-US" sz="1450" dirty="0">
                          <a:solidFill>
                            <a:srgbClr val="000000"/>
                          </a:solidFill>
                        </a:rPr>
                        <a:t>Correct results, missed malware and false alarms on unseen data</a:t>
                      </a:r>
                      <a:endParaRPr lang="en-US" sz="1450" dirty="0"/>
                    </a:p>
                  </a:txBody>
                  <a:tcPr marL="91440" marR="91440" marT="45720" marB="45720" anchor="ctr">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450" b="1" dirty="0">
                          <a:solidFill>
                            <a:srgbClr val="DC2626"/>
                          </a:solidFill>
                        </a:rPr>
                        <a:t>Detect</a:t>
                      </a:r>
                      <a:endParaRPr lang="en-US" sz="1450" dirty="0"/>
                    </a:p>
                  </a:txBody>
                  <a:tcPr marL="91440" marR="91440" marT="45720" marB="45720" anchor="ctr">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r>
              <a:tr h="868680">
                <a:tc>
                  <a:txBody>
                    <a:bodyPr/>
                    <a:lstStyle/>
                    <a:p>
                      <a:pPr indent="0" marL="0">
                        <a:buNone/>
                      </a:pPr>
                      <a:r>
                        <a:rPr lang="en-US" sz="1450" b="1" dirty="0">
                          <a:solidFill>
                            <a:srgbClr val="000000"/>
                          </a:solidFill>
                        </a:rPr>
                        <a:t>O2  Explain every result</a:t>
                      </a:r>
                      <a:endParaRPr lang="en-US" sz="1450" dirty="0"/>
                    </a:p>
                  </a:txBody>
                  <a:tcPr marL="91440" marR="91440" marT="45720" marB="45720" anchor="ctr">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indent="0" marL="0">
                        <a:buNone/>
                      </a:pPr>
                      <a:r>
                        <a:rPr lang="en-US" sz="1450" dirty="0">
                          <a:solidFill>
                            <a:srgbClr val="000000"/>
                          </a:solidFill>
                        </a:rPr>
                        <a:t>Two explanation methods: SHAP and LIME</a:t>
                      </a:r>
                      <a:endParaRPr lang="en-US" sz="1450" dirty="0"/>
                    </a:p>
                  </a:txBody>
                  <a:tcPr marL="91440" marR="91440" marT="45720" marB="45720" anchor="ctr">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indent="0" marL="0">
                        <a:buNone/>
                      </a:pPr>
                      <a:r>
                        <a:rPr lang="en-US" sz="1450" dirty="0">
                          <a:solidFill>
                            <a:srgbClr val="000000"/>
                          </a:solidFill>
                        </a:rPr>
                        <a:t>Every result shows its top reasons in plain English</a:t>
                      </a:r>
                      <a:endParaRPr lang="en-US" sz="1450" dirty="0"/>
                    </a:p>
                  </a:txBody>
                  <a:tcPr marL="91440" marR="91440" marT="45720" marB="45720" anchor="ctr">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450" b="1" dirty="0">
                          <a:solidFill>
                            <a:srgbClr val="D97706"/>
                          </a:solidFill>
                        </a:rPr>
                        <a:t>Explain</a:t>
                      </a:r>
                      <a:endParaRPr lang="en-US" sz="1450" dirty="0"/>
                    </a:p>
                  </a:txBody>
                  <a:tcPr marL="91440" marR="91440" marT="45720" marB="45720" anchor="ctr">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r>
              <a:tr h="868680">
                <a:tc>
                  <a:txBody>
                    <a:bodyPr/>
                    <a:lstStyle/>
                    <a:p>
                      <a:pPr indent="0" marL="0">
                        <a:buNone/>
                      </a:pPr>
                      <a:r>
                        <a:rPr lang="en-US" sz="1450" b="1" dirty="0">
                          <a:solidFill>
                            <a:srgbClr val="000000"/>
                          </a:solidFill>
                        </a:rPr>
                        <a:t>O3  Work on real memory files</a:t>
                      </a:r>
                      <a:endParaRPr lang="en-US" sz="1450" dirty="0"/>
                    </a:p>
                  </a:txBody>
                  <a:tcPr marL="91440" marR="91440" marT="45720" marB="45720" anchor="ctr">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indent="0" marL="0">
                        <a:buNone/>
                      </a:pPr>
                      <a:r>
                        <a:rPr lang="en-US" sz="1450" dirty="0">
                          <a:solidFill>
                            <a:srgbClr val="000000"/>
                          </a:solidFill>
                        </a:rPr>
                        <a:t>Volatility 3 turns a memory dump into 55 clues</a:t>
                      </a:r>
                      <a:endParaRPr lang="en-US" sz="1450" dirty="0"/>
                    </a:p>
                  </a:txBody>
                  <a:tcPr marL="91440" marR="91440" marT="45720" marB="45720" anchor="ctr">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indent="0" marL="0">
                        <a:buNone/>
                      </a:pPr>
                      <a:r>
                        <a:rPr lang="en-US" sz="1450" dirty="0">
                          <a:solidFill>
                            <a:srgbClr val="000000"/>
                          </a:solidFill>
                        </a:rPr>
                        <a:t>A full run from a raw dump to a result</a:t>
                      </a:r>
                      <a:endParaRPr lang="en-US" sz="1450" dirty="0"/>
                    </a:p>
                  </a:txBody>
                  <a:tcPr marL="91440" marR="91440" marT="45720" marB="45720" anchor="ctr">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450" b="1" dirty="0">
                          <a:solidFill>
                            <a:srgbClr val="DC2626"/>
                          </a:solidFill>
                        </a:rPr>
                        <a:t>Detect</a:t>
                      </a:r>
                      <a:endParaRPr lang="en-US" sz="1450" dirty="0"/>
                    </a:p>
                  </a:txBody>
                  <a:tcPr marL="91440" marR="91440" marT="45720" marB="45720" anchor="ctr">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r>
              <a:tr h="868680">
                <a:tc>
                  <a:txBody>
                    <a:bodyPr/>
                    <a:lstStyle/>
                    <a:p>
                      <a:pPr indent="0" marL="0">
                        <a:buNone/>
                      </a:pPr>
                      <a:r>
                        <a:rPr lang="en-US" sz="1450" b="1" dirty="0">
                          <a:solidFill>
                            <a:srgbClr val="000000"/>
                          </a:solidFill>
                        </a:rPr>
                        <a:t>O4  Protect the evidence</a:t>
                      </a:r>
                      <a:endParaRPr lang="en-US" sz="1450" dirty="0"/>
                    </a:p>
                  </a:txBody>
                  <a:tcPr marL="91440" marR="91440" marT="45720" marB="45720" anchor="ctr">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indent="0" marL="0">
                        <a:buNone/>
                      </a:pPr>
                      <a:r>
                        <a:rPr lang="en-US" sz="1450" dirty="0">
                          <a:solidFill>
                            <a:srgbClr val="000000"/>
                          </a:solidFill>
                        </a:rPr>
                        <a:t>Digital fingerprints (hashes) checked at every step</a:t>
                      </a:r>
                      <a:endParaRPr lang="en-US" sz="1450" dirty="0"/>
                    </a:p>
                  </a:txBody>
                  <a:tcPr marL="91440" marR="91440" marT="45720" marB="45720" anchor="ctr">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indent="0" marL="0">
                        <a:buNone/>
                      </a:pPr>
                      <a:r>
                        <a:rPr lang="en-US" sz="1450" dirty="0">
                          <a:solidFill>
                            <a:srgbClr val="000000"/>
                          </a:solidFill>
                        </a:rPr>
                        <a:t>A changed file is detected and analysis is stopped</a:t>
                      </a:r>
                      <a:endParaRPr lang="en-US" sz="1450" dirty="0"/>
                    </a:p>
                  </a:txBody>
                  <a:tcPr marL="91440" marR="91440" marT="45720" marB="45720" anchor="ctr">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c>
                  <a:txBody>
                    <a:bodyPr/>
                    <a:lstStyle/>
                    <a:p>
                      <a:pPr algn="ctr" indent="0" marL="0">
                        <a:buNone/>
                      </a:pPr>
                      <a:r>
                        <a:rPr lang="en-US" sz="1450" b="1" dirty="0">
                          <a:solidFill>
                            <a:srgbClr val="16A34A"/>
                          </a:solidFill>
                        </a:rPr>
                        <a:t>Protect</a:t>
                      </a:r>
                      <a:endParaRPr lang="en-US" sz="1450" dirty="0"/>
                    </a:p>
                  </a:txBody>
                  <a:tcPr marL="91440" marR="91440" marT="45720" marB="45720" anchor="ctr">
                    <a:lnL w="12700" cap="flat" cmpd="sng" algn="ctr">
                      <a:solidFill>
                        <a:srgbClr val="D6DCE6"/>
                      </a:solidFill>
                      <a:prstDash val="solid"/>
                      <a:round/>
                      <a:headEnd type="none" w="med" len="med"/>
                      <a:tailEnd type="none" w="med" len="med"/>
                    </a:lnL>
                    <a:lnR w="12700" cap="flat" cmpd="sng" algn="ctr">
                      <a:solidFill>
                        <a:srgbClr val="D6DCE6"/>
                      </a:solidFill>
                      <a:prstDash val="solid"/>
                      <a:round/>
                      <a:headEnd type="none" w="med" len="med"/>
                      <a:tailEnd type="none" w="med" len="med"/>
                    </a:lnR>
                    <a:lnT w="12700" cap="flat" cmpd="sng" algn="ctr">
                      <a:solidFill>
                        <a:srgbClr val="D6DCE6"/>
                      </a:solidFill>
                      <a:prstDash val="solid"/>
                      <a:round/>
                      <a:headEnd type="none" w="med" len="med"/>
                      <a:tailEnd type="none" w="med" len="med"/>
                    </a:lnT>
                    <a:lnB w="12700" cap="flat" cmpd="sng" algn="ctr">
                      <a:solidFill>
                        <a:srgbClr val="D6DC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Usability: easy for non-experts</a:t>
            </a:r>
            <a:endParaRPr lang="en-US" sz="2800" dirty="0"/>
          </a:p>
        </p:txBody>
      </p:sp>
      <p:sp>
        <p:nvSpPr>
          <p:cNvPr id="3" name="feature 1"/>
          <p:cNvSpPr/>
          <p:nvPr/>
        </p:nvSpPr>
        <p:spPr>
          <a:xfrm>
            <a:off x="548640" y="1325880"/>
            <a:ext cx="3454298" cy="2194560"/>
          </a:xfrm>
          <a:prstGeom prst="roundRect">
            <a:avLst>
              <a:gd name="adj" fmla="val 5000"/>
            </a:avLst>
          </a:prstGeom>
          <a:solidFill>
            <a:schemeClr val="bg2"/>
          </a:solidFill>
          <a:ln w="12700">
            <a:solidFill>
              <a:schemeClr val="bg2"/>
            </a:solidFill>
            <a:prstDash val="solid"/>
          </a:ln>
        </p:spPr>
      </p:sp>
      <p:sp>
        <p:nvSpPr>
          <p:cNvPr id="4" name="feature 1 circle"/>
          <p:cNvSpPr/>
          <p:nvPr/>
        </p:nvSpPr>
        <p:spPr>
          <a:xfrm>
            <a:off x="822960" y="1645920"/>
            <a:ext cx="914400" cy="914400"/>
          </a:xfrm>
          <a:prstGeom prst="ellipse">
            <a:avLst/>
          </a:prstGeom>
          <a:solidFill>
            <a:srgbClr val="2563EB"/>
          </a:solidFill>
          <a:ln w="12700">
            <a:solidFill>
              <a:srgbClr val="2563EB"/>
            </a:solidFill>
            <a:prstDash val="solid"/>
          </a:ln>
        </p:spPr>
      </p:sp>
      <p:pic>
        <p:nvPicPr>
          <p:cNvPr id="5" name="feature 1 icon" descr="preencoded.png">    </p:cNvPr>
          <p:cNvPicPr>
            <a:picLocks noChangeAspect="1"/>
          </p:cNvPicPr>
          <p:nvPr/>
        </p:nvPicPr>
        <p:blipFill>
          <a:blip r:embed="rId1"/>
          <a:stretch>
            <a:fillRect/>
          </a:stretch>
        </p:blipFill>
        <p:spPr>
          <a:xfrm>
            <a:off x="1051560" y="1874520"/>
            <a:ext cx="457200" cy="457200"/>
          </a:xfrm>
          <a:prstGeom prst="rect">
            <a:avLst/>
          </a:prstGeom>
        </p:spPr>
      </p:pic>
      <p:sp>
        <p:nvSpPr>
          <p:cNvPr id="6" name="Text 3"/>
          <p:cNvSpPr txBox="1"/>
          <p:nvPr/>
        </p:nvSpPr>
        <p:spPr>
          <a:xfrm>
            <a:off x="1920240" y="1645920"/>
            <a:ext cx="1899818" cy="914400"/>
          </a:xfrm>
          <a:prstGeom prst="rect">
            <a:avLst/>
          </a:prstGeom>
          <a:noFill/>
          <a:ln/>
        </p:spPr>
        <p:txBody>
          <a:bodyPr wrap="square" lIns="0" tIns="0" rIns="0" bIns="0" rtlCol="0" anchor="ctr"/>
          <a:lstStyle/>
          <a:p>
            <a:pPr indent="0" marL="0">
              <a:buNone/>
            </a:pPr>
            <a:r>
              <a:rPr lang="en-US" sz="1800" b="1" dirty="0">
                <a:solidFill>
                  <a:schemeClr val="tx1"/>
                </a:solidFill>
              </a:rPr>
              <a:t>Runs in a web browser</a:t>
            </a:r>
            <a:endParaRPr lang="en-US" sz="1800" dirty="0"/>
          </a:p>
        </p:txBody>
      </p:sp>
      <p:sp>
        <p:nvSpPr>
          <p:cNvPr id="7" name="Text 4"/>
          <p:cNvSpPr txBox="1"/>
          <p:nvPr/>
        </p:nvSpPr>
        <p:spPr>
          <a:xfrm>
            <a:off x="822960" y="2743200"/>
            <a:ext cx="2905658" cy="640080"/>
          </a:xfrm>
          <a:prstGeom prst="rect">
            <a:avLst/>
          </a:prstGeom>
          <a:noFill/>
          <a:ln/>
        </p:spPr>
        <p:txBody>
          <a:bodyPr wrap="square" lIns="0" tIns="0" rIns="0" bIns="0" rtlCol="0" anchor="t"/>
          <a:lstStyle/>
          <a:p>
            <a:pPr indent="0" marL="0">
              <a:buNone/>
            </a:pPr>
            <a:r>
              <a:rPr lang="en-US" sz="1500" dirty="0">
                <a:solidFill>
                  <a:schemeClr val="tx2"/>
                </a:solidFill>
              </a:rPr>
              <a:t>No coding or command line</a:t>
            </a:r>
            <a:endParaRPr lang="en-US" sz="1500" dirty="0"/>
          </a:p>
        </p:txBody>
      </p:sp>
      <p:sp>
        <p:nvSpPr>
          <p:cNvPr id="8" name="feature 2"/>
          <p:cNvSpPr/>
          <p:nvPr/>
        </p:nvSpPr>
        <p:spPr>
          <a:xfrm>
            <a:off x="4368698" y="1325880"/>
            <a:ext cx="3454298" cy="2194560"/>
          </a:xfrm>
          <a:prstGeom prst="roundRect">
            <a:avLst>
              <a:gd name="adj" fmla="val 5000"/>
            </a:avLst>
          </a:prstGeom>
          <a:solidFill>
            <a:schemeClr val="bg2"/>
          </a:solidFill>
          <a:ln w="12700">
            <a:solidFill>
              <a:schemeClr val="bg2"/>
            </a:solidFill>
            <a:prstDash val="solid"/>
          </a:ln>
        </p:spPr>
      </p:sp>
      <p:sp>
        <p:nvSpPr>
          <p:cNvPr id="9" name="feature 2 circle"/>
          <p:cNvSpPr/>
          <p:nvPr/>
        </p:nvSpPr>
        <p:spPr>
          <a:xfrm>
            <a:off x="4643018" y="1645920"/>
            <a:ext cx="914400" cy="914400"/>
          </a:xfrm>
          <a:prstGeom prst="ellipse">
            <a:avLst/>
          </a:prstGeom>
          <a:solidFill>
            <a:srgbClr val="6D5BD0"/>
          </a:solidFill>
          <a:ln w="12700">
            <a:solidFill>
              <a:srgbClr val="6D5BD0"/>
            </a:solidFill>
            <a:prstDash val="solid"/>
          </a:ln>
        </p:spPr>
      </p:sp>
      <p:pic>
        <p:nvPicPr>
          <p:cNvPr id="10" name="feature 2 icon" descr="preencoded.png">    </p:cNvPr>
          <p:cNvPicPr>
            <a:picLocks noChangeAspect="1"/>
          </p:cNvPicPr>
          <p:nvPr/>
        </p:nvPicPr>
        <p:blipFill>
          <a:blip r:embed="rId2"/>
          <a:stretch>
            <a:fillRect/>
          </a:stretch>
        </p:blipFill>
        <p:spPr>
          <a:xfrm>
            <a:off x="4871618" y="1874520"/>
            <a:ext cx="457200" cy="457200"/>
          </a:xfrm>
          <a:prstGeom prst="rect">
            <a:avLst/>
          </a:prstGeom>
        </p:spPr>
      </p:pic>
      <p:sp>
        <p:nvSpPr>
          <p:cNvPr id="11" name="Text 7"/>
          <p:cNvSpPr txBox="1"/>
          <p:nvPr/>
        </p:nvSpPr>
        <p:spPr>
          <a:xfrm>
            <a:off x="5740298" y="1645920"/>
            <a:ext cx="1899818" cy="914400"/>
          </a:xfrm>
          <a:prstGeom prst="rect">
            <a:avLst/>
          </a:prstGeom>
          <a:noFill/>
          <a:ln/>
        </p:spPr>
        <p:txBody>
          <a:bodyPr wrap="square" lIns="0" tIns="0" rIns="0" bIns="0" rtlCol="0" anchor="ctr"/>
          <a:lstStyle/>
          <a:p>
            <a:pPr indent="0" marL="0">
              <a:buNone/>
            </a:pPr>
            <a:r>
              <a:rPr lang="en-US" sz="1800" b="1" dirty="0">
                <a:solidFill>
                  <a:schemeClr val="tx1"/>
                </a:solidFill>
              </a:rPr>
              <a:t>Guided steps</a:t>
            </a:r>
            <a:endParaRPr lang="en-US" sz="1800" dirty="0"/>
          </a:p>
        </p:txBody>
      </p:sp>
      <p:sp>
        <p:nvSpPr>
          <p:cNvPr id="12" name="Text 8"/>
          <p:cNvSpPr txBox="1"/>
          <p:nvPr/>
        </p:nvSpPr>
        <p:spPr>
          <a:xfrm>
            <a:off x="4643018" y="2743200"/>
            <a:ext cx="2905658" cy="640080"/>
          </a:xfrm>
          <a:prstGeom prst="rect">
            <a:avLst/>
          </a:prstGeom>
          <a:noFill/>
          <a:ln/>
        </p:spPr>
        <p:txBody>
          <a:bodyPr wrap="square" lIns="0" tIns="0" rIns="0" bIns="0" rtlCol="0" anchor="t"/>
          <a:lstStyle/>
          <a:p>
            <a:pPr indent="0" marL="0">
              <a:buNone/>
            </a:pPr>
            <a:r>
              <a:rPr lang="en-US" sz="1500" dirty="0">
                <a:solidFill>
                  <a:schemeClr val="tx2"/>
                </a:solidFill>
              </a:rPr>
              <a:t>Open case → load file → see result</a:t>
            </a:r>
            <a:endParaRPr lang="en-US" sz="1500" dirty="0"/>
          </a:p>
        </p:txBody>
      </p:sp>
      <p:sp>
        <p:nvSpPr>
          <p:cNvPr id="13" name="feature 3"/>
          <p:cNvSpPr/>
          <p:nvPr/>
        </p:nvSpPr>
        <p:spPr>
          <a:xfrm>
            <a:off x="8188757" y="1325880"/>
            <a:ext cx="3454298" cy="2194560"/>
          </a:xfrm>
          <a:prstGeom prst="roundRect">
            <a:avLst>
              <a:gd name="adj" fmla="val 5000"/>
            </a:avLst>
          </a:prstGeom>
          <a:solidFill>
            <a:schemeClr val="bg2"/>
          </a:solidFill>
          <a:ln w="12700">
            <a:solidFill>
              <a:schemeClr val="bg2"/>
            </a:solidFill>
            <a:prstDash val="solid"/>
          </a:ln>
        </p:spPr>
      </p:sp>
      <p:sp>
        <p:nvSpPr>
          <p:cNvPr id="14" name="feature 3 circle"/>
          <p:cNvSpPr/>
          <p:nvPr/>
        </p:nvSpPr>
        <p:spPr>
          <a:xfrm>
            <a:off x="8463077" y="1645920"/>
            <a:ext cx="914400" cy="914400"/>
          </a:xfrm>
          <a:prstGeom prst="ellipse">
            <a:avLst/>
          </a:prstGeom>
          <a:solidFill>
            <a:srgbClr val="16A34A"/>
          </a:solidFill>
          <a:ln w="12700">
            <a:solidFill>
              <a:srgbClr val="16A34A"/>
            </a:solidFill>
            <a:prstDash val="solid"/>
          </a:ln>
        </p:spPr>
      </p:sp>
      <p:pic>
        <p:nvPicPr>
          <p:cNvPr id="15" name="feature 3 icon" descr="preencoded.png">    </p:cNvPr>
          <p:cNvPicPr>
            <a:picLocks noChangeAspect="1"/>
          </p:cNvPicPr>
          <p:nvPr/>
        </p:nvPicPr>
        <p:blipFill>
          <a:blip r:embed="rId3"/>
          <a:stretch>
            <a:fillRect/>
          </a:stretch>
        </p:blipFill>
        <p:spPr>
          <a:xfrm>
            <a:off x="8691677" y="1874520"/>
            <a:ext cx="457200" cy="457200"/>
          </a:xfrm>
          <a:prstGeom prst="rect">
            <a:avLst/>
          </a:prstGeom>
        </p:spPr>
      </p:pic>
      <p:sp>
        <p:nvSpPr>
          <p:cNvPr id="16" name="Text 11"/>
          <p:cNvSpPr txBox="1"/>
          <p:nvPr/>
        </p:nvSpPr>
        <p:spPr>
          <a:xfrm>
            <a:off x="9560357" y="1645920"/>
            <a:ext cx="1899818" cy="914400"/>
          </a:xfrm>
          <a:prstGeom prst="rect">
            <a:avLst/>
          </a:prstGeom>
          <a:noFill/>
          <a:ln/>
        </p:spPr>
        <p:txBody>
          <a:bodyPr wrap="square" lIns="0" tIns="0" rIns="0" bIns="0" rtlCol="0" anchor="ctr"/>
          <a:lstStyle/>
          <a:p>
            <a:pPr indent="0" marL="0">
              <a:buNone/>
            </a:pPr>
            <a:r>
              <a:rPr lang="en-US" sz="1800" b="1" dirty="0">
                <a:solidFill>
                  <a:schemeClr val="tx1"/>
                </a:solidFill>
              </a:rPr>
              <a:t>Traffic-light result</a:t>
            </a:r>
            <a:endParaRPr lang="en-US" sz="1800" dirty="0"/>
          </a:p>
        </p:txBody>
      </p:sp>
      <p:sp>
        <p:nvSpPr>
          <p:cNvPr id="17" name="Text 12"/>
          <p:cNvSpPr txBox="1"/>
          <p:nvPr/>
        </p:nvSpPr>
        <p:spPr>
          <a:xfrm>
            <a:off x="8463077" y="2743200"/>
            <a:ext cx="2905658" cy="640080"/>
          </a:xfrm>
          <a:prstGeom prst="rect">
            <a:avLst/>
          </a:prstGeom>
          <a:noFill/>
          <a:ln/>
        </p:spPr>
        <p:txBody>
          <a:bodyPr wrap="square" lIns="0" tIns="0" rIns="0" bIns="0" rtlCol="0" anchor="t"/>
          <a:lstStyle/>
          <a:p>
            <a:pPr indent="0" marL="0">
              <a:buNone/>
            </a:pPr>
            <a:r>
              <a:rPr lang="en-US" sz="1500" dirty="0">
                <a:solidFill>
                  <a:schemeClr val="tx2"/>
                </a:solidFill>
              </a:rPr>
              <a:t>Green, amber or red at a glance</a:t>
            </a:r>
            <a:endParaRPr lang="en-US" sz="1500" dirty="0"/>
          </a:p>
        </p:txBody>
      </p:sp>
      <p:sp>
        <p:nvSpPr>
          <p:cNvPr id="18" name="feature 4"/>
          <p:cNvSpPr/>
          <p:nvPr/>
        </p:nvSpPr>
        <p:spPr>
          <a:xfrm>
            <a:off x="548640" y="3749040"/>
            <a:ext cx="3454298" cy="2194560"/>
          </a:xfrm>
          <a:prstGeom prst="roundRect">
            <a:avLst>
              <a:gd name="adj" fmla="val 5000"/>
            </a:avLst>
          </a:prstGeom>
          <a:solidFill>
            <a:schemeClr val="bg2"/>
          </a:solidFill>
          <a:ln w="12700">
            <a:solidFill>
              <a:schemeClr val="bg2"/>
            </a:solidFill>
            <a:prstDash val="solid"/>
          </a:ln>
        </p:spPr>
      </p:sp>
      <p:sp>
        <p:nvSpPr>
          <p:cNvPr id="19" name="feature 4 circle"/>
          <p:cNvSpPr/>
          <p:nvPr/>
        </p:nvSpPr>
        <p:spPr>
          <a:xfrm>
            <a:off x="822960" y="4069080"/>
            <a:ext cx="914400" cy="914400"/>
          </a:xfrm>
          <a:prstGeom prst="ellipse">
            <a:avLst/>
          </a:prstGeom>
          <a:solidFill>
            <a:srgbClr val="D97706"/>
          </a:solidFill>
          <a:ln w="12700">
            <a:solidFill>
              <a:srgbClr val="D97706"/>
            </a:solidFill>
            <a:prstDash val="solid"/>
          </a:ln>
        </p:spPr>
      </p:sp>
      <p:pic>
        <p:nvPicPr>
          <p:cNvPr id="20" name="feature 4 icon" descr="preencoded.png">    </p:cNvPr>
          <p:cNvPicPr>
            <a:picLocks noChangeAspect="1"/>
          </p:cNvPicPr>
          <p:nvPr/>
        </p:nvPicPr>
        <p:blipFill>
          <a:blip r:embed="rId4"/>
          <a:stretch>
            <a:fillRect/>
          </a:stretch>
        </p:blipFill>
        <p:spPr>
          <a:xfrm>
            <a:off x="1051560" y="4297680"/>
            <a:ext cx="457200" cy="457200"/>
          </a:xfrm>
          <a:prstGeom prst="rect">
            <a:avLst/>
          </a:prstGeom>
        </p:spPr>
      </p:pic>
      <p:sp>
        <p:nvSpPr>
          <p:cNvPr id="21" name="Text 15"/>
          <p:cNvSpPr txBox="1"/>
          <p:nvPr/>
        </p:nvSpPr>
        <p:spPr>
          <a:xfrm>
            <a:off x="1920240" y="4069080"/>
            <a:ext cx="1899818" cy="914400"/>
          </a:xfrm>
          <a:prstGeom prst="rect">
            <a:avLst/>
          </a:prstGeom>
          <a:noFill/>
          <a:ln/>
        </p:spPr>
        <p:txBody>
          <a:bodyPr wrap="square" lIns="0" tIns="0" rIns="0" bIns="0" rtlCol="0" anchor="ctr"/>
          <a:lstStyle/>
          <a:p>
            <a:pPr indent="0" marL="0">
              <a:buNone/>
            </a:pPr>
            <a:r>
              <a:rPr lang="en-US" sz="1800" b="1" dirty="0">
                <a:solidFill>
                  <a:schemeClr val="tx1"/>
                </a:solidFill>
              </a:rPr>
              <a:t>Plain-English reasons</a:t>
            </a:r>
            <a:endParaRPr lang="en-US" sz="1800" dirty="0"/>
          </a:p>
        </p:txBody>
      </p:sp>
      <p:sp>
        <p:nvSpPr>
          <p:cNvPr id="22" name="Text 16"/>
          <p:cNvSpPr txBox="1"/>
          <p:nvPr/>
        </p:nvSpPr>
        <p:spPr>
          <a:xfrm>
            <a:off x="822960" y="5166360"/>
            <a:ext cx="2905658" cy="640080"/>
          </a:xfrm>
          <a:prstGeom prst="rect">
            <a:avLst/>
          </a:prstGeom>
          <a:noFill/>
          <a:ln/>
        </p:spPr>
        <p:txBody>
          <a:bodyPr wrap="square" lIns="0" tIns="0" rIns="0" bIns="0" rtlCol="0" anchor="t"/>
          <a:lstStyle/>
          <a:p>
            <a:pPr indent="0" marL="0">
              <a:buNone/>
            </a:pPr>
            <a:r>
              <a:rPr lang="en-US" sz="1500" dirty="0">
                <a:solidFill>
                  <a:schemeClr val="tx2"/>
                </a:solidFill>
              </a:rPr>
              <a:t>No machine-learning knowledge needed</a:t>
            </a:r>
            <a:endParaRPr lang="en-US" sz="1500" dirty="0"/>
          </a:p>
        </p:txBody>
      </p:sp>
      <p:sp>
        <p:nvSpPr>
          <p:cNvPr id="23" name="feature 5"/>
          <p:cNvSpPr/>
          <p:nvPr/>
        </p:nvSpPr>
        <p:spPr>
          <a:xfrm>
            <a:off x="4368698" y="3749040"/>
            <a:ext cx="3454298" cy="2194560"/>
          </a:xfrm>
          <a:prstGeom prst="roundRect">
            <a:avLst>
              <a:gd name="adj" fmla="val 5000"/>
            </a:avLst>
          </a:prstGeom>
          <a:solidFill>
            <a:schemeClr val="bg2"/>
          </a:solidFill>
          <a:ln w="12700">
            <a:solidFill>
              <a:schemeClr val="bg2"/>
            </a:solidFill>
            <a:prstDash val="solid"/>
          </a:ln>
        </p:spPr>
      </p:sp>
      <p:sp>
        <p:nvSpPr>
          <p:cNvPr id="24" name="feature 5 circle"/>
          <p:cNvSpPr/>
          <p:nvPr/>
        </p:nvSpPr>
        <p:spPr>
          <a:xfrm>
            <a:off x="4643018" y="4069080"/>
            <a:ext cx="914400" cy="914400"/>
          </a:xfrm>
          <a:prstGeom prst="ellipse">
            <a:avLst/>
          </a:prstGeom>
          <a:solidFill>
            <a:srgbClr val="DC2626"/>
          </a:solidFill>
          <a:ln w="12700">
            <a:solidFill>
              <a:srgbClr val="DC2626"/>
            </a:solidFill>
            <a:prstDash val="solid"/>
          </a:ln>
        </p:spPr>
      </p:sp>
      <p:pic>
        <p:nvPicPr>
          <p:cNvPr id="25" name="feature 5 icon" descr="preencoded.png">    </p:cNvPr>
          <p:cNvPicPr>
            <a:picLocks noChangeAspect="1"/>
          </p:cNvPicPr>
          <p:nvPr/>
        </p:nvPicPr>
        <p:blipFill>
          <a:blip r:embed="rId5"/>
          <a:stretch>
            <a:fillRect/>
          </a:stretch>
        </p:blipFill>
        <p:spPr>
          <a:xfrm>
            <a:off x="4871618" y="4297680"/>
            <a:ext cx="457200" cy="457200"/>
          </a:xfrm>
          <a:prstGeom prst="rect">
            <a:avLst/>
          </a:prstGeom>
        </p:spPr>
      </p:pic>
      <p:sp>
        <p:nvSpPr>
          <p:cNvPr id="26" name="Text 19"/>
          <p:cNvSpPr txBox="1"/>
          <p:nvPr/>
        </p:nvSpPr>
        <p:spPr>
          <a:xfrm>
            <a:off x="5740298" y="4069080"/>
            <a:ext cx="1899818" cy="914400"/>
          </a:xfrm>
          <a:prstGeom prst="rect">
            <a:avLst/>
          </a:prstGeom>
          <a:noFill/>
          <a:ln/>
        </p:spPr>
        <p:txBody>
          <a:bodyPr wrap="square" lIns="0" tIns="0" rIns="0" bIns="0" rtlCol="0" anchor="ctr"/>
          <a:lstStyle/>
          <a:p>
            <a:pPr indent="0" marL="0">
              <a:buNone/>
            </a:pPr>
            <a:r>
              <a:rPr lang="en-US" sz="1800" b="1" dirty="0">
                <a:solidFill>
                  <a:schemeClr val="tx1"/>
                </a:solidFill>
              </a:rPr>
              <a:t>One-click PDF report</a:t>
            </a:r>
            <a:endParaRPr lang="en-US" sz="1800" dirty="0"/>
          </a:p>
        </p:txBody>
      </p:sp>
      <p:sp>
        <p:nvSpPr>
          <p:cNvPr id="27" name="Text 20"/>
          <p:cNvSpPr txBox="1"/>
          <p:nvPr/>
        </p:nvSpPr>
        <p:spPr>
          <a:xfrm>
            <a:off x="4643018" y="5166360"/>
            <a:ext cx="2905658" cy="640080"/>
          </a:xfrm>
          <a:prstGeom prst="rect">
            <a:avLst/>
          </a:prstGeom>
          <a:noFill/>
          <a:ln/>
        </p:spPr>
        <p:txBody>
          <a:bodyPr wrap="square" lIns="0" tIns="0" rIns="0" bIns="0" rtlCol="0" anchor="t"/>
          <a:lstStyle/>
          <a:p>
            <a:pPr indent="0" marL="0">
              <a:buNone/>
            </a:pPr>
            <a:r>
              <a:rPr lang="en-US" sz="1500" dirty="0">
                <a:solidFill>
                  <a:schemeClr val="tx2"/>
                </a:solidFill>
              </a:rPr>
              <a:t>Ready to hand to a manager or court</a:t>
            </a:r>
            <a:endParaRPr lang="en-US" sz="1500" dirty="0"/>
          </a:p>
        </p:txBody>
      </p:sp>
      <p:sp>
        <p:nvSpPr>
          <p:cNvPr id="28" name="feature 6"/>
          <p:cNvSpPr/>
          <p:nvPr/>
        </p:nvSpPr>
        <p:spPr>
          <a:xfrm>
            <a:off x="8188757" y="3749040"/>
            <a:ext cx="3454298" cy="2194560"/>
          </a:xfrm>
          <a:prstGeom prst="roundRect">
            <a:avLst>
              <a:gd name="adj" fmla="val 5000"/>
            </a:avLst>
          </a:prstGeom>
          <a:solidFill>
            <a:schemeClr val="bg2"/>
          </a:solidFill>
          <a:ln w="12700">
            <a:solidFill>
              <a:schemeClr val="bg2"/>
            </a:solidFill>
            <a:prstDash val="solid"/>
          </a:ln>
        </p:spPr>
      </p:sp>
      <p:sp>
        <p:nvSpPr>
          <p:cNvPr id="29" name="feature 6 circle"/>
          <p:cNvSpPr/>
          <p:nvPr/>
        </p:nvSpPr>
        <p:spPr>
          <a:xfrm>
            <a:off x="8463077" y="4069080"/>
            <a:ext cx="914400" cy="914400"/>
          </a:xfrm>
          <a:prstGeom prst="ellipse">
            <a:avLst/>
          </a:prstGeom>
          <a:solidFill>
            <a:srgbClr val="0891B2"/>
          </a:solidFill>
          <a:ln w="12700">
            <a:solidFill>
              <a:srgbClr val="0891B2"/>
            </a:solidFill>
            <a:prstDash val="solid"/>
          </a:ln>
        </p:spPr>
      </p:sp>
      <p:pic>
        <p:nvPicPr>
          <p:cNvPr id="30" name="feature 6 icon" descr="preencoded.png">    </p:cNvPr>
          <p:cNvPicPr>
            <a:picLocks noChangeAspect="1"/>
          </p:cNvPicPr>
          <p:nvPr/>
        </p:nvPicPr>
        <p:blipFill>
          <a:blip r:embed="rId6"/>
          <a:stretch>
            <a:fillRect/>
          </a:stretch>
        </p:blipFill>
        <p:spPr>
          <a:xfrm>
            <a:off x="8691677" y="4297680"/>
            <a:ext cx="457200" cy="457200"/>
          </a:xfrm>
          <a:prstGeom prst="rect">
            <a:avLst/>
          </a:prstGeom>
        </p:spPr>
      </p:pic>
      <p:sp>
        <p:nvSpPr>
          <p:cNvPr id="31" name="Text 23"/>
          <p:cNvSpPr txBox="1"/>
          <p:nvPr/>
        </p:nvSpPr>
        <p:spPr>
          <a:xfrm>
            <a:off x="9560357" y="4069080"/>
            <a:ext cx="1899818" cy="914400"/>
          </a:xfrm>
          <a:prstGeom prst="rect">
            <a:avLst/>
          </a:prstGeom>
          <a:noFill/>
          <a:ln/>
        </p:spPr>
        <p:txBody>
          <a:bodyPr wrap="square" lIns="0" tIns="0" rIns="0" bIns="0" rtlCol="0" anchor="ctr"/>
          <a:lstStyle/>
          <a:p>
            <a:pPr indent="0" marL="0">
              <a:buNone/>
            </a:pPr>
            <a:r>
              <a:rPr lang="en-US" sz="1800" b="1" dirty="0">
                <a:solidFill>
                  <a:schemeClr val="tx1"/>
                </a:solidFill>
              </a:rPr>
              <a:t>Free and offline</a:t>
            </a:r>
            <a:endParaRPr lang="en-US" sz="1800" dirty="0"/>
          </a:p>
        </p:txBody>
      </p:sp>
      <p:sp>
        <p:nvSpPr>
          <p:cNvPr id="32" name="Text 24"/>
          <p:cNvSpPr txBox="1"/>
          <p:nvPr/>
        </p:nvSpPr>
        <p:spPr>
          <a:xfrm>
            <a:off x="8463077" y="5166360"/>
            <a:ext cx="2905658" cy="640080"/>
          </a:xfrm>
          <a:prstGeom prst="rect">
            <a:avLst/>
          </a:prstGeom>
          <a:noFill/>
          <a:ln/>
        </p:spPr>
        <p:txBody>
          <a:bodyPr wrap="square" lIns="0" tIns="0" rIns="0" bIns="0" rtlCol="0" anchor="t"/>
          <a:lstStyle/>
          <a:p>
            <a:pPr indent="0" marL="0">
              <a:buNone/>
            </a:pPr>
            <a:r>
              <a:rPr lang="en-US" sz="1500" dirty="0">
                <a:solidFill>
                  <a:schemeClr val="tx2"/>
                </a:solidFill>
              </a:rPr>
              <a:t>Runs on a normal laptop, open-source tools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899855" cy="731520"/>
          </a:xfrm>
          <a:prstGeom prst="rect">
            <a:avLst/>
          </a:prstGeom>
          <a:noFill/>
          <a:ln/>
        </p:spPr>
        <p:txBody>
          <a:bodyPr wrap="square" rtlCol="0" anchor="ctr"/>
          <a:lstStyle/>
          <a:p>
            <a:pPr algn="l" indent="0" marL="0">
              <a:buNone/>
            </a:pPr>
            <a:r>
              <a:rPr lang="en-US" sz="2800" b="1" dirty="0">
                <a:solidFill>
                  <a:schemeClr val="tx2"/>
                </a:solidFill>
              </a:rPr>
              <a:t>Methodology: how it will work</a:t>
            </a:r>
            <a:endParaRPr lang="en-US" sz="2800" dirty="0"/>
          </a:p>
        </p:txBody>
      </p:sp>
      <p:sp>
        <p:nvSpPr>
          <p:cNvPr id="3" name="step arrow 1"/>
          <p:cNvSpPr/>
          <p:nvPr/>
        </p:nvSpPr>
        <p:spPr>
          <a:xfrm>
            <a:off x="2389602" y="2057400"/>
            <a:ext cx="755843" cy="0"/>
          </a:xfrm>
          <a:prstGeom prst="line">
            <a:avLst/>
          </a:prstGeom>
          <a:noFill/>
          <a:ln w="38100">
            <a:solidFill>
              <a:srgbClr val="D6DCE6"/>
            </a:solidFill>
            <a:prstDash val="solid"/>
            <a:tailEnd type="triangle"/>
          </a:ln>
        </p:spPr>
      </p:sp>
      <p:sp>
        <p:nvSpPr>
          <p:cNvPr id="4" name="step 1 circle"/>
          <p:cNvSpPr/>
          <p:nvPr/>
        </p:nvSpPr>
        <p:spPr>
          <a:xfrm>
            <a:off x="1018002" y="1417320"/>
            <a:ext cx="1280160" cy="1280160"/>
          </a:xfrm>
          <a:prstGeom prst="ellipse">
            <a:avLst/>
          </a:prstGeom>
          <a:solidFill>
            <a:srgbClr val="0891B2"/>
          </a:solidFill>
          <a:ln w="12700">
            <a:solidFill>
              <a:srgbClr val="0891B2"/>
            </a:solidFill>
            <a:prstDash val="solid"/>
          </a:ln>
        </p:spPr>
      </p:sp>
      <p:pic>
        <p:nvPicPr>
          <p:cNvPr id="5" name="step 1 icon" descr="preencoded.png">    </p:cNvPr>
          <p:cNvPicPr>
            <a:picLocks noChangeAspect="1"/>
          </p:cNvPicPr>
          <p:nvPr/>
        </p:nvPicPr>
        <p:blipFill>
          <a:blip r:embed="rId1"/>
          <a:stretch>
            <a:fillRect/>
          </a:stretch>
        </p:blipFill>
        <p:spPr>
          <a:xfrm>
            <a:off x="1338042" y="1737360"/>
            <a:ext cx="640080" cy="640080"/>
          </a:xfrm>
          <a:prstGeom prst="rect">
            <a:avLst/>
          </a:prstGeom>
        </p:spPr>
      </p:pic>
      <p:sp>
        <p:nvSpPr>
          <p:cNvPr id="6" name="Text 3"/>
          <p:cNvSpPr txBox="1"/>
          <p:nvPr/>
        </p:nvSpPr>
        <p:spPr>
          <a:xfrm>
            <a:off x="594360" y="2834640"/>
            <a:ext cx="2127443" cy="457200"/>
          </a:xfrm>
          <a:prstGeom prst="rect">
            <a:avLst/>
          </a:prstGeom>
          <a:noFill/>
          <a:ln/>
        </p:spPr>
        <p:txBody>
          <a:bodyPr wrap="square" lIns="0" tIns="0" rIns="0" bIns="0" rtlCol="0" anchor="t"/>
          <a:lstStyle/>
          <a:p>
            <a:pPr algn="ctr" indent="0" marL="0">
              <a:buNone/>
            </a:pPr>
            <a:r>
              <a:rPr lang="en-US" sz="1550" b="1" dirty="0">
                <a:solidFill>
                  <a:schemeClr val="tx1"/>
                </a:solidFill>
              </a:rPr>
              <a:t>1. Load memory</a:t>
            </a:r>
            <a:endParaRPr lang="en-US" sz="1550" dirty="0"/>
          </a:p>
        </p:txBody>
      </p:sp>
      <p:sp>
        <p:nvSpPr>
          <p:cNvPr id="7" name="Text 4"/>
          <p:cNvSpPr txBox="1"/>
          <p:nvPr/>
        </p:nvSpPr>
        <p:spPr>
          <a:xfrm>
            <a:off x="640080" y="3291840"/>
            <a:ext cx="2036003" cy="365760"/>
          </a:xfrm>
          <a:prstGeom prst="rect">
            <a:avLst/>
          </a:prstGeom>
          <a:noFill/>
          <a:ln/>
        </p:spPr>
        <p:txBody>
          <a:bodyPr wrap="square" lIns="0" tIns="0" rIns="0" bIns="0" rtlCol="0" anchor="t"/>
          <a:lstStyle/>
          <a:p>
            <a:pPr algn="ctr" indent="0" marL="0">
              <a:buNone/>
            </a:pPr>
            <a:r>
              <a:rPr lang="en-US" sz="1400" dirty="0">
                <a:solidFill>
                  <a:schemeClr val="tx2"/>
                </a:solidFill>
              </a:rPr>
              <a:t>copy of the RAM</a:t>
            </a:r>
            <a:endParaRPr lang="en-US" sz="1400" dirty="0"/>
          </a:p>
        </p:txBody>
      </p:sp>
      <p:sp>
        <p:nvSpPr>
          <p:cNvPr id="8" name="tool 1"/>
          <p:cNvSpPr txBox="1"/>
          <p:nvPr/>
        </p:nvSpPr>
        <p:spPr>
          <a:xfrm>
            <a:off x="731520" y="3749040"/>
            <a:ext cx="1853123" cy="411480"/>
          </a:xfrm>
          <a:prstGeom prst="roundRect">
            <a:avLst>
              <a:gd name="adj" fmla="val 22222"/>
            </a:avLst>
          </a:prstGeom>
          <a:solidFill>
            <a:schemeClr val="bg2"/>
          </a:solidFill>
          <a:ln/>
        </p:spPr>
        <p:txBody>
          <a:bodyPr wrap="square" rtlCol="0" anchor="ctr"/>
          <a:lstStyle/>
          <a:p>
            <a:pPr algn="ctr" indent="0" marL="0">
              <a:buNone/>
            </a:pPr>
            <a:r>
              <a:rPr lang="en-US" sz="1100" b="1" dirty="0">
                <a:solidFill>
                  <a:srgbClr val="0891B2"/>
                </a:solidFill>
              </a:rPr>
              <a:t>Streamlit</a:t>
            </a:r>
            <a:endParaRPr lang="en-US" sz="1100" dirty="0"/>
          </a:p>
        </p:txBody>
      </p:sp>
      <p:sp>
        <p:nvSpPr>
          <p:cNvPr id="9" name="step arrow 2"/>
          <p:cNvSpPr/>
          <p:nvPr/>
        </p:nvSpPr>
        <p:spPr>
          <a:xfrm>
            <a:off x="4608485" y="2057400"/>
            <a:ext cx="755843" cy="0"/>
          </a:xfrm>
          <a:prstGeom prst="line">
            <a:avLst/>
          </a:prstGeom>
          <a:noFill/>
          <a:ln w="38100">
            <a:solidFill>
              <a:srgbClr val="D6DCE6"/>
            </a:solidFill>
            <a:prstDash val="solid"/>
            <a:tailEnd type="triangle"/>
          </a:ln>
        </p:spPr>
      </p:sp>
      <p:sp>
        <p:nvSpPr>
          <p:cNvPr id="10" name="step 2 circle"/>
          <p:cNvSpPr/>
          <p:nvPr/>
        </p:nvSpPr>
        <p:spPr>
          <a:xfrm>
            <a:off x="3236885" y="1417320"/>
            <a:ext cx="1280160" cy="1280160"/>
          </a:xfrm>
          <a:prstGeom prst="ellipse">
            <a:avLst/>
          </a:prstGeom>
          <a:solidFill>
            <a:srgbClr val="2563EB"/>
          </a:solidFill>
          <a:ln w="12700">
            <a:solidFill>
              <a:srgbClr val="2563EB"/>
            </a:solidFill>
            <a:prstDash val="solid"/>
          </a:ln>
        </p:spPr>
      </p:sp>
      <p:pic>
        <p:nvPicPr>
          <p:cNvPr id="11" name="step 2 icon" descr="preencoded.png">    </p:cNvPr>
          <p:cNvPicPr>
            <a:picLocks noChangeAspect="1"/>
          </p:cNvPicPr>
          <p:nvPr/>
        </p:nvPicPr>
        <p:blipFill>
          <a:blip r:embed="rId2"/>
          <a:stretch>
            <a:fillRect/>
          </a:stretch>
        </p:blipFill>
        <p:spPr>
          <a:xfrm>
            <a:off x="3556925" y="1737360"/>
            <a:ext cx="640080" cy="640080"/>
          </a:xfrm>
          <a:prstGeom prst="rect">
            <a:avLst/>
          </a:prstGeom>
        </p:spPr>
      </p:pic>
      <p:sp>
        <p:nvSpPr>
          <p:cNvPr id="12" name="Text 8"/>
          <p:cNvSpPr txBox="1"/>
          <p:nvPr/>
        </p:nvSpPr>
        <p:spPr>
          <a:xfrm>
            <a:off x="2813243" y="2834640"/>
            <a:ext cx="2127443" cy="457200"/>
          </a:xfrm>
          <a:prstGeom prst="rect">
            <a:avLst/>
          </a:prstGeom>
          <a:noFill/>
          <a:ln/>
        </p:spPr>
        <p:txBody>
          <a:bodyPr wrap="square" lIns="0" tIns="0" rIns="0" bIns="0" rtlCol="0" anchor="t"/>
          <a:lstStyle/>
          <a:p>
            <a:pPr algn="ctr" indent="0" marL="0">
              <a:buNone/>
            </a:pPr>
            <a:r>
              <a:rPr lang="en-US" sz="1550" b="1" dirty="0">
                <a:solidFill>
                  <a:schemeClr val="tx1"/>
                </a:solidFill>
              </a:rPr>
              <a:t>2. Read 55 clues</a:t>
            </a:r>
            <a:endParaRPr lang="en-US" sz="1550" dirty="0"/>
          </a:p>
        </p:txBody>
      </p:sp>
      <p:sp>
        <p:nvSpPr>
          <p:cNvPr id="13" name="Text 9"/>
          <p:cNvSpPr txBox="1"/>
          <p:nvPr/>
        </p:nvSpPr>
        <p:spPr>
          <a:xfrm>
            <a:off x="2858963" y="3291840"/>
            <a:ext cx="2036003" cy="365760"/>
          </a:xfrm>
          <a:prstGeom prst="rect">
            <a:avLst/>
          </a:prstGeom>
          <a:noFill/>
          <a:ln/>
        </p:spPr>
        <p:txBody>
          <a:bodyPr wrap="square" lIns="0" tIns="0" rIns="0" bIns="0" rtlCol="0" anchor="t"/>
          <a:lstStyle/>
          <a:p>
            <a:pPr algn="ctr" indent="0" marL="0">
              <a:buNone/>
            </a:pPr>
            <a:r>
              <a:rPr lang="en-US" sz="1400" dirty="0">
                <a:solidFill>
                  <a:schemeClr val="tx2"/>
                </a:solidFill>
              </a:rPr>
              <a:t>from the memory</a:t>
            </a:r>
            <a:endParaRPr lang="en-US" sz="1400" dirty="0"/>
          </a:p>
        </p:txBody>
      </p:sp>
      <p:sp>
        <p:nvSpPr>
          <p:cNvPr id="14" name="tool 2"/>
          <p:cNvSpPr txBox="1"/>
          <p:nvPr/>
        </p:nvSpPr>
        <p:spPr>
          <a:xfrm>
            <a:off x="2950403" y="3749040"/>
            <a:ext cx="1853123" cy="411480"/>
          </a:xfrm>
          <a:prstGeom prst="roundRect">
            <a:avLst>
              <a:gd name="adj" fmla="val 22222"/>
            </a:avLst>
          </a:prstGeom>
          <a:solidFill>
            <a:schemeClr val="bg2"/>
          </a:solidFill>
          <a:ln/>
        </p:spPr>
        <p:txBody>
          <a:bodyPr wrap="square" rtlCol="0" anchor="ctr"/>
          <a:lstStyle/>
          <a:p>
            <a:pPr algn="ctr" indent="0" marL="0">
              <a:buNone/>
            </a:pPr>
            <a:r>
              <a:rPr lang="en-US" sz="1100" b="1" dirty="0">
                <a:solidFill>
                  <a:srgbClr val="2563EB"/>
                </a:solidFill>
              </a:rPr>
              <a:t>Volatility 3</a:t>
            </a:r>
            <a:endParaRPr lang="en-US" sz="1100" dirty="0"/>
          </a:p>
        </p:txBody>
      </p:sp>
      <p:sp>
        <p:nvSpPr>
          <p:cNvPr id="15" name="step arrow 3"/>
          <p:cNvSpPr/>
          <p:nvPr/>
        </p:nvSpPr>
        <p:spPr>
          <a:xfrm>
            <a:off x="6827368" y="2057400"/>
            <a:ext cx="755843" cy="0"/>
          </a:xfrm>
          <a:prstGeom prst="line">
            <a:avLst/>
          </a:prstGeom>
          <a:noFill/>
          <a:ln w="38100">
            <a:solidFill>
              <a:srgbClr val="D6DCE6"/>
            </a:solidFill>
            <a:prstDash val="solid"/>
            <a:tailEnd type="triangle"/>
          </a:ln>
        </p:spPr>
      </p:sp>
      <p:sp>
        <p:nvSpPr>
          <p:cNvPr id="16" name="step 3 circle"/>
          <p:cNvSpPr/>
          <p:nvPr/>
        </p:nvSpPr>
        <p:spPr>
          <a:xfrm>
            <a:off x="5455768" y="1417320"/>
            <a:ext cx="1280160" cy="1280160"/>
          </a:xfrm>
          <a:prstGeom prst="ellipse">
            <a:avLst/>
          </a:prstGeom>
          <a:solidFill>
            <a:srgbClr val="DC2626"/>
          </a:solidFill>
          <a:ln w="12700">
            <a:solidFill>
              <a:srgbClr val="DC2626"/>
            </a:solidFill>
            <a:prstDash val="solid"/>
          </a:ln>
        </p:spPr>
      </p:sp>
      <p:pic>
        <p:nvPicPr>
          <p:cNvPr id="17" name="step 3 icon" descr="preencoded.png">    </p:cNvPr>
          <p:cNvPicPr>
            <a:picLocks noChangeAspect="1"/>
          </p:cNvPicPr>
          <p:nvPr/>
        </p:nvPicPr>
        <p:blipFill>
          <a:blip r:embed="rId3"/>
          <a:stretch>
            <a:fillRect/>
          </a:stretch>
        </p:blipFill>
        <p:spPr>
          <a:xfrm>
            <a:off x="5775808" y="1737360"/>
            <a:ext cx="640080" cy="640080"/>
          </a:xfrm>
          <a:prstGeom prst="rect">
            <a:avLst/>
          </a:prstGeom>
        </p:spPr>
      </p:pic>
      <p:sp>
        <p:nvSpPr>
          <p:cNvPr id="18" name="Text 13"/>
          <p:cNvSpPr txBox="1"/>
          <p:nvPr/>
        </p:nvSpPr>
        <p:spPr>
          <a:xfrm>
            <a:off x="5032126" y="2834640"/>
            <a:ext cx="2127443" cy="457200"/>
          </a:xfrm>
          <a:prstGeom prst="rect">
            <a:avLst/>
          </a:prstGeom>
          <a:noFill/>
          <a:ln/>
        </p:spPr>
        <p:txBody>
          <a:bodyPr wrap="square" lIns="0" tIns="0" rIns="0" bIns="0" rtlCol="0" anchor="t"/>
          <a:lstStyle/>
          <a:p>
            <a:pPr algn="ctr" indent="0" marL="0">
              <a:buNone/>
            </a:pPr>
            <a:r>
              <a:rPr lang="en-US" sz="1550" b="1" dirty="0">
                <a:solidFill>
                  <a:schemeClr val="tx1"/>
                </a:solidFill>
              </a:rPr>
              <a:t>3. AI decides</a:t>
            </a:r>
            <a:endParaRPr lang="en-US" sz="1550" dirty="0"/>
          </a:p>
        </p:txBody>
      </p:sp>
      <p:sp>
        <p:nvSpPr>
          <p:cNvPr id="19" name="Text 14"/>
          <p:cNvSpPr txBox="1"/>
          <p:nvPr/>
        </p:nvSpPr>
        <p:spPr>
          <a:xfrm>
            <a:off x="5077846" y="3291840"/>
            <a:ext cx="2036003" cy="365760"/>
          </a:xfrm>
          <a:prstGeom prst="rect">
            <a:avLst/>
          </a:prstGeom>
          <a:noFill/>
          <a:ln/>
        </p:spPr>
        <p:txBody>
          <a:bodyPr wrap="square" lIns="0" tIns="0" rIns="0" bIns="0" rtlCol="0" anchor="t"/>
          <a:lstStyle/>
          <a:p>
            <a:pPr algn="ctr" indent="0" marL="0">
              <a:buNone/>
            </a:pPr>
            <a:r>
              <a:rPr lang="en-US" sz="1400" dirty="0">
                <a:solidFill>
                  <a:schemeClr val="tx2"/>
                </a:solidFill>
              </a:rPr>
              <a:t>clean or infected</a:t>
            </a:r>
            <a:endParaRPr lang="en-US" sz="1400" dirty="0"/>
          </a:p>
        </p:txBody>
      </p:sp>
      <p:sp>
        <p:nvSpPr>
          <p:cNvPr id="20" name="tool 3"/>
          <p:cNvSpPr txBox="1"/>
          <p:nvPr/>
        </p:nvSpPr>
        <p:spPr>
          <a:xfrm>
            <a:off x="5169286" y="3749040"/>
            <a:ext cx="1853123" cy="411480"/>
          </a:xfrm>
          <a:prstGeom prst="roundRect">
            <a:avLst>
              <a:gd name="adj" fmla="val 22222"/>
            </a:avLst>
          </a:prstGeom>
          <a:solidFill>
            <a:schemeClr val="bg2"/>
          </a:solidFill>
          <a:ln/>
        </p:spPr>
        <p:txBody>
          <a:bodyPr wrap="square" rtlCol="0" anchor="ctr"/>
          <a:lstStyle/>
          <a:p>
            <a:pPr algn="ctr" indent="0" marL="0">
              <a:buNone/>
            </a:pPr>
            <a:r>
              <a:rPr lang="en-US" sz="1100" b="1" dirty="0">
                <a:solidFill>
                  <a:srgbClr val="DC2626"/>
                </a:solidFill>
              </a:rPr>
              <a:t>scikit-learn</a:t>
            </a:r>
            <a:endParaRPr lang="en-US" sz="1100" dirty="0"/>
          </a:p>
        </p:txBody>
      </p:sp>
      <p:sp>
        <p:nvSpPr>
          <p:cNvPr id="21" name="step arrow 4"/>
          <p:cNvSpPr/>
          <p:nvPr/>
        </p:nvSpPr>
        <p:spPr>
          <a:xfrm>
            <a:off x="9046251" y="2057400"/>
            <a:ext cx="755843" cy="0"/>
          </a:xfrm>
          <a:prstGeom prst="line">
            <a:avLst/>
          </a:prstGeom>
          <a:noFill/>
          <a:ln w="38100">
            <a:solidFill>
              <a:srgbClr val="D6DCE6"/>
            </a:solidFill>
            <a:prstDash val="solid"/>
            <a:tailEnd type="triangle"/>
          </a:ln>
        </p:spPr>
      </p:sp>
      <p:sp>
        <p:nvSpPr>
          <p:cNvPr id="22" name="step 4 circle"/>
          <p:cNvSpPr/>
          <p:nvPr/>
        </p:nvSpPr>
        <p:spPr>
          <a:xfrm>
            <a:off x="7674651" y="1417320"/>
            <a:ext cx="1280160" cy="1280160"/>
          </a:xfrm>
          <a:prstGeom prst="ellipse">
            <a:avLst/>
          </a:prstGeom>
          <a:solidFill>
            <a:srgbClr val="D97706"/>
          </a:solidFill>
          <a:ln w="12700">
            <a:solidFill>
              <a:srgbClr val="D97706"/>
            </a:solidFill>
            <a:prstDash val="solid"/>
          </a:ln>
        </p:spPr>
      </p:sp>
      <p:pic>
        <p:nvPicPr>
          <p:cNvPr id="23" name="step 4 icon" descr="preencoded.png">    </p:cNvPr>
          <p:cNvPicPr>
            <a:picLocks noChangeAspect="1"/>
          </p:cNvPicPr>
          <p:nvPr/>
        </p:nvPicPr>
        <p:blipFill>
          <a:blip r:embed="rId4"/>
          <a:stretch>
            <a:fillRect/>
          </a:stretch>
        </p:blipFill>
        <p:spPr>
          <a:xfrm>
            <a:off x="7994691" y="1737360"/>
            <a:ext cx="640080" cy="640080"/>
          </a:xfrm>
          <a:prstGeom prst="rect">
            <a:avLst/>
          </a:prstGeom>
        </p:spPr>
      </p:pic>
      <p:sp>
        <p:nvSpPr>
          <p:cNvPr id="24" name="Text 18"/>
          <p:cNvSpPr txBox="1"/>
          <p:nvPr/>
        </p:nvSpPr>
        <p:spPr>
          <a:xfrm>
            <a:off x="7251009" y="2834640"/>
            <a:ext cx="2127443" cy="457200"/>
          </a:xfrm>
          <a:prstGeom prst="rect">
            <a:avLst/>
          </a:prstGeom>
          <a:noFill/>
          <a:ln/>
        </p:spPr>
        <p:txBody>
          <a:bodyPr wrap="square" lIns="0" tIns="0" rIns="0" bIns="0" rtlCol="0" anchor="t"/>
          <a:lstStyle/>
          <a:p>
            <a:pPr algn="ctr" indent="0" marL="0">
              <a:buNone/>
            </a:pPr>
            <a:r>
              <a:rPr lang="en-US" sz="1550" b="1" dirty="0">
                <a:solidFill>
                  <a:schemeClr val="tx1"/>
                </a:solidFill>
              </a:rPr>
              <a:t>4. Explain why</a:t>
            </a:r>
            <a:endParaRPr lang="en-US" sz="1550" dirty="0"/>
          </a:p>
        </p:txBody>
      </p:sp>
      <p:sp>
        <p:nvSpPr>
          <p:cNvPr id="25" name="Text 19"/>
          <p:cNvSpPr txBox="1"/>
          <p:nvPr/>
        </p:nvSpPr>
        <p:spPr>
          <a:xfrm>
            <a:off x="7296729" y="3291840"/>
            <a:ext cx="2036003" cy="365760"/>
          </a:xfrm>
          <a:prstGeom prst="rect">
            <a:avLst/>
          </a:prstGeom>
          <a:noFill/>
          <a:ln/>
        </p:spPr>
        <p:txBody>
          <a:bodyPr wrap="square" lIns="0" tIns="0" rIns="0" bIns="0" rtlCol="0" anchor="t"/>
          <a:lstStyle/>
          <a:p>
            <a:pPr algn="ctr" indent="0" marL="0">
              <a:buNone/>
            </a:pPr>
            <a:r>
              <a:rPr lang="en-US" sz="1400" dirty="0">
                <a:solidFill>
                  <a:schemeClr val="tx2"/>
                </a:solidFill>
              </a:rPr>
              <a:t>top reasons</a:t>
            </a:r>
            <a:endParaRPr lang="en-US" sz="1400" dirty="0"/>
          </a:p>
        </p:txBody>
      </p:sp>
      <p:sp>
        <p:nvSpPr>
          <p:cNvPr id="26" name="tool 4"/>
          <p:cNvSpPr txBox="1"/>
          <p:nvPr/>
        </p:nvSpPr>
        <p:spPr>
          <a:xfrm>
            <a:off x="7388169" y="3749040"/>
            <a:ext cx="1853123" cy="411480"/>
          </a:xfrm>
          <a:prstGeom prst="roundRect">
            <a:avLst>
              <a:gd name="adj" fmla="val 22222"/>
            </a:avLst>
          </a:prstGeom>
          <a:solidFill>
            <a:schemeClr val="bg2"/>
          </a:solidFill>
          <a:ln/>
        </p:spPr>
        <p:txBody>
          <a:bodyPr wrap="square" rtlCol="0" anchor="ctr"/>
          <a:lstStyle/>
          <a:p>
            <a:pPr algn="ctr" indent="0" marL="0">
              <a:buNone/>
            </a:pPr>
            <a:r>
              <a:rPr lang="en-US" sz="1100" b="1" dirty="0">
                <a:solidFill>
                  <a:srgbClr val="D97706"/>
                </a:solidFill>
              </a:rPr>
              <a:t>SHAP · LIME</a:t>
            </a:r>
            <a:endParaRPr lang="en-US" sz="1100" dirty="0"/>
          </a:p>
        </p:txBody>
      </p:sp>
      <p:sp>
        <p:nvSpPr>
          <p:cNvPr id="27" name="step 5 circle"/>
          <p:cNvSpPr/>
          <p:nvPr/>
        </p:nvSpPr>
        <p:spPr>
          <a:xfrm>
            <a:off x="9893534" y="1417320"/>
            <a:ext cx="1280160" cy="1280160"/>
          </a:xfrm>
          <a:prstGeom prst="ellipse">
            <a:avLst/>
          </a:prstGeom>
          <a:solidFill>
            <a:srgbClr val="16A34A"/>
          </a:solidFill>
          <a:ln w="12700">
            <a:solidFill>
              <a:srgbClr val="16A34A"/>
            </a:solidFill>
            <a:prstDash val="solid"/>
          </a:ln>
        </p:spPr>
      </p:sp>
      <p:pic>
        <p:nvPicPr>
          <p:cNvPr id="28" name="step 5 icon" descr="preencoded.png">    </p:cNvPr>
          <p:cNvPicPr>
            <a:picLocks noChangeAspect="1"/>
          </p:cNvPicPr>
          <p:nvPr/>
        </p:nvPicPr>
        <p:blipFill>
          <a:blip r:embed="rId5"/>
          <a:stretch>
            <a:fillRect/>
          </a:stretch>
        </p:blipFill>
        <p:spPr>
          <a:xfrm>
            <a:off x="10213574" y="1737360"/>
            <a:ext cx="640080" cy="640080"/>
          </a:xfrm>
          <a:prstGeom prst="rect">
            <a:avLst/>
          </a:prstGeom>
        </p:spPr>
      </p:pic>
      <p:sp>
        <p:nvSpPr>
          <p:cNvPr id="29" name="Text 22"/>
          <p:cNvSpPr txBox="1"/>
          <p:nvPr/>
        </p:nvSpPr>
        <p:spPr>
          <a:xfrm>
            <a:off x="9469892" y="2834640"/>
            <a:ext cx="2127443" cy="457200"/>
          </a:xfrm>
          <a:prstGeom prst="rect">
            <a:avLst/>
          </a:prstGeom>
          <a:noFill/>
          <a:ln/>
        </p:spPr>
        <p:txBody>
          <a:bodyPr wrap="square" lIns="0" tIns="0" rIns="0" bIns="0" rtlCol="0" anchor="t"/>
          <a:lstStyle/>
          <a:p>
            <a:pPr algn="ctr" indent="0" marL="0">
              <a:buNone/>
            </a:pPr>
            <a:r>
              <a:rPr lang="en-US" sz="1550" b="1" dirty="0">
                <a:solidFill>
                  <a:schemeClr val="tx1"/>
                </a:solidFill>
              </a:rPr>
              <a:t>5. Sealed report</a:t>
            </a:r>
            <a:endParaRPr lang="en-US" sz="1550" dirty="0"/>
          </a:p>
        </p:txBody>
      </p:sp>
      <p:sp>
        <p:nvSpPr>
          <p:cNvPr id="30" name="Text 23"/>
          <p:cNvSpPr txBox="1"/>
          <p:nvPr/>
        </p:nvSpPr>
        <p:spPr>
          <a:xfrm>
            <a:off x="9515612" y="3291840"/>
            <a:ext cx="2036003" cy="365760"/>
          </a:xfrm>
          <a:prstGeom prst="rect">
            <a:avLst/>
          </a:prstGeom>
          <a:noFill/>
          <a:ln/>
        </p:spPr>
        <p:txBody>
          <a:bodyPr wrap="square" lIns="0" tIns="0" rIns="0" bIns="0" rtlCol="0" anchor="t"/>
          <a:lstStyle/>
          <a:p>
            <a:pPr algn="ctr" indent="0" marL="0">
              <a:buNone/>
            </a:pPr>
            <a:r>
              <a:rPr lang="en-US" sz="1400" dirty="0">
                <a:solidFill>
                  <a:schemeClr val="tx2"/>
                </a:solidFill>
              </a:rPr>
              <a:t>PDF + fingerprint</a:t>
            </a:r>
            <a:endParaRPr lang="en-US" sz="1400" dirty="0"/>
          </a:p>
        </p:txBody>
      </p:sp>
      <p:sp>
        <p:nvSpPr>
          <p:cNvPr id="31" name="tool 5"/>
          <p:cNvSpPr txBox="1"/>
          <p:nvPr/>
        </p:nvSpPr>
        <p:spPr>
          <a:xfrm>
            <a:off x="9607052" y="3749040"/>
            <a:ext cx="1853123" cy="411480"/>
          </a:xfrm>
          <a:prstGeom prst="roundRect">
            <a:avLst>
              <a:gd name="adj" fmla="val 22222"/>
            </a:avLst>
          </a:prstGeom>
          <a:solidFill>
            <a:schemeClr val="bg2"/>
          </a:solidFill>
          <a:ln/>
        </p:spPr>
        <p:txBody>
          <a:bodyPr wrap="square" rtlCol="0" anchor="ctr"/>
          <a:lstStyle/>
          <a:p>
            <a:pPr algn="ctr" indent="0" marL="0">
              <a:buNone/>
            </a:pPr>
            <a:r>
              <a:rPr lang="en-US" sz="1100" b="1" dirty="0">
                <a:solidFill>
                  <a:srgbClr val="16A34A"/>
                </a:solidFill>
              </a:rPr>
              <a:t>ReportLab · hashlib</a:t>
            </a:r>
            <a:endParaRPr lang="en-US" sz="1100" dirty="0"/>
          </a:p>
        </p:txBody>
      </p:sp>
      <p:sp>
        <p:nvSpPr>
          <p:cNvPr id="32" name="method 1 circle"/>
          <p:cNvSpPr/>
          <p:nvPr/>
        </p:nvSpPr>
        <p:spPr>
          <a:xfrm>
            <a:off x="548640" y="4434840"/>
            <a:ext cx="475488" cy="475488"/>
          </a:xfrm>
          <a:prstGeom prst="ellipse">
            <a:avLst/>
          </a:prstGeom>
          <a:solidFill>
            <a:srgbClr val="0B1F33"/>
          </a:solidFill>
          <a:ln w="12700">
            <a:solidFill>
              <a:srgbClr val="0B1F33"/>
            </a:solidFill>
            <a:prstDash val="solid"/>
          </a:ln>
        </p:spPr>
      </p:sp>
      <p:pic>
        <p:nvPicPr>
          <p:cNvPr id="33" name="method 1 icon" descr="preencoded.png">    </p:cNvPr>
          <p:cNvPicPr>
            <a:picLocks noChangeAspect="1"/>
          </p:cNvPicPr>
          <p:nvPr/>
        </p:nvPicPr>
        <p:blipFill>
          <a:blip r:embed="rId6"/>
          <a:stretch>
            <a:fillRect/>
          </a:stretch>
        </p:blipFill>
        <p:spPr>
          <a:xfrm>
            <a:off x="667512" y="4553712"/>
            <a:ext cx="237744" cy="237744"/>
          </a:xfrm>
          <a:prstGeom prst="rect">
            <a:avLst/>
          </a:prstGeom>
        </p:spPr>
      </p:pic>
      <p:sp>
        <p:nvSpPr>
          <p:cNvPr id="34" name="Text 26"/>
          <p:cNvSpPr txBox="1"/>
          <p:nvPr/>
        </p:nvSpPr>
        <p:spPr>
          <a:xfrm>
            <a:off x="1188720" y="4434840"/>
            <a:ext cx="10454335" cy="475488"/>
          </a:xfrm>
          <a:prstGeom prst="rect">
            <a:avLst/>
          </a:prstGeom>
          <a:noFill/>
          <a:ln/>
        </p:spPr>
        <p:txBody>
          <a:bodyPr wrap="square" lIns="0" tIns="0" rIns="0" bIns="0" rtlCol="0" anchor="ctr"/>
          <a:lstStyle/>
          <a:p>
            <a:pPr indent="0" marL="0">
              <a:buNone/>
            </a:pPr>
            <a:r>
              <a:rPr lang="en-US" sz="1550" dirty="0">
                <a:solidFill>
                  <a:schemeClr val="tx1"/>
                </a:solidFill>
              </a:rPr>
              <a:t>Data: public research dataset CIC-MalMem2022 — 58,596 examples, half clean, half infected</a:t>
            </a:r>
            <a:endParaRPr lang="en-US" sz="1550" dirty="0"/>
          </a:p>
        </p:txBody>
      </p:sp>
      <p:sp>
        <p:nvSpPr>
          <p:cNvPr id="35" name="method 2 circle"/>
          <p:cNvSpPr/>
          <p:nvPr/>
        </p:nvSpPr>
        <p:spPr>
          <a:xfrm>
            <a:off x="548640" y="5056632"/>
            <a:ext cx="475488" cy="475488"/>
          </a:xfrm>
          <a:prstGeom prst="ellipse">
            <a:avLst/>
          </a:prstGeom>
          <a:solidFill>
            <a:srgbClr val="0B1F33"/>
          </a:solidFill>
          <a:ln w="12700">
            <a:solidFill>
              <a:srgbClr val="0B1F33"/>
            </a:solidFill>
            <a:prstDash val="solid"/>
          </a:ln>
        </p:spPr>
      </p:sp>
      <p:pic>
        <p:nvPicPr>
          <p:cNvPr id="36" name="method 2 icon" descr="preencoded.png">    </p:cNvPr>
          <p:cNvPicPr>
            <a:picLocks noChangeAspect="1"/>
          </p:cNvPicPr>
          <p:nvPr/>
        </p:nvPicPr>
        <p:blipFill>
          <a:blip r:embed="rId7"/>
          <a:stretch>
            <a:fillRect/>
          </a:stretch>
        </p:blipFill>
        <p:spPr>
          <a:xfrm>
            <a:off x="667512" y="5175504"/>
            <a:ext cx="237744" cy="237744"/>
          </a:xfrm>
          <a:prstGeom prst="rect">
            <a:avLst/>
          </a:prstGeom>
        </p:spPr>
      </p:pic>
      <p:sp>
        <p:nvSpPr>
          <p:cNvPr id="37" name="Text 28"/>
          <p:cNvSpPr txBox="1"/>
          <p:nvPr/>
        </p:nvSpPr>
        <p:spPr>
          <a:xfrm>
            <a:off x="1188720" y="5056632"/>
            <a:ext cx="10454335" cy="475488"/>
          </a:xfrm>
          <a:prstGeom prst="rect">
            <a:avLst/>
          </a:prstGeom>
          <a:noFill/>
          <a:ln/>
        </p:spPr>
        <p:txBody>
          <a:bodyPr wrap="square" lIns="0" tIns="0" rIns="0" bIns="0" rtlCol="0" anchor="ctr"/>
          <a:lstStyle/>
          <a:p>
            <a:pPr indent="0" marL="0">
              <a:buNone/>
            </a:pPr>
            <a:r>
              <a:rPr lang="en-US" sz="1550" dirty="0">
                <a:solidFill>
                  <a:schemeClr val="tx1"/>
                </a:solidFill>
              </a:rPr>
              <a:t>Testing: AI learns from 80%, sits an “exam” on the hidden 20%; compared with a simpler model</a:t>
            </a:r>
            <a:endParaRPr lang="en-US" sz="1550" dirty="0"/>
          </a:p>
        </p:txBody>
      </p:sp>
      <p:sp>
        <p:nvSpPr>
          <p:cNvPr id="38" name="method 3 circle"/>
          <p:cNvSpPr/>
          <p:nvPr/>
        </p:nvSpPr>
        <p:spPr>
          <a:xfrm>
            <a:off x="548640" y="5678424"/>
            <a:ext cx="475488" cy="475488"/>
          </a:xfrm>
          <a:prstGeom prst="ellipse">
            <a:avLst/>
          </a:prstGeom>
          <a:solidFill>
            <a:srgbClr val="0B1F33"/>
          </a:solidFill>
          <a:ln w="12700">
            <a:solidFill>
              <a:srgbClr val="0B1F33"/>
            </a:solidFill>
            <a:prstDash val="solid"/>
          </a:ln>
        </p:spPr>
      </p:sp>
      <p:pic>
        <p:nvPicPr>
          <p:cNvPr id="39" name="method 3 icon" descr="preencoded.png">    </p:cNvPr>
          <p:cNvPicPr>
            <a:picLocks noChangeAspect="1"/>
          </p:cNvPicPr>
          <p:nvPr/>
        </p:nvPicPr>
        <p:blipFill>
          <a:blip r:embed="rId8"/>
          <a:stretch>
            <a:fillRect/>
          </a:stretch>
        </p:blipFill>
        <p:spPr>
          <a:xfrm>
            <a:off x="667512" y="5797296"/>
            <a:ext cx="237744" cy="237744"/>
          </a:xfrm>
          <a:prstGeom prst="rect">
            <a:avLst/>
          </a:prstGeom>
        </p:spPr>
      </p:pic>
      <p:sp>
        <p:nvSpPr>
          <p:cNvPr id="40" name="Text 30"/>
          <p:cNvSpPr txBox="1"/>
          <p:nvPr/>
        </p:nvSpPr>
        <p:spPr>
          <a:xfrm>
            <a:off x="1188720" y="5678424"/>
            <a:ext cx="10454335" cy="475488"/>
          </a:xfrm>
          <a:prstGeom prst="rect">
            <a:avLst/>
          </a:prstGeom>
          <a:noFill/>
          <a:ln/>
        </p:spPr>
        <p:txBody>
          <a:bodyPr wrap="square" lIns="0" tIns="0" rIns="0" bIns="0" rtlCol="0" anchor="ctr"/>
          <a:lstStyle/>
          <a:p>
            <a:pPr indent="0" marL="0">
              <a:buNone/>
            </a:pPr>
            <a:r>
              <a:rPr lang="en-US" sz="1550" dirty="0">
                <a:solidFill>
                  <a:schemeClr val="tx1"/>
                </a:solidFill>
              </a:rPr>
              <a:t>Evidence: every file fingerprinted (SHA-256) and re-checked at each step</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778240" cy="1828800"/>
          </a:xfrm>
          <a:prstGeom prst="rect">
            <a:avLst/>
          </a:prstGeom>
          <a:noFill/>
          <a:ln/>
        </p:spPr>
        <p:txBody>
          <a:bodyPr wrap="square" rtlCol="0" anchor="b"/>
          <a:lstStyle/>
          <a:p>
            <a:pPr algn="l" indent="0" marL="0">
              <a:buNone/>
            </a:pPr>
            <a:r>
              <a:rPr lang="en-US" sz="4000" b="1" dirty="0">
                <a:solidFill>
                  <a:schemeClr val="bg1"/>
                </a:solidFill>
              </a:rPr>
              <a:t>Thank you — questions?</a:t>
            </a:r>
            <a:endParaRPr lang="en-US" sz="4000" dirty="0"/>
          </a:p>
        </p:txBody>
      </p:sp>
      <p:sp>
        <p:nvSpPr>
          <p:cNvPr id="3" name="Text 0"/>
          <p:cNvSpPr/>
          <p:nvPr>
            <p:ph idx="101" type="body" hasCustomPrompt="1"/>
          </p:nvPr>
        </p:nvSpPr>
        <p:spPr>
          <a:xfrm>
            <a:off x="548640" y="3840480"/>
            <a:ext cx="8778240" cy="914400"/>
          </a:xfrm>
          <a:prstGeom prst="rect">
            <a:avLst/>
          </a:prstGeom>
          <a:noFill/>
          <a:ln/>
        </p:spPr>
        <p:txBody>
          <a:bodyPr wrap="square" rtlCol="0" anchor="t"/>
          <a:lstStyle/>
          <a:p>
            <a:pPr indent="0" marL="0">
              <a:buNone/>
            </a:pPr>
            <a:r>
              <a:rPr lang="en-US" sz="1800" dirty="0">
                <a:solidFill>
                  <a:srgbClr val="A5F3FC"/>
                </a:solidFill>
              </a:rPr>
              <a:t>Detect  ·  Explain  ·  Protect the evidence</a:t>
            </a:r>
            <a:endParaRPr lang="en-US" sz="1800" dirty="0"/>
          </a:p>
        </p:txBody>
      </p:sp>
      <p:sp>
        <p:nvSpPr>
          <p:cNvPr id="4" name="Text 2"/>
          <p:cNvSpPr txBox="1"/>
          <p:nvPr/>
        </p:nvSpPr>
        <p:spPr>
          <a:xfrm>
            <a:off x="548640" y="4754880"/>
            <a:ext cx="8686800" cy="1371600"/>
          </a:xfrm>
          <a:prstGeom prst="rect">
            <a:avLst/>
          </a:prstGeom>
          <a:noFill/>
          <a:ln/>
        </p:spPr>
        <p:txBody>
          <a:bodyPr wrap="square" lIns="0" tIns="0" rIns="0" bIns="0" rtlCol="0" anchor="t"/>
          <a:lstStyle/>
          <a:p>
            <a:pPr indent="0" marL="0">
              <a:spcAft>
                <a:spcPts val="400"/>
              </a:spcAft>
              <a:buNone/>
            </a:pPr>
            <a:r>
              <a:rPr lang="en-US" sz="1600" b="1" dirty="0">
                <a:solidFill>
                  <a:srgbClr val="A5F3FC"/>
                </a:solidFill>
              </a:rPr>
              <a:t>What: </a:t>
            </a:r>
            <a:pPr indent="0" marL="0">
              <a:spcAft>
                <a:spcPts val="400"/>
              </a:spcAft>
              <a:buNone/>
            </a:pPr>
            <a:r>
              <a:rPr lang="en-US" sz="1600" dirty="0">
                <a:solidFill>
                  <a:schemeClr val="bg1"/>
                </a:solidFill>
              </a:rPr>
              <a:t>an explainable AI tool for memory forensics</a:t>
            </a:r>
            <a:endParaRPr lang="en-US" sz="1600" dirty="0"/>
          </a:p>
          <a:p>
            <a:pPr indent="0" marL="0">
              <a:spcAft>
                <a:spcPts val="400"/>
              </a:spcAft>
              <a:buNone/>
            </a:pPr>
            <a:r>
              <a:rPr lang="en-US" sz="1600" b="1" dirty="0">
                <a:solidFill>
                  <a:srgbClr val="A5F3FC"/>
                </a:solidFill>
              </a:rPr>
              <a:t>What for: </a:t>
            </a:r>
            <a:pPr indent="0" marL="0">
              <a:spcAft>
                <a:spcPts val="400"/>
              </a:spcAft>
              <a:buNone/>
            </a:pPr>
            <a:r>
              <a:rPr lang="en-US" sz="1600" dirty="0">
                <a:solidFill>
                  <a:schemeClr val="bg1"/>
                </a:solidFill>
              </a:rPr>
              <a:t>finding hidden malware faster, with trusted reasons</a:t>
            </a:r>
            <a:endParaRPr lang="en-US" sz="1600" dirty="0"/>
          </a:p>
          <a:p>
            <a:pPr indent="0" marL="0">
              <a:spcAft>
                <a:spcPts val="400"/>
              </a:spcAft>
              <a:buNone/>
            </a:pPr>
            <a:r>
              <a:rPr lang="en-US" sz="1600" b="1" dirty="0">
                <a:solidFill>
                  <a:srgbClr val="A5F3FC"/>
                </a:solidFill>
              </a:rPr>
              <a:t>Who for: </a:t>
            </a:r>
            <a:pPr indent="0" marL="0">
              <a:spcAft>
                <a:spcPts val="400"/>
              </a:spcAft>
              <a:buNone/>
            </a:pPr>
            <a:r>
              <a:rPr lang="en-US" sz="1600" dirty="0">
                <a:solidFill>
                  <a:schemeClr val="bg1"/>
                </a:solidFill>
              </a:rPr>
              <a:t>forensic investigators and incident responders</a:t>
            </a:r>
            <a:endParaRPr lang="en-US" sz="1600" dirty="0"/>
          </a:p>
        </p:txBody>
      </p:sp>
      <p:sp>
        <p:nvSpPr>
          <p:cNvPr id="5" name="questions circle"/>
          <p:cNvSpPr/>
          <p:nvPr/>
        </p:nvSpPr>
        <p:spPr>
          <a:xfrm>
            <a:off x="9692640" y="2103120"/>
            <a:ext cx="1828800" cy="1828800"/>
          </a:xfrm>
          <a:prstGeom prst="ellipse">
            <a:avLst/>
          </a:prstGeom>
          <a:solidFill>
            <a:srgbClr val="0891B2"/>
          </a:solidFill>
          <a:ln w="12700">
            <a:solidFill>
              <a:srgbClr val="0891B2"/>
            </a:solidFill>
            <a:prstDash val="solid"/>
          </a:ln>
        </p:spPr>
      </p:sp>
      <p:pic>
        <p:nvPicPr>
          <p:cNvPr id="6" name="questions icon" descr="preencoded.png">    </p:cNvPr>
          <p:cNvPicPr>
            <a:picLocks noChangeAspect="1"/>
          </p:cNvPicPr>
          <p:nvPr/>
        </p:nvPicPr>
        <p:blipFill>
          <a:blip r:embed="rId1"/>
          <a:stretch>
            <a:fillRect/>
          </a:stretch>
        </p:blipFill>
        <p:spPr>
          <a:xfrm>
            <a:off x="10149840" y="2560320"/>
            <a:ext cx="914400" cy="914400"/>
          </a:xfrm>
          <a:prstGeom prst="rect">
            <a:avLst/>
          </a:prstGeom>
        </p:spPr>
      </p:pic>
    </p:spTree>
  </p:cSld>
  <p:clrMapOvr>
    <a:masterClrMapping/>
  </p:clrMapOvr>
</p:sld>
</file>

<file path=ppt/theme/theme1.xml><?xml version="1.0" encoding="utf-8"?>
<a:theme xmlns:a="http://schemas.openxmlformats.org/drawingml/2006/main" name="Forensic Triage">
  <a:themeElements>
    <a:clrScheme name="Forensic Triage">
      <a:dk1>
        <a:srgbClr val="0F172A"/>
      </a:dk1>
      <a:lt1>
        <a:srgbClr val="FFFFFF"/>
      </a:lt1>
      <a:dk2>
        <a:srgbClr val="0B1F33"/>
      </a:dk2>
      <a:lt2>
        <a:srgbClr val="EEF3F8"/>
      </a:lt2>
      <a:accent1>
        <a:srgbClr val="0891B2"/>
      </a:accent1>
      <a:accent2>
        <a:srgbClr val="DC2626"/>
      </a:accent2>
      <a:accent3>
        <a:srgbClr val="16A34A"/>
      </a:accent3>
      <a:accent4>
        <a:srgbClr val="D97706"/>
      </a:accent4>
      <a:accent5>
        <a:srgbClr val="6D5BD0"/>
      </a:accent5>
      <a:accent6>
        <a:srgbClr val="2563EB"/>
      </a:accent6>
      <a:hlink>
        <a:srgbClr val="2563EB"/>
      </a:hlink>
      <a:folHlink>
        <a:srgbClr val="6D5BD0"/>
      </a:folHlink>
    </a:clrScheme>
    <a:fontScheme name="Forensic Tria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AI-Based Memory Forensic Triage System — Methodology</dc:title>
  <dc:subject>Final-year project viva — methodology</dc:subject>
  <dc:creator>Abdullah Azwar</dc:creator>
  <cp:lastModifiedBy>Abdullah Azwar</cp:lastModifiedBy>
  <cp:revision>1</cp:revision>
  <dcterms:created xsi:type="dcterms:W3CDTF">2026-10-05T13:27:06Z</dcterms:created>
  <dcterms:modified xsi:type="dcterms:W3CDTF">2026-10-05T13:27:06Z</dcterms:modified>
</cp:coreProperties>
</file>